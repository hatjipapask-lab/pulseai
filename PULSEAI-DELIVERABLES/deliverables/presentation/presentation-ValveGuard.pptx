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  <p:sldMasterId id="2147483681" r:id="rId2"/>
  </p:sldMasterIdLst>
  <p:notesMasterIdLst>
    <p:notesMasterId r:id="rId17"/>
  </p:notesMasterIdLst>
  <p:sldIdLst>
    <p:sldId id="256" r:id="rId3"/>
    <p:sldId id="265" r:id="rId4"/>
    <p:sldId id="260" r:id="rId5"/>
    <p:sldId id="258" r:id="rId6"/>
    <p:sldId id="308" r:id="rId7"/>
    <p:sldId id="268" r:id="rId8"/>
    <p:sldId id="309" r:id="rId9"/>
    <p:sldId id="259" r:id="rId10"/>
    <p:sldId id="289" r:id="rId11"/>
    <p:sldId id="311" r:id="rId12"/>
    <p:sldId id="291" r:id="rId13"/>
    <p:sldId id="312" r:id="rId14"/>
    <p:sldId id="313" r:id="rId15"/>
    <p:sldId id="262" r:id="rId16"/>
  </p:sldIdLst>
  <p:sldSz cx="9144000" cy="5143500" type="screen16x9"/>
  <p:notesSz cx="6858000" cy="9144000"/>
  <p:embeddedFontLst>
    <p:embeddedFont>
      <p:font typeface="Anaheim" panose="020B0604020202020204" charset="0"/>
      <p:regular r:id="rId18"/>
      <p:bold r:id="rId19"/>
    </p:embeddedFont>
    <p:embeddedFont>
      <p:font typeface="Bebas Neue" panose="020B0606020202050201" pitchFamily="34" charset="0"/>
      <p:regular r:id="rId20"/>
    </p:embeddedFont>
    <p:embeddedFont>
      <p:font typeface="Montserrat" panose="00000500000000000000" pitchFamily="2" charset="0"/>
      <p:regular r:id="rId21"/>
      <p:bold r:id="rId22"/>
      <p:italic r:id="rId23"/>
      <p:boldItalic r:id="rId24"/>
    </p:embeddedFont>
    <p:embeddedFont>
      <p:font typeface="Montserrat Black" panose="00000A00000000000000" pitchFamily="2" charset="0"/>
      <p:bold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F26EF03B-D9FE-45CA-B960-16760D229E55}">
          <p14:sldIdLst>
            <p14:sldId id="256"/>
            <p14:sldId id="265"/>
            <p14:sldId id="260"/>
            <p14:sldId id="258"/>
            <p14:sldId id="308"/>
            <p14:sldId id="268"/>
            <p14:sldId id="309"/>
            <p14:sldId id="259"/>
            <p14:sldId id="289"/>
            <p14:sldId id="311"/>
            <p14:sldId id="291"/>
            <p14:sldId id="312"/>
            <p14:sldId id="313"/>
            <p14:sldId id="262"/>
          </p14:sldIdLst>
        </p14:section>
        <p14:section name="end" id="{BB88D7B3-2B9F-4048-95F7-04F81CA66FB0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19" dt="2026-09-17T13:06:42.772"/>
    <p1510:client id="{C91AE0D2-2FF8-F568-4E73-F4557640066C}" v="275" dt="2026-09-17T12:28:16.155"/>
  </p1510:revLst>
</p1510:revInfo>
</file>

<file path=ppt/tableStyles.xml><?xml version="1.0" encoding="utf-8"?>
<a:tblStyleLst xmlns:a="http://schemas.openxmlformats.org/drawingml/2006/main" def="{FBB24058-E6B8-4B8D-8191-A9BED5023D86}">
  <a:tblStyle styleId="{FBB24058-E6B8-4B8D-8191-A9BED5023D8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666" y="52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1.xml"/><Relationship Id="rId21" Type="http://schemas.openxmlformats.org/officeDocument/2006/relationships/font" Target="fonts/font4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3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7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6.fntdata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font" Target="fonts/font2.fntdata"/><Relationship Id="rId31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5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l-GR"/>
          </a:p>
        </p:txBody>
      </p:sp>
      <p:sp>
        <p:nvSpPr>
          <p:cNvPr id="1237" name="Google Shape;1237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g1734a882cf6_0_2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l-GR"/>
          </a:p>
        </p:txBody>
      </p:sp>
      <p:sp>
        <p:nvSpPr>
          <p:cNvPr id="1524" name="Google Shape;1524;g1734a882cf6_0_2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l-GR"/>
          </a:p>
        </p:txBody>
      </p:sp>
      <p:sp>
        <p:nvSpPr>
          <p:cNvPr id="1322" name="Google Shape;1322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l-GR"/>
          </a:p>
        </p:txBody>
      </p:sp>
      <p:sp>
        <p:nvSpPr>
          <p:cNvPr id="1274" name="Google Shape;1274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0">
          <a:extLst>
            <a:ext uri="{FF2B5EF4-FFF2-40B4-BE49-F238E27FC236}">
              <a16:creationId xmlns:a16="http://schemas.microsoft.com/office/drawing/2014/main" id="{0CDBA3E6-F430-000E-191F-A44309AE4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g54dda1946d_6_344:notes">
            <a:extLst>
              <a:ext uri="{FF2B5EF4-FFF2-40B4-BE49-F238E27FC236}">
                <a16:creationId xmlns:a16="http://schemas.microsoft.com/office/drawing/2014/main" id="{FCD8E647-CAE8-5193-E14F-308910BB8C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l-GR"/>
          </a:p>
        </p:txBody>
      </p:sp>
      <p:sp>
        <p:nvSpPr>
          <p:cNvPr id="1322" name="Google Shape;1322;g54dda1946d_6_344:notes">
            <a:extLst>
              <a:ext uri="{FF2B5EF4-FFF2-40B4-BE49-F238E27FC236}">
                <a16:creationId xmlns:a16="http://schemas.microsoft.com/office/drawing/2014/main" id="{BAD66DAE-73BD-3C40-6782-60F7792A38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831587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5" name="Google Shape;1615;g1734a882cf6_0_8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l-GR"/>
          </a:p>
        </p:txBody>
      </p:sp>
      <p:sp>
        <p:nvSpPr>
          <p:cNvPr id="1616" name="Google Shape;1616;g1734a882cf6_0_8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3">
          <a:extLst>
            <a:ext uri="{FF2B5EF4-FFF2-40B4-BE49-F238E27FC236}">
              <a16:creationId xmlns:a16="http://schemas.microsoft.com/office/drawing/2014/main" id="{96D8F93B-F415-B0EB-2498-59F05F136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4" name="Google Shape;1834;g14ca49efd4d_0_0:notes">
            <a:extLst>
              <a:ext uri="{FF2B5EF4-FFF2-40B4-BE49-F238E27FC236}">
                <a16:creationId xmlns:a16="http://schemas.microsoft.com/office/drawing/2014/main" id="{BEC9167C-00C6-A5DE-791B-F0C3B73833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l-GR"/>
          </a:p>
        </p:txBody>
      </p:sp>
      <p:sp>
        <p:nvSpPr>
          <p:cNvPr id="1835" name="Google Shape;1835;g14ca49efd4d_0_0:notes">
            <a:extLst>
              <a:ext uri="{FF2B5EF4-FFF2-40B4-BE49-F238E27FC236}">
                <a16:creationId xmlns:a16="http://schemas.microsoft.com/office/drawing/2014/main" id="{7AD61F01-6A5F-E9A6-2D05-1C024F681E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371827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g1734a882cf6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l-GR"/>
          </a:p>
        </p:txBody>
      </p:sp>
      <p:sp>
        <p:nvSpPr>
          <p:cNvPr id="1301" name="Google Shape;1301;g1734a882cf6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7" name="Google Shape;3127;g14ca49efd4d_0_137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l-GR"/>
          </a:p>
        </p:txBody>
      </p:sp>
      <p:sp>
        <p:nvSpPr>
          <p:cNvPr id="3128" name="Google Shape;3128;g14ca49efd4d_0_137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6">
          <a:extLst>
            <a:ext uri="{FF2B5EF4-FFF2-40B4-BE49-F238E27FC236}">
              <a16:creationId xmlns:a16="http://schemas.microsoft.com/office/drawing/2014/main" id="{3D3508A5-9D71-C294-BCDE-0E97B8FF3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7" name="Google Shape;3127;g14ca49efd4d_0_13705:notes">
            <a:extLst>
              <a:ext uri="{FF2B5EF4-FFF2-40B4-BE49-F238E27FC236}">
                <a16:creationId xmlns:a16="http://schemas.microsoft.com/office/drawing/2014/main" id="{5B12FC41-CFBF-EB50-F53F-37A779C5E8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l-GR"/>
          </a:p>
        </p:txBody>
      </p:sp>
      <p:sp>
        <p:nvSpPr>
          <p:cNvPr id="3128" name="Google Shape;3128;g14ca49efd4d_0_13705:notes">
            <a:extLst>
              <a:ext uri="{FF2B5EF4-FFF2-40B4-BE49-F238E27FC236}">
                <a16:creationId xmlns:a16="http://schemas.microsoft.com/office/drawing/2014/main" id="{48045A8D-3D52-FAD8-A304-BABF9F5343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21672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1" name="Google Shape;3151;g14ca49efd4d_0_137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l-GR"/>
          </a:p>
        </p:txBody>
      </p:sp>
      <p:sp>
        <p:nvSpPr>
          <p:cNvPr id="3152" name="Google Shape;3152;g14ca49efd4d_0_137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6">
          <a:extLst>
            <a:ext uri="{FF2B5EF4-FFF2-40B4-BE49-F238E27FC236}">
              <a16:creationId xmlns:a16="http://schemas.microsoft.com/office/drawing/2014/main" id="{2C7AC873-07A0-BF84-F635-68DC0B152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7" name="Google Shape;3127;g14ca49efd4d_0_13705:notes">
            <a:extLst>
              <a:ext uri="{FF2B5EF4-FFF2-40B4-BE49-F238E27FC236}">
                <a16:creationId xmlns:a16="http://schemas.microsoft.com/office/drawing/2014/main" id="{40140B44-643D-F3B0-E611-AB3507CB4C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l-GR"/>
          </a:p>
        </p:txBody>
      </p:sp>
      <p:sp>
        <p:nvSpPr>
          <p:cNvPr id="3128" name="Google Shape;3128;g14ca49efd4d_0_13705:notes">
            <a:extLst>
              <a:ext uri="{FF2B5EF4-FFF2-40B4-BE49-F238E27FC236}">
                <a16:creationId xmlns:a16="http://schemas.microsoft.com/office/drawing/2014/main" id="{D343032C-3FF9-05EA-C930-4B6326D4E8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11744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6">
          <a:extLst>
            <a:ext uri="{FF2B5EF4-FFF2-40B4-BE49-F238E27FC236}">
              <a16:creationId xmlns:a16="http://schemas.microsoft.com/office/drawing/2014/main" id="{86C86E82-8931-CC1D-B45F-E907E85F2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7" name="Google Shape;3127;g14ca49efd4d_0_13705:notes">
            <a:extLst>
              <a:ext uri="{FF2B5EF4-FFF2-40B4-BE49-F238E27FC236}">
                <a16:creationId xmlns:a16="http://schemas.microsoft.com/office/drawing/2014/main" id="{CF38CCCC-861C-EB65-206F-8C5069A01C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l-GR"/>
          </a:p>
        </p:txBody>
      </p:sp>
      <p:sp>
        <p:nvSpPr>
          <p:cNvPr id="3128" name="Google Shape;3128;g14ca49efd4d_0_13705:notes">
            <a:extLst>
              <a:ext uri="{FF2B5EF4-FFF2-40B4-BE49-F238E27FC236}">
                <a16:creationId xmlns:a16="http://schemas.microsoft.com/office/drawing/2014/main" id="{B60FF6A4-67D7-C051-392F-E9DD2A4744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20422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g1734a882cf6_0_15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l-GR"/>
          </a:p>
        </p:txBody>
      </p:sp>
      <p:sp>
        <p:nvSpPr>
          <p:cNvPr id="1405" name="Google Shape;1405;g1734a882cf6_0_15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256688"/>
            <a:ext cx="7033800" cy="219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521113"/>
            <a:ext cx="4528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4780389" y="2513201"/>
            <a:ext cx="5036265" cy="4113315"/>
            <a:chOff x="4780389" y="2513201"/>
            <a:chExt cx="5036265" cy="4113315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3" name="Google Shape;13;p2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4" name="Google Shape;14;p2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5" name="Google Shape;15;p2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6" name="Google Shape;16;p2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" name="Google Shape;17;p2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" name="Google Shape;18;p2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" name="Google Shape;19;p2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" name="Google Shape;20;p2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" name="Google Shape;21;p2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" name="Google Shape;22;p2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" name="Google Shape;23;p2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" name="Google Shape;24;p2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" name="Google Shape;25;p2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" name="Google Shape;26;p2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" name="Google Shape;27;p2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" name="Google Shape;28;p2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" name="Google Shape;29;p2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" name="Google Shape;30;p2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" name="Google Shape;31;p2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" name="Google Shape;32;p2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" name="Google Shape;33;p2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" name="Google Shape;34;p2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" name="Google Shape;35;p2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" name="Google Shape;36;p2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7" name="Google Shape;37;p2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" name="Google Shape;38;p2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" name="Google Shape;39;p2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" name="Google Shape;40;p2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" name="Google Shape;41;p2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2" name="Google Shape;42;p2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3" name="Google Shape;43;p2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44" name="Google Shape;44;p2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" name="Google Shape;45;p2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" name="Google Shape;46;p2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" name="Google Shape;47;p2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" name="Google Shape;48;p2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" name="Google Shape;49;p2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" name="Google Shape;50;p2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" name="Google Shape;51;p2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52" name="Google Shape;52;p2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" name="Google Shape;55;p2"/>
          <p:cNvGrpSpPr/>
          <p:nvPr/>
        </p:nvGrpSpPr>
        <p:grpSpPr>
          <a:xfrm>
            <a:off x="-3382536" y="-1517162"/>
            <a:ext cx="5036265" cy="4113315"/>
            <a:chOff x="4780389" y="2513201"/>
            <a:chExt cx="5036265" cy="4113315"/>
          </a:xfrm>
        </p:grpSpPr>
        <p:grpSp>
          <p:nvGrpSpPr>
            <p:cNvPr id="56" name="Google Shape;56;p2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57" name="Google Shape;57;p2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8" name="Google Shape;58;p2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59" name="Google Shape;59;p2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60" name="Google Shape;60;p2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1" name="Google Shape;61;p2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2" name="Google Shape;62;p2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3" name="Google Shape;63;p2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4" name="Google Shape;64;p2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5" name="Google Shape;65;p2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6" name="Google Shape;66;p2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7" name="Google Shape;67;p2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8" name="Google Shape;68;p2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" name="Google Shape;69;p2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" name="Google Shape;70;p2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1" name="Google Shape;71;p2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2" name="Google Shape;72;p2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3" name="Google Shape;73;p2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4" name="Google Shape;74;p2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5" name="Google Shape;75;p2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6" name="Google Shape;76;p2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7" name="Google Shape;77;p2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8" name="Google Shape;78;p2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9" name="Google Shape;79;p2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" name="Google Shape;80;p2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1" name="Google Shape;81;p2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" name="Google Shape;82;p2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3" name="Google Shape;83;p2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4" name="Google Shape;84;p2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5" name="Google Shape;85;p2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6" name="Google Shape;86;p2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7" name="Google Shape;87;p2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88" name="Google Shape;88;p2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" name="Google Shape;89;p2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" name="Google Shape;90;p2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" name="Google Shape;91;p2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" name="Google Shape;92;p2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" name="Google Shape;93;p2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" name="Google Shape;94;p2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" name="Google Shape;95;p2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96" name="Google Shape;96;p2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>
            <a:spLocks noGrp="1"/>
          </p:cNvSpPr>
          <p:nvPr>
            <p:ph type="title"/>
          </p:nvPr>
        </p:nvSpPr>
        <p:spPr>
          <a:xfrm>
            <a:off x="720000" y="2384238"/>
            <a:ext cx="73518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1" name="Google Shape;101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496250"/>
            <a:ext cx="13818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2" name="Google Shape;102;p3"/>
          <p:cNvSpPr txBox="1">
            <a:spLocks noGrp="1"/>
          </p:cNvSpPr>
          <p:nvPr>
            <p:ph type="subTitle" idx="1"/>
          </p:nvPr>
        </p:nvSpPr>
        <p:spPr>
          <a:xfrm>
            <a:off x="720000" y="3272250"/>
            <a:ext cx="50676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03" name="Google Shape;103;p3"/>
          <p:cNvGrpSpPr/>
          <p:nvPr/>
        </p:nvGrpSpPr>
        <p:grpSpPr>
          <a:xfrm>
            <a:off x="5175689" y="2774776"/>
            <a:ext cx="5036265" cy="4113315"/>
            <a:chOff x="4780389" y="2513201"/>
            <a:chExt cx="5036265" cy="4113315"/>
          </a:xfrm>
        </p:grpSpPr>
        <p:grpSp>
          <p:nvGrpSpPr>
            <p:cNvPr id="104" name="Google Shape;104;p3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05" name="Google Shape;105;p3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6" name="Google Shape;106;p3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07" name="Google Shape;107;p3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08" name="Google Shape;108;p3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9" name="Google Shape;109;p3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0" name="Google Shape;110;p3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1" name="Google Shape;111;p3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2" name="Google Shape;112;p3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" name="Google Shape;113;p3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" name="Google Shape;114;p3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" name="Google Shape;115;p3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6" name="Google Shape;116;p3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" name="Google Shape;117;p3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" name="Google Shape;118;p3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" name="Google Shape;119;p3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" name="Google Shape;120;p3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1" name="Google Shape;121;p3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" name="Google Shape;122;p3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3" name="Google Shape;123;p3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4" name="Google Shape;124;p3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5" name="Google Shape;125;p3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6" name="Google Shape;126;p3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7" name="Google Shape;127;p3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8" name="Google Shape;128;p3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9" name="Google Shape;129;p3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0" name="Google Shape;130;p3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1" name="Google Shape;131;p3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2" name="Google Shape;132;p3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3" name="Google Shape;133;p3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4" name="Google Shape;134;p3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5" name="Google Shape;135;p3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36" name="Google Shape;136;p3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7" name="Google Shape;137;p3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" name="Google Shape;138;p3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" name="Google Shape;139;p3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" name="Google Shape;140;p3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" name="Google Shape;141;p3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2" name="Google Shape;142;p3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3" name="Google Shape;143;p3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44" name="Google Shape;144;p3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7" name="Google Shape;147;p3"/>
          <p:cNvGrpSpPr/>
          <p:nvPr/>
        </p:nvGrpSpPr>
        <p:grpSpPr>
          <a:xfrm>
            <a:off x="2951589" y="-2707787"/>
            <a:ext cx="5036265" cy="4113315"/>
            <a:chOff x="4780389" y="2513201"/>
            <a:chExt cx="5036265" cy="4113315"/>
          </a:xfrm>
        </p:grpSpPr>
        <p:grpSp>
          <p:nvGrpSpPr>
            <p:cNvPr id="148" name="Google Shape;148;p3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49" name="Google Shape;149;p3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50" name="Google Shape;150;p3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51" name="Google Shape;151;p3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52" name="Google Shape;152;p3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3" name="Google Shape;153;p3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4" name="Google Shape;154;p3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5" name="Google Shape;155;p3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6" name="Google Shape;156;p3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7" name="Google Shape;157;p3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8" name="Google Shape;158;p3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9" name="Google Shape;159;p3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0" name="Google Shape;160;p3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1" name="Google Shape;161;p3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2" name="Google Shape;162;p3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3" name="Google Shape;163;p3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4" name="Google Shape;164;p3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5" name="Google Shape;165;p3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6" name="Google Shape;166;p3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7" name="Google Shape;167;p3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8" name="Google Shape;168;p3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9" name="Google Shape;169;p3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0" name="Google Shape;170;p3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1" name="Google Shape;171;p3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2" name="Google Shape;172;p3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3" name="Google Shape;173;p3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4" name="Google Shape;174;p3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5" name="Google Shape;175;p3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6" name="Google Shape;176;p3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7" name="Google Shape;177;p3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8" name="Google Shape;178;p3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9" name="Google Shape;179;p3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80" name="Google Shape;180;p3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" name="Google Shape;181;p3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" name="Google Shape;182;p3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" name="Google Shape;183;p3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" name="Google Shape;184;p3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" name="Google Shape;185;p3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" name="Google Shape;186;p3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7" name="Google Shape;187;p3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88" name="Google Shape;188;p3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3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3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4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3975900" cy="16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Light"/>
              <a:buChar char="◆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194" name="Google Shape;194;p4"/>
          <p:cNvGrpSpPr/>
          <p:nvPr/>
        </p:nvGrpSpPr>
        <p:grpSpPr>
          <a:xfrm>
            <a:off x="8354016" y="-383869"/>
            <a:ext cx="1346076" cy="1863864"/>
            <a:chOff x="8354016" y="-383869"/>
            <a:chExt cx="1346076" cy="1863864"/>
          </a:xfrm>
        </p:grpSpPr>
        <p:sp>
          <p:nvSpPr>
            <p:cNvPr id="195" name="Google Shape;195;p4"/>
            <p:cNvSpPr/>
            <p:nvPr/>
          </p:nvSpPr>
          <p:spPr>
            <a:xfrm rot="10515695" flipH="1">
              <a:off x="8395243" y="733309"/>
              <a:ext cx="650146" cy="721066"/>
            </a:xfrm>
            <a:custGeom>
              <a:avLst/>
              <a:gdLst/>
              <a:ahLst/>
              <a:cxnLst/>
              <a:rect l="l" t="t" r="r" b="b"/>
              <a:pathLst>
                <a:path w="26008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4"/>
            <p:cNvSpPr/>
            <p:nvPr/>
          </p:nvSpPr>
          <p:spPr>
            <a:xfrm rot="10515695" flipH="1">
              <a:off x="9021249" y="726033"/>
              <a:ext cx="650171" cy="721091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9" y="20743"/>
                  </a:moveTo>
                  <a:lnTo>
                    <a:pt x="24981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4"/>
            <p:cNvSpPr/>
            <p:nvPr/>
          </p:nvSpPr>
          <p:spPr>
            <a:xfrm rot="10515695" flipH="1">
              <a:off x="8701969" y="187519"/>
              <a:ext cx="650171" cy="721066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0" y="8102"/>
                  </a:lnTo>
                  <a:lnTo>
                    <a:pt x="1028" y="22525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4"/>
            <p:cNvSpPr/>
            <p:nvPr/>
          </p:nvSpPr>
          <p:spPr>
            <a:xfrm rot="10515695" flipH="1">
              <a:off x="8382688" y="-351019"/>
              <a:ext cx="650146" cy="721066"/>
            </a:xfrm>
            <a:custGeom>
              <a:avLst/>
              <a:gdLst/>
              <a:ahLst/>
              <a:cxnLst/>
              <a:rect l="l" t="t" r="r" b="b"/>
              <a:pathLst>
                <a:path w="26008" h="28845" fill="none" extrusionOk="0">
                  <a:moveTo>
                    <a:pt x="26008" y="20743"/>
                  </a:moveTo>
                  <a:lnTo>
                    <a:pt x="24980" y="6320"/>
                  </a:lnTo>
                  <a:lnTo>
                    <a:pt x="11975" y="1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2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4"/>
            <p:cNvSpPr/>
            <p:nvPr/>
          </p:nvSpPr>
          <p:spPr>
            <a:xfrm rot="10515695" flipH="1">
              <a:off x="9008695" y="-358246"/>
              <a:ext cx="650196" cy="721041"/>
            </a:xfrm>
            <a:custGeom>
              <a:avLst/>
              <a:gdLst/>
              <a:ahLst/>
              <a:cxnLst/>
              <a:rect l="l" t="t" r="r" b="b"/>
              <a:pathLst>
                <a:path w="26010" h="28844" fill="none" extrusionOk="0">
                  <a:moveTo>
                    <a:pt x="26009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4"/>
            <p:cNvSpPr/>
            <p:nvPr/>
          </p:nvSpPr>
          <p:spPr>
            <a:xfrm rot="10515695" flipH="1">
              <a:off x="8988036" y="-202011"/>
              <a:ext cx="57070" cy="57045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4"/>
            <p:cNvSpPr/>
            <p:nvPr/>
          </p:nvSpPr>
          <p:spPr>
            <a:xfrm rot="10515695" flipH="1">
              <a:off x="9613745" y="157614"/>
              <a:ext cx="57045" cy="57070"/>
            </a:xfrm>
            <a:custGeom>
              <a:avLst/>
              <a:gdLst/>
              <a:ahLst/>
              <a:cxnLst/>
              <a:rect l="l" t="t" r="r" b="b"/>
              <a:pathLst>
                <a:path w="2282" h="2283" extrusionOk="0">
                  <a:moveTo>
                    <a:pt x="1142" y="0"/>
                  </a:moveTo>
                  <a:cubicBezTo>
                    <a:pt x="512" y="0"/>
                    <a:pt x="1" y="511"/>
                    <a:pt x="1" y="1141"/>
                  </a:cubicBezTo>
                  <a:cubicBezTo>
                    <a:pt x="1" y="1771"/>
                    <a:pt x="512" y="2282"/>
                    <a:pt x="1142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4"/>
            <p:cNvSpPr/>
            <p:nvPr/>
          </p:nvSpPr>
          <p:spPr>
            <a:xfrm rot="10515695" flipH="1">
              <a:off x="9310934" y="707797"/>
              <a:ext cx="57020" cy="57070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5"/>
          <p:cNvSpPr txBox="1">
            <a:spLocks noGrp="1"/>
          </p:cNvSpPr>
          <p:nvPr>
            <p:ph type="subTitle" idx="1"/>
          </p:nvPr>
        </p:nvSpPr>
        <p:spPr>
          <a:xfrm>
            <a:off x="5055188" y="3185018"/>
            <a:ext cx="2505600" cy="111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6" name="Google Shape;206;p5"/>
          <p:cNvSpPr txBox="1">
            <a:spLocks noGrp="1"/>
          </p:cNvSpPr>
          <p:nvPr>
            <p:ph type="subTitle" idx="2"/>
          </p:nvPr>
        </p:nvSpPr>
        <p:spPr>
          <a:xfrm>
            <a:off x="1583213" y="3184997"/>
            <a:ext cx="2505600" cy="11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7" name="Google Shape;207;p5"/>
          <p:cNvSpPr txBox="1">
            <a:spLocks noGrp="1"/>
          </p:cNvSpPr>
          <p:nvPr>
            <p:ph type="subTitle" idx="3"/>
          </p:nvPr>
        </p:nvSpPr>
        <p:spPr>
          <a:xfrm>
            <a:off x="5055188" y="2727841"/>
            <a:ext cx="2505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08" name="Google Shape;208;p5"/>
          <p:cNvSpPr txBox="1">
            <a:spLocks noGrp="1"/>
          </p:cNvSpPr>
          <p:nvPr>
            <p:ph type="subTitle" idx="4"/>
          </p:nvPr>
        </p:nvSpPr>
        <p:spPr>
          <a:xfrm>
            <a:off x="1583213" y="2727841"/>
            <a:ext cx="2505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209" name="Google Shape;209;p5"/>
          <p:cNvGrpSpPr/>
          <p:nvPr/>
        </p:nvGrpSpPr>
        <p:grpSpPr>
          <a:xfrm>
            <a:off x="7421542" y="-507956"/>
            <a:ext cx="2532725" cy="1881750"/>
            <a:chOff x="7221517" y="-507956"/>
            <a:chExt cx="2532725" cy="1881750"/>
          </a:xfrm>
        </p:grpSpPr>
        <p:sp>
          <p:nvSpPr>
            <p:cNvPr id="210" name="Google Shape;210;p5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5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5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5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5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5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5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5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5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5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0" name="Google Shape;220;p5"/>
          <p:cNvGrpSpPr/>
          <p:nvPr/>
        </p:nvGrpSpPr>
        <p:grpSpPr>
          <a:xfrm>
            <a:off x="-884258" y="4092619"/>
            <a:ext cx="2532725" cy="1881750"/>
            <a:chOff x="7221517" y="-507956"/>
            <a:chExt cx="2532725" cy="1881750"/>
          </a:xfrm>
        </p:grpSpPr>
        <p:sp>
          <p:nvSpPr>
            <p:cNvPr id="221" name="Google Shape;221;p5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5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5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5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5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5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5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5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5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5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grpSp>
        <p:nvGrpSpPr>
          <p:cNvPr id="233" name="Google Shape;233;p6"/>
          <p:cNvGrpSpPr/>
          <p:nvPr/>
        </p:nvGrpSpPr>
        <p:grpSpPr>
          <a:xfrm>
            <a:off x="8353997" y="-383894"/>
            <a:ext cx="1346103" cy="1863890"/>
            <a:chOff x="8353997" y="-383894"/>
            <a:chExt cx="1346103" cy="1863890"/>
          </a:xfrm>
        </p:grpSpPr>
        <p:sp>
          <p:nvSpPr>
            <p:cNvPr id="234" name="Google Shape;234;p6"/>
            <p:cNvSpPr/>
            <p:nvPr/>
          </p:nvSpPr>
          <p:spPr>
            <a:xfrm rot="10515604" flipH="1">
              <a:off x="8395233" y="733291"/>
              <a:ext cx="650155" cy="721075"/>
            </a:xfrm>
            <a:custGeom>
              <a:avLst/>
              <a:gdLst/>
              <a:ahLst/>
              <a:cxnLst/>
              <a:rect l="l" t="t" r="r" b="b"/>
              <a:pathLst>
                <a:path w="26008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6"/>
            <p:cNvSpPr/>
            <p:nvPr/>
          </p:nvSpPr>
          <p:spPr>
            <a:xfrm rot="10515604" flipH="1">
              <a:off x="9021238" y="726016"/>
              <a:ext cx="650180" cy="721100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9" y="20743"/>
                  </a:moveTo>
                  <a:lnTo>
                    <a:pt x="24981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6"/>
            <p:cNvSpPr/>
            <p:nvPr/>
          </p:nvSpPr>
          <p:spPr>
            <a:xfrm rot="10515604" flipH="1">
              <a:off x="8701958" y="187502"/>
              <a:ext cx="650180" cy="721075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0" y="8102"/>
                  </a:lnTo>
                  <a:lnTo>
                    <a:pt x="1028" y="22525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6"/>
            <p:cNvSpPr/>
            <p:nvPr/>
          </p:nvSpPr>
          <p:spPr>
            <a:xfrm rot="10515604" flipH="1">
              <a:off x="8382677" y="-351036"/>
              <a:ext cx="650155" cy="721075"/>
            </a:xfrm>
            <a:custGeom>
              <a:avLst/>
              <a:gdLst/>
              <a:ahLst/>
              <a:cxnLst/>
              <a:rect l="l" t="t" r="r" b="b"/>
              <a:pathLst>
                <a:path w="26008" h="28845" fill="none" extrusionOk="0">
                  <a:moveTo>
                    <a:pt x="26008" y="20743"/>
                  </a:moveTo>
                  <a:lnTo>
                    <a:pt x="24980" y="6320"/>
                  </a:lnTo>
                  <a:lnTo>
                    <a:pt x="11975" y="1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2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6"/>
            <p:cNvSpPr/>
            <p:nvPr/>
          </p:nvSpPr>
          <p:spPr>
            <a:xfrm rot="10515604" flipH="1">
              <a:off x="9008685" y="-358263"/>
              <a:ext cx="650205" cy="721050"/>
            </a:xfrm>
            <a:custGeom>
              <a:avLst/>
              <a:gdLst/>
              <a:ahLst/>
              <a:cxnLst/>
              <a:rect l="l" t="t" r="r" b="b"/>
              <a:pathLst>
                <a:path w="26010" h="28844" fill="none" extrusionOk="0">
                  <a:moveTo>
                    <a:pt x="26009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6"/>
            <p:cNvSpPr/>
            <p:nvPr/>
          </p:nvSpPr>
          <p:spPr>
            <a:xfrm rot="10515604" flipH="1">
              <a:off x="8988035" y="-202012"/>
              <a:ext cx="57071" cy="57046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6"/>
            <p:cNvSpPr/>
            <p:nvPr/>
          </p:nvSpPr>
          <p:spPr>
            <a:xfrm rot="10515604" flipH="1">
              <a:off x="9613745" y="157612"/>
              <a:ext cx="57046" cy="57071"/>
            </a:xfrm>
            <a:custGeom>
              <a:avLst/>
              <a:gdLst/>
              <a:ahLst/>
              <a:cxnLst/>
              <a:rect l="l" t="t" r="r" b="b"/>
              <a:pathLst>
                <a:path w="2282" h="2283" extrusionOk="0">
                  <a:moveTo>
                    <a:pt x="1142" y="0"/>
                  </a:moveTo>
                  <a:cubicBezTo>
                    <a:pt x="512" y="0"/>
                    <a:pt x="1" y="511"/>
                    <a:pt x="1" y="1141"/>
                  </a:cubicBezTo>
                  <a:cubicBezTo>
                    <a:pt x="1" y="1771"/>
                    <a:pt x="512" y="2282"/>
                    <a:pt x="1142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6"/>
            <p:cNvSpPr/>
            <p:nvPr/>
          </p:nvSpPr>
          <p:spPr>
            <a:xfrm rot="10515604" flipH="1">
              <a:off x="9310934" y="707795"/>
              <a:ext cx="57021" cy="57071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2" name="Google Shape;242;p6"/>
          <p:cNvSpPr/>
          <p:nvPr/>
        </p:nvSpPr>
        <p:spPr>
          <a:xfrm rot="10515604" flipH="1">
            <a:off x="8362734" y="-200629"/>
            <a:ext cx="57046" cy="57046"/>
          </a:xfrm>
          <a:custGeom>
            <a:avLst/>
            <a:gdLst/>
            <a:ahLst/>
            <a:cxnLst/>
            <a:rect l="l" t="t" r="r" b="b"/>
            <a:pathLst>
              <a:path w="2282" h="2282" extrusionOk="0">
                <a:moveTo>
                  <a:pt x="1141" y="0"/>
                </a:moveTo>
                <a:cubicBezTo>
                  <a:pt x="511" y="0"/>
                  <a:pt x="0" y="511"/>
                  <a:pt x="0" y="1141"/>
                </a:cubicBezTo>
                <a:cubicBezTo>
                  <a:pt x="0" y="1770"/>
                  <a:pt x="511" y="2281"/>
                  <a:pt x="1141" y="2281"/>
                </a:cubicBezTo>
                <a:cubicBezTo>
                  <a:pt x="1772" y="2281"/>
                  <a:pt x="2281" y="1770"/>
                  <a:pt x="2281" y="1141"/>
                </a:cubicBezTo>
                <a:cubicBezTo>
                  <a:pt x="2281" y="511"/>
                  <a:pt x="1772" y="0"/>
                  <a:pt x="114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7"/>
          <p:cNvSpPr txBox="1">
            <a:spLocks noGrp="1"/>
          </p:cNvSpPr>
          <p:nvPr>
            <p:ph type="title"/>
          </p:nvPr>
        </p:nvSpPr>
        <p:spPr>
          <a:xfrm>
            <a:off x="4135975" y="1757900"/>
            <a:ext cx="4294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7"/>
          <p:cNvSpPr txBox="1">
            <a:spLocks noGrp="1"/>
          </p:cNvSpPr>
          <p:nvPr>
            <p:ph type="subTitle" idx="1"/>
          </p:nvPr>
        </p:nvSpPr>
        <p:spPr>
          <a:xfrm>
            <a:off x="4135975" y="2330600"/>
            <a:ext cx="4294800" cy="12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246" name="Google Shape;246;p7"/>
          <p:cNvGrpSpPr/>
          <p:nvPr/>
        </p:nvGrpSpPr>
        <p:grpSpPr>
          <a:xfrm>
            <a:off x="5478864" y="2056701"/>
            <a:ext cx="5036265" cy="4113315"/>
            <a:chOff x="4780389" y="2513201"/>
            <a:chExt cx="5036265" cy="4113315"/>
          </a:xfrm>
        </p:grpSpPr>
        <p:grpSp>
          <p:nvGrpSpPr>
            <p:cNvPr id="247" name="Google Shape;247;p7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248" name="Google Shape;248;p7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49" name="Google Shape;249;p7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250" name="Google Shape;250;p7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251" name="Google Shape;251;p7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2" name="Google Shape;252;p7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3" name="Google Shape;253;p7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4" name="Google Shape;254;p7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5" name="Google Shape;255;p7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6" name="Google Shape;256;p7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7" name="Google Shape;257;p7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8" name="Google Shape;258;p7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9" name="Google Shape;259;p7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0" name="Google Shape;260;p7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1" name="Google Shape;261;p7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2" name="Google Shape;262;p7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3" name="Google Shape;263;p7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4" name="Google Shape;264;p7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5" name="Google Shape;265;p7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6" name="Google Shape;266;p7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7" name="Google Shape;267;p7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8" name="Google Shape;268;p7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9" name="Google Shape;269;p7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0" name="Google Shape;270;p7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1" name="Google Shape;271;p7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2" name="Google Shape;272;p7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3" name="Google Shape;273;p7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4" name="Google Shape;274;p7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5" name="Google Shape;275;p7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6" name="Google Shape;276;p7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7" name="Google Shape;277;p7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8" name="Google Shape;278;p7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279" name="Google Shape;279;p7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" name="Google Shape;280;p7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" name="Google Shape;281;p7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" name="Google Shape;282;p7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" name="Google Shape;283;p7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" name="Google Shape;284;p7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5" name="Google Shape;285;p7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6" name="Google Shape;286;p7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287" name="Google Shape;287;p7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7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7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0" name="Google Shape;290;p7"/>
          <p:cNvGrpSpPr/>
          <p:nvPr/>
        </p:nvGrpSpPr>
        <p:grpSpPr>
          <a:xfrm>
            <a:off x="-128336" y="-2516262"/>
            <a:ext cx="5036265" cy="4113315"/>
            <a:chOff x="4780389" y="2513201"/>
            <a:chExt cx="5036265" cy="4113315"/>
          </a:xfrm>
        </p:grpSpPr>
        <p:grpSp>
          <p:nvGrpSpPr>
            <p:cNvPr id="291" name="Google Shape;291;p7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292" name="Google Shape;292;p7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93" name="Google Shape;293;p7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294" name="Google Shape;294;p7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295" name="Google Shape;295;p7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6" name="Google Shape;296;p7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7" name="Google Shape;297;p7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8" name="Google Shape;298;p7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9" name="Google Shape;299;p7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0" name="Google Shape;300;p7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1" name="Google Shape;301;p7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2" name="Google Shape;302;p7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3" name="Google Shape;303;p7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4" name="Google Shape;304;p7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5" name="Google Shape;305;p7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6" name="Google Shape;306;p7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7" name="Google Shape;307;p7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8" name="Google Shape;308;p7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9" name="Google Shape;309;p7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0" name="Google Shape;310;p7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1" name="Google Shape;311;p7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2" name="Google Shape;312;p7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3" name="Google Shape;313;p7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4" name="Google Shape;314;p7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5" name="Google Shape;315;p7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6" name="Google Shape;316;p7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7" name="Google Shape;317;p7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8" name="Google Shape;318;p7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9" name="Google Shape;319;p7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0" name="Google Shape;320;p7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1" name="Google Shape;321;p7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2" name="Google Shape;322;p7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323" name="Google Shape;323;p7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4" name="Google Shape;324;p7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5" name="Google Shape;325;p7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6" name="Google Shape;326;p7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7" name="Google Shape;327;p7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8" name="Google Shape;328;p7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9" name="Google Shape;329;p7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0" name="Google Shape;330;p7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331" name="Google Shape;331;p7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7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7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8"/>
          <p:cNvSpPr txBox="1">
            <a:spLocks noGrp="1"/>
          </p:cNvSpPr>
          <p:nvPr>
            <p:ph type="title"/>
          </p:nvPr>
        </p:nvSpPr>
        <p:spPr>
          <a:xfrm>
            <a:off x="943050" y="1307100"/>
            <a:ext cx="72579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336" name="Google Shape;336;p8"/>
          <p:cNvGrpSpPr/>
          <p:nvPr/>
        </p:nvGrpSpPr>
        <p:grpSpPr>
          <a:xfrm>
            <a:off x="5478864" y="2056701"/>
            <a:ext cx="5036265" cy="4113315"/>
            <a:chOff x="4780389" y="2513201"/>
            <a:chExt cx="5036265" cy="4113315"/>
          </a:xfrm>
        </p:grpSpPr>
        <p:grpSp>
          <p:nvGrpSpPr>
            <p:cNvPr id="337" name="Google Shape;337;p8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338" name="Google Shape;338;p8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39" name="Google Shape;339;p8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340" name="Google Shape;340;p8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341" name="Google Shape;341;p8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2" name="Google Shape;342;p8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3" name="Google Shape;343;p8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4" name="Google Shape;344;p8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5" name="Google Shape;345;p8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6" name="Google Shape;346;p8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7" name="Google Shape;347;p8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8" name="Google Shape;348;p8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9" name="Google Shape;349;p8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0" name="Google Shape;350;p8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1" name="Google Shape;351;p8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2" name="Google Shape;352;p8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3" name="Google Shape;353;p8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4" name="Google Shape;354;p8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5" name="Google Shape;355;p8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6" name="Google Shape;356;p8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7" name="Google Shape;357;p8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8" name="Google Shape;358;p8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9" name="Google Shape;359;p8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0" name="Google Shape;360;p8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1" name="Google Shape;361;p8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2" name="Google Shape;362;p8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3" name="Google Shape;363;p8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4" name="Google Shape;364;p8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5" name="Google Shape;365;p8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6" name="Google Shape;366;p8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7" name="Google Shape;367;p8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8" name="Google Shape;368;p8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369" name="Google Shape;369;p8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0" name="Google Shape;370;p8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1" name="Google Shape;371;p8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2" name="Google Shape;372;p8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3" name="Google Shape;373;p8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" name="Google Shape;374;p8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5" name="Google Shape;375;p8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6" name="Google Shape;376;p8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377" name="Google Shape;377;p8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8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8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0" name="Google Shape;380;p8"/>
          <p:cNvGrpSpPr/>
          <p:nvPr/>
        </p:nvGrpSpPr>
        <p:grpSpPr>
          <a:xfrm>
            <a:off x="-128336" y="-2516262"/>
            <a:ext cx="5036265" cy="4113315"/>
            <a:chOff x="4780389" y="2513201"/>
            <a:chExt cx="5036265" cy="4113315"/>
          </a:xfrm>
        </p:grpSpPr>
        <p:grpSp>
          <p:nvGrpSpPr>
            <p:cNvPr id="381" name="Google Shape;381;p8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382" name="Google Shape;382;p8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83" name="Google Shape;383;p8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384" name="Google Shape;384;p8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385" name="Google Shape;385;p8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6" name="Google Shape;386;p8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7" name="Google Shape;387;p8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8" name="Google Shape;388;p8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9" name="Google Shape;389;p8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0" name="Google Shape;390;p8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1" name="Google Shape;391;p8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2" name="Google Shape;392;p8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3" name="Google Shape;393;p8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4" name="Google Shape;394;p8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5" name="Google Shape;395;p8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6" name="Google Shape;396;p8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7" name="Google Shape;397;p8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8" name="Google Shape;398;p8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9" name="Google Shape;399;p8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0" name="Google Shape;400;p8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1" name="Google Shape;401;p8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2" name="Google Shape;402;p8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3" name="Google Shape;403;p8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4" name="Google Shape;404;p8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5" name="Google Shape;405;p8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6" name="Google Shape;406;p8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7" name="Google Shape;407;p8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8" name="Google Shape;408;p8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9" name="Google Shape;409;p8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0" name="Google Shape;410;p8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1" name="Google Shape;411;p8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2" name="Google Shape;412;p8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413" name="Google Shape;413;p8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4" name="Google Shape;414;p8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" name="Google Shape;415;p8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" name="Google Shape;416;p8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" name="Google Shape;417;p8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" name="Google Shape;418;p8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" name="Google Shape;419;p8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" name="Google Shape;420;p8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421" name="Google Shape;421;p8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8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8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26" name="Google Shape;426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l-GR"/>
          </a:p>
        </p:txBody>
      </p:sp>
      <p:sp>
        <p:nvSpPr>
          <p:cNvPr id="429" name="Google Shape;429;p10"/>
          <p:cNvSpPr txBox="1">
            <a:spLocks noGrp="1"/>
          </p:cNvSpPr>
          <p:nvPr>
            <p:ph type="title"/>
          </p:nvPr>
        </p:nvSpPr>
        <p:spPr>
          <a:xfrm>
            <a:off x="713225" y="3502900"/>
            <a:ext cx="5202300" cy="1045200"/>
          </a:xfrm>
          <a:prstGeom prst="rect">
            <a:avLst/>
          </a:prstGeom>
          <a:solidFill>
            <a:srgbClr val="733C9B">
              <a:alpha val="3302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grpSp>
        <p:nvGrpSpPr>
          <p:cNvPr id="430" name="Google Shape;430;p10"/>
          <p:cNvGrpSpPr/>
          <p:nvPr/>
        </p:nvGrpSpPr>
        <p:grpSpPr>
          <a:xfrm rot="10800000">
            <a:off x="6825617" y="-226461"/>
            <a:ext cx="3485298" cy="1363521"/>
            <a:chOff x="5000328" y="4413931"/>
            <a:chExt cx="3485298" cy="1363521"/>
          </a:xfrm>
        </p:grpSpPr>
        <p:grpSp>
          <p:nvGrpSpPr>
            <p:cNvPr id="431" name="Google Shape;431;p10"/>
            <p:cNvGrpSpPr/>
            <p:nvPr/>
          </p:nvGrpSpPr>
          <p:grpSpPr>
            <a:xfrm>
              <a:off x="5000328" y="4413931"/>
              <a:ext cx="3485298" cy="1363521"/>
              <a:chOff x="4151828" y="2626856"/>
              <a:chExt cx="3485298" cy="1363521"/>
            </a:xfrm>
          </p:grpSpPr>
          <p:sp>
            <p:nvSpPr>
              <p:cNvPr id="432" name="Google Shape;432;p10"/>
              <p:cNvSpPr/>
              <p:nvPr/>
            </p:nvSpPr>
            <p:spPr>
              <a:xfrm rot="157512">
                <a:off x="4467198" y="2704787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10" y="20743"/>
                    </a:moveTo>
                    <a:lnTo>
                      <a:pt x="24982" y="6322"/>
                    </a:lnTo>
                    <a:lnTo>
                      <a:pt x="11977" y="1"/>
                    </a:lnTo>
                    <a:lnTo>
                      <a:pt x="1" y="8103"/>
                    </a:lnTo>
                    <a:lnTo>
                      <a:pt x="1030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solidFill>
                <a:schemeClr val="dk1"/>
              </a:solidFill>
              <a:ln w="7725" cap="flat" cmpd="sng">
                <a:solidFill>
                  <a:schemeClr val="dk1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10"/>
              <p:cNvSpPr/>
              <p:nvPr/>
            </p:nvSpPr>
            <p:spPr>
              <a:xfrm rot="157512">
                <a:off x="5093107" y="2688958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solidFill>
                <a:schemeClr val="dk1"/>
              </a:solidFill>
              <a:ln w="7725" cap="flat" cmpd="sng">
                <a:solidFill>
                  <a:schemeClr val="dk1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Google Shape;434;p10"/>
              <p:cNvSpPr/>
              <p:nvPr/>
            </p:nvSpPr>
            <p:spPr>
              <a:xfrm rot="157512">
                <a:off x="5718992" y="2673103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4"/>
                    </a:lnTo>
                    <a:lnTo>
                      <a:pt x="14033" y="28844"/>
                    </a:lnTo>
                    <a:close/>
                  </a:path>
                </a:pathLst>
              </a:custGeom>
              <a:solidFill>
                <a:schemeClr val="dk1"/>
              </a:solidFill>
              <a:ln w="7725" cap="flat" cmpd="sng">
                <a:solidFill>
                  <a:schemeClr val="dk1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10"/>
              <p:cNvSpPr/>
              <p:nvPr/>
            </p:nvSpPr>
            <p:spPr>
              <a:xfrm rot="157512">
                <a:off x="6344876" y="2657223"/>
                <a:ext cx="65016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6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5" y="1"/>
                    </a:lnTo>
                    <a:lnTo>
                      <a:pt x="0" y="8103"/>
                    </a:lnTo>
                    <a:lnTo>
                      <a:pt x="1028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solidFill>
                <a:schemeClr val="dk1"/>
              </a:solidFill>
              <a:ln w="7725" cap="flat" cmpd="sng">
                <a:solidFill>
                  <a:schemeClr val="dk1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10"/>
              <p:cNvSpPr/>
              <p:nvPr/>
            </p:nvSpPr>
            <p:spPr>
              <a:xfrm rot="157512">
                <a:off x="6970736" y="2641369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10" y="20743"/>
                    </a:moveTo>
                    <a:lnTo>
                      <a:pt x="24981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solidFill>
                <a:schemeClr val="dk1"/>
              </a:solidFill>
              <a:ln w="7725" cap="flat" cmpd="sng">
                <a:solidFill>
                  <a:schemeClr val="dk1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10"/>
              <p:cNvSpPr/>
              <p:nvPr/>
            </p:nvSpPr>
            <p:spPr>
              <a:xfrm rot="157512">
                <a:off x="4168001" y="3254751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09" y="20744"/>
                    </a:moveTo>
                    <a:lnTo>
                      <a:pt x="24980" y="6322"/>
                    </a:lnTo>
                    <a:lnTo>
                      <a:pt x="11977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4" y="28846"/>
                    </a:lnTo>
                    <a:close/>
                  </a:path>
                </a:pathLst>
              </a:custGeom>
              <a:solidFill>
                <a:schemeClr val="dk1"/>
              </a:solidFill>
              <a:ln w="7725" cap="flat" cmpd="sng">
                <a:solidFill>
                  <a:schemeClr val="dk1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10"/>
              <p:cNvSpPr/>
              <p:nvPr/>
            </p:nvSpPr>
            <p:spPr>
              <a:xfrm rot="157512">
                <a:off x="4793885" y="3238896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7" y="0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solidFill>
                <a:schemeClr val="dk1"/>
              </a:solidFill>
              <a:ln w="7725" cap="flat" cmpd="sng">
                <a:solidFill>
                  <a:schemeClr val="dk1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10"/>
              <p:cNvSpPr/>
              <p:nvPr/>
            </p:nvSpPr>
            <p:spPr>
              <a:xfrm rot="157512">
                <a:off x="5419770" y="3223067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9" y="20743"/>
                    </a:moveTo>
                    <a:lnTo>
                      <a:pt x="24981" y="6320"/>
                    </a:lnTo>
                    <a:lnTo>
                      <a:pt x="11976" y="0"/>
                    </a:lnTo>
                    <a:lnTo>
                      <a:pt x="1" y="8101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solidFill>
                <a:schemeClr val="dk1"/>
              </a:solidFill>
              <a:ln w="7725" cap="flat" cmpd="sng">
                <a:solidFill>
                  <a:schemeClr val="dk1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Google Shape;440;p10"/>
              <p:cNvSpPr/>
              <p:nvPr/>
            </p:nvSpPr>
            <p:spPr>
              <a:xfrm rot="157512">
                <a:off x="6045654" y="3207187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solidFill>
                <a:schemeClr val="dk1"/>
              </a:solidFill>
              <a:ln w="7725" cap="flat" cmpd="sng">
                <a:solidFill>
                  <a:schemeClr val="dk1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41" name="Google Shape;441;p10"/>
            <p:cNvSpPr/>
            <p:nvPr/>
          </p:nvSpPr>
          <p:spPr>
            <a:xfrm rot="157512">
              <a:off x="8124633" y="5115580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10"/>
            <p:cNvSpPr/>
            <p:nvPr/>
          </p:nvSpPr>
          <p:spPr>
            <a:xfrm rot="157512">
              <a:off x="6574005" y="5703526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0"/>
            <p:cNvSpPr/>
            <p:nvPr/>
          </p:nvSpPr>
          <p:spPr>
            <a:xfrm rot="157512">
              <a:off x="5929801" y="4996682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707525"/>
            <a:ext cx="6576000" cy="155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82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46" name="Google Shape;446;p11"/>
          <p:cNvSpPr txBox="1">
            <a:spLocks noGrp="1"/>
          </p:cNvSpPr>
          <p:nvPr>
            <p:ph type="subTitle" idx="1"/>
          </p:nvPr>
        </p:nvSpPr>
        <p:spPr>
          <a:xfrm>
            <a:off x="1284000" y="3259075"/>
            <a:ext cx="65760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447" name="Google Shape;447;p11"/>
          <p:cNvGrpSpPr/>
          <p:nvPr/>
        </p:nvGrpSpPr>
        <p:grpSpPr>
          <a:xfrm rot="10800000">
            <a:off x="4305914" y="3662226"/>
            <a:ext cx="5036265" cy="4113315"/>
            <a:chOff x="4780389" y="2513201"/>
            <a:chExt cx="5036265" cy="4113315"/>
          </a:xfrm>
        </p:grpSpPr>
        <p:grpSp>
          <p:nvGrpSpPr>
            <p:cNvPr id="448" name="Google Shape;448;p11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449" name="Google Shape;449;p11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50" name="Google Shape;450;p11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451" name="Google Shape;451;p11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452" name="Google Shape;452;p11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3" name="Google Shape;453;p11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4" name="Google Shape;454;p11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5" name="Google Shape;455;p11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6" name="Google Shape;456;p11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7" name="Google Shape;457;p11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8" name="Google Shape;458;p11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9" name="Google Shape;459;p11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0" name="Google Shape;460;p11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1" name="Google Shape;461;p11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2" name="Google Shape;462;p11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3" name="Google Shape;463;p11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4" name="Google Shape;464;p11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5" name="Google Shape;465;p11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6" name="Google Shape;466;p11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7" name="Google Shape;467;p11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8" name="Google Shape;468;p11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9" name="Google Shape;469;p11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0" name="Google Shape;470;p11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1" name="Google Shape;471;p11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2" name="Google Shape;472;p11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3" name="Google Shape;473;p11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4" name="Google Shape;474;p11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5" name="Google Shape;475;p11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6" name="Google Shape;476;p11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7" name="Google Shape;477;p11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8" name="Google Shape;478;p11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9" name="Google Shape;479;p11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480" name="Google Shape;480;p11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1" name="Google Shape;481;p11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2" name="Google Shape;482;p11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3" name="Google Shape;483;p11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4" name="Google Shape;484;p11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5" name="Google Shape;485;p11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6" name="Google Shape;486;p11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7" name="Google Shape;487;p11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488" name="Google Shape;488;p11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11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11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1" name="Google Shape;491;p11"/>
          <p:cNvGrpSpPr/>
          <p:nvPr/>
        </p:nvGrpSpPr>
        <p:grpSpPr>
          <a:xfrm>
            <a:off x="-128336" y="-2516262"/>
            <a:ext cx="5036265" cy="4113315"/>
            <a:chOff x="4780389" y="2513201"/>
            <a:chExt cx="5036265" cy="4113315"/>
          </a:xfrm>
        </p:grpSpPr>
        <p:grpSp>
          <p:nvGrpSpPr>
            <p:cNvPr id="492" name="Google Shape;492;p11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493" name="Google Shape;493;p11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94" name="Google Shape;494;p11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495" name="Google Shape;495;p11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496" name="Google Shape;496;p11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7" name="Google Shape;497;p11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8" name="Google Shape;498;p11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9" name="Google Shape;499;p11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0" name="Google Shape;500;p11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1" name="Google Shape;501;p11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2" name="Google Shape;502;p11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3" name="Google Shape;503;p11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4" name="Google Shape;504;p11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5" name="Google Shape;505;p11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6" name="Google Shape;506;p11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7" name="Google Shape;507;p11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8" name="Google Shape;508;p11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9" name="Google Shape;509;p11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0" name="Google Shape;510;p11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1" name="Google Shape;511;p11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2" name="Google Shape;512;p11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3" name="Google Shape;513;p11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4" name="Google Shape;514;p11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5" name="Google Shape;515;p11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6" name="Google Shape;516;p11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7" name="Google Shape;517;p11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8" name="Google Shape;518;p11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9" name="Google Shape;519;p11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0" name="Google Shape;520;p11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1" name="Google Shape;521;p11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2" name="Google Shape;522;p11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3" name="Google Shape;523;p11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24" name="Google Shape;524;p11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5" name="Google Shape;525;p11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6" name="Google Shape;526;p11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7" name="Google Shape;527;p11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8" name="Google Shape;528;p11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9" name="Google Shape;529;p11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0" name="Google Shape;530;p11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1" name="Google Shape;531;p11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532" name="Google Shape;532;p11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11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11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38" name="Google Shape;538;p13"/>
          <p:cNvSpPr txBox="1">
            <a:spLocks noGrp="1"/>
          </p:cNvSpPr>
          <p:nvPr>
            <p:ph type="subTitle" idx="1"/>
          </p:nvPr>
        </p:nvSpPr>
        <p:spPr>
          <a:xfrm>
            <a:off x="5784713" y="1520950"/>
            <a:ext cx="2468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9" name="Google Shape;539;p13"/>
          <p:cNvSpPr txBox="1">
            <a:spLocks noGrp="1"/>
          </p:cNvSpPr>
          <p:nvPr>
            <p:ph type="title" idx="2" hasCustomPrompt="1"/>
          </p:nvPr>
        </p:nvSpPr>
        <p:spPr>
          <a:xfrm>
            <a:off x="890575" y="1520950"/>
            <a:ext cx="976800" cy="48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0" name="Google Shape;540;p13"/>
          <p:cNvSpPr txBox="1">
            <a:spLocks noGrp="1"/>
          </p:cNvSpPr>
          <p:nvPr>
            <p:ph type="subTitle" idx="3"/>
          </p:nvPr>
        </p:nvSpPr>
        <p:spPr>
          <a:xfrm>
            <a:off x="1954644" y="1520950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41" name="Google Shape;541;p13"/>
          <p:cNvSpPr txBox="1">
            <a:spLocks noGrp="1"/>
          </p:cNvSpPr>
          <p:nvPr>
            <p:ph type="subTitle" idx="4"/>
          </p:nvPr>
        </p:nvSpPr>
        <p:spPr>
          <a:xfrm>
            <a:off x="5784713" y="2154035"/>
            <a:ext cx="2468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2" name="Google Shape;542;p13"/>
          <p:cNvSpPr txBox="1">
            <a:spLocks noGrp="1"/>
          </p:cNvSpPr>
          <p:nvPr>
            <p:ph type="title" idx="5" hasCustomPrompt="1"/>
          </p:nvPr>
        </p:nvSpPr>
        <p:spPr>
          <a:xfrm>
            <a:off x="890575" y="2154035"/>
            <a:ext cx="976800" cy="48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3" name="Google Shape;543;p13"/>
          <p:cNvSpPr txBox="1">
            <a:spLocks noGrp="1"/>
          </p:cNvSpPr>
          <p:nvPr>
            <p:ph type="subTitle" idx="6"/>
          </p:nvPr>
        </p:nvSpPr>
        <p:spPr>
          <a:xfrm>
            <a:off x="1954644" y="2154035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44" name="Google Shape;544;p13"/>
          <p:cNvSpPr txBox="1">
            <a:spLocks noGrp="1"/>
          </p:cNvSpPr>
          <p:nvPr>
            <p:ph type="subTitle" idx="7"/>
          </p:nvPr>
        </p:nvSpPr>
        <p:spPr>
          <a:xfrm>
            <a:off x="5784713" y="2787120"/>
            <a:ext cx="2468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5" name="Google Shape;545;p13"/>
          <p:cNvSpPr txBox="1">
            <a:spLocks noGrp="1"/>
          </p:cNvSpPr>
          <p:nvPr>
            <p:ph type="title" idx="8" hasCustomPrompt="1"/>
          </p:nvPr>
        </p:nvSpPr>
        <p:spPr>
          <a:xfrm>
            <a:off x="890575" y="2787120"/>
            <a:ext cx="976800" cy="48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6" name="Google Shape;546;p13"/>
          <p:cNvSpPr txBox="1">
            <a:spLocks noGrp="1"/>
          </p:cNvSpPr>
          <p:nvPr>
            <p:ph type="subTitle" idx="9"/>
          </p:nvPr>
        </p:nvSpPr>
        <p:spPr>
          <a:xfrm>
            <a:off x="1954644" y="2787120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47" name="Google Shape;547;p13"/>
          <p:cNvSpPr txBox="1">
            <a:spLocks noGrp="1"/>
          </p:cNvSpPr>
          <p:nvPr>
            <p:ph type="subTitle" idx="13"/>
          </p:nvPr>
        </p:nvSpPr>
        <p:spPr>
          <a:xfrm>
            <a:off x="5784713" y="3420205"/>
            <a:ext cx="2468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8" name="Google Shape;548;p13"/>
          <p:cNvSpPr txBox="1">
            <a:spLocks noGrp="1"/>
          </p:cNvSpPr>
          <p:nvPr>
            <p:ph type="title" idx="14" hasCustomPrompt="1"/>
          </p:nvPr>
        </p:nvSpPr>
        <p:spPr>
          <a:xfrm>
            <a:off x="890575" y="3420205"/>
            <a:ext cx="976800" cy="48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9" name="Google Shape;549;p13"/>
          <p:cNvSpPr txBox="1">
            <a:spLocks noGrp="1"/>
          </p:cNvSpPr>
          <p:nvPr>
            <p:ph type="subTitle" idx="15"/>
          </p:nvPr>
        </p:nvSpPr>
        <p:spPr>
          <a:xfrm>
            <a:off x="1954644" y="3420205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50" name="Google Shape;550;p13"/>
          <p:cNvSpPr txBox="1">
            <a:spLocks noGrp="1"/>
          </p:cNvSpPr>
          <p:nvPr>
            <p:ph type="subTitle" idx="16"/>
          </p:nvPr>
        </p:nvSpPr>
        <p:spPr>
          <a:xfrm>
            <a:off x="5784713" y="4053290"/>
            <a:ext cx="2468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1" name="Google Shape;551;p13"/>
          <p:cNvSpPr txBox="1">
            <a:spLocks noGrp="1"/>
          </p:cNvSpPr>
          <p:nvPr>
            <p:ph type="title" idx="17" hasCustomPrompt="1"/>
          </p:nvPr>
        </p:nvSpPr>
        <p:spPr>
          <a:xfrm>
            <a:off x="890575" y="4053290"/>
            <a:ext cx="976800" cy="48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2" name="Google Shape;552;p13"/>
          <p:cNvSpPr txBox="1">
            <a:spLocks noGrp="1"/>
          </p:cNvSpPr>
          <p:nvPr>
            <p:ph type="subTitle" idx="18"/>
          </p:nvPr>
        </p:nvSpPr>
        <p:spPr>
          <a:xfrm>
            <a:off x="1954644" y="4053290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553" name="Google Shape;553;p13"/>
          <p:cNvGrpSpPr/>
          <p:nvPr/>
        </p:nvGrpSpPr>
        <p:grpSpPr>
          <a:xfrm>
            <a:off x="-3773061" y="-978862"/>
            <a:ext cx="5036265" cy="4113315"/>
            <a:chOff x="4780389" y="2513201"/>
            <a:chExt cx="5036265" cy="4113315"/>
          </a:xfrm>
        </p:grpSpPr>
        <p:grpSp>
          <p:nvGrpSpPr>
            <p:cNvPr id="554" name="Google Shape;554;p13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555" name="Google Shape;555;p13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56" name="Google Shape;556;p13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557" name="Google Shape;557;p13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558" name="Google Shape;558;p13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9" name="Google Shape;559;p13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0" name="Google Shape;560;p13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1" name="Google Shape;561;p13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2" name="Google Shape;562;p13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3" name="Google Shape;563;p13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4" name="Google Shape;564;p13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5" name="Google Shape;565;p13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6" name="Google Shape;566;p13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7" name="Google Shape;567;p13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8" name="Google Shape;568;p13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9" name="Google Shape;569;p13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0" name="Google Shape;570;p13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1" name="Google Shape;571;p13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2" name="Google Shape;572;p13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3" name="Google Shape;573;p13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4" name="Google Shape;574;p13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5" name="Google Shape;575;p13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6" name="Google Shape;576;p13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7" name="Google Shape;577;p13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8" name="Google Shape;578;p13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9" name="Google Shape;579;p13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0" name="Google Shape;580;p13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1" name="Google Shape;581;p13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2" name="Google Shape;582;p13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3" name="Google Shape;583;p13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4" name="Google Shape;584;p13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5" name="Google Shape;585;p13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86" name="Google Shape;586;p13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7" name="Google Shape;587;p13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8" name="Google Shape;588;p13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9" name="Google Shape;589;p13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0" name="Google Shape;590;p13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1" name="Google Shape;591;p13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2" name="Google Shape;592;p13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3" name="Google Shape;593;p13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594" name="Google Shape;594;p13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13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13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14"/>
          <p:cNvSpPr txBox="1">
            <a:spLocks noGrp="1"/>
          </p:cNvSpPr>
          <p:nvPr>
            <p:ph type="title"/>
          </p:nvPr>
        </p:nvSpPr>
        <p:spPr>
          <a:xfrm>
            <a:off x="3424066" y="3475500"/>
            <a:ext cx="50067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99" name="Google Shape;599;p14"/>
          <p:cNvSpPr txBox="1">
            <a:spLocks noGrp="1"/>
          </p:cNvSpPr>
          <p:nvPr>
            <p:ph type="subTitle" idx="1"/>
          </p:nvPr>
        </p:nvSpPr>
        <p:spPr>
          <a:xfrm>
            <a:off x="3423950" y="1025400"/>
            <a:ext cx="5006700" cy="245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600" name="Google Shape;600;p14"/>
          <p:cNvGrpSpPr/>
          <p:nvPr/>
        </p:nvGrpSpPr>
        <p:grpSpPr>
          <a:xfrm>
            <a:off x="7107962" y="-355553"/>
            <a:ext cx="1934332" cy="1332011"/>
            <a:chOff x="7107962" y="-355553"/>
            <a:chExt cx="1934332" cy="1332011"/>
          </a:xfrm>
        </p:grpSpPr>
        <p:sp>
          <p:nvSpPr>
            <p:cNvPr id="601" name="Google Shape;601;p14"/>
            <p:cNvSpPr/>
            <p:nvPr/>
          </p:nvSpPr>
          <p:spPr>
            <a:xfrm rot="-157512" flipH="1">
              <a:off x="7124135" y="209124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14"/>
            <p:cNvSpPr/>
            <p:nvPr/>
          </p:nvSpPr>
          <p:spPr>
            <a:xfrm rot="-157512" flipH="1">
              <a:off x="7112323" y="35256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14"/>
            <p:cNvSpPr/>
            <p:nvPr/>
          </p:nvSpPr>
          <p:spPr>
            <a:xfrm rot="-157512" flipH="1">
              <a:off x="7729061" y="729798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14"/>
            <p:cNvSpPr/>
            <p:nvPr/>
          </p:nvSpPr>
          <p:spPr>
            <a:xfrm rot="-157512" flipH="1">
              <a:off x="7756527" y="-354275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14"/>
            <p:cNvSpPr/>
            <p:nvPr/>
          </p:nvSpPr>
          <p:spPr>
            <a:xfrm rot="-157512" flipH="1">
              <a:off x="8076682" y="-309131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09" y="20744"/>
                  </a:moveTo>
                  <a:lnTo>
                    <a:pt x="24980" y="6322"/>
                  </a:lnTo>
                  <a:lnTo>
                    <a:pt x="11977" y="1"/>
                  </a:lnTo>
                  <a:lnTo>
                    <a:pt x="0" y="8103"/>
                  </a:lnTo>
                  <a:lnTo>
                    <a:pt x="1029" y="22525"/>
                  </a:lnTo>
                  <a:lnTo>
                    <a:pt x="14034" y="28846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14"/>
            <p:cNvSpPr/>
            <p:nvPr/>
          </p:nvSpPr>
          <p:spPr>
            <a:xfrm rot="-157512" flipH="1">
              <a:off x="7450823" y="-324986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9" y="20743"/>
                  </a:moveTo>
                  <a:lnTo>
                    <a:pt x="24981" y="6321"/>
                  </a:lnTo>
                  <a:lnTo>
                    <a:pt x="11977" y="0"/>
                  </a:lnTo>
                  <a:lnTo>
                    <a:pt x="0" y="8103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14"/>
            <p:cNvSpPr/>
            <p:nvPr/>
          </p:nvSpPr>
          <p:spPr>
            <a:xfrm rot="-157512" flipH="1">
              <a:off x="8375904" y="240832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4"/>
                  </a:moveTo>
                  <a:lnTo>
                    <a:pt x="24982" y="6322"/>
                  </a:lnTo>
                  <a:lnTo>
                    <a:pt x="11977" y="1"/>
                  </a:lnTo>
                  <a:lnTo>
                    <a:pt x="1" y="8102"/>
                  </a:lnTo>
                  <a:lnTo>
                    <a:pt x="1030" y="22525"/>
                  </a:lnTo>
                  <a:lnTo>
                    <a:pt x="14034" y="28846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14"/>
            <p:cNvSpPr/>
            <p:nvPr/>
          </p:nvSpPr>
          <p:spPr>
            <a:xfrm rot="-157512" flipH="1">
              <a:off x="7750020" y="224978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3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9" name="Google Shape;609;p14"/>
          <p:cNvGrpSpPr/>
          <p:nvPr/>
        </p:nvGrpSpPr>
        <p:grpSpPr>
          <a:xfrm>
            <a:off x="108580" y="3475490"/>
            <a:ext cx="1961773" cy="2399979"/>
            <a:chOff x="108580" y="3135490"/>
            <a:chExt cx="1961773" cy="2399979"/>
          </a:xfrm>
        </p:grpSpPr>
        <p:sp>
          <p:nvSpPr>
            <p:cNvPr id="610" name="Google Shape;610;p14"/>
            <p:cNvSpPr/>
            <p:nvPr/>
          </p:nvSpPr>
          <p:spPr>
            <a:xfrm rot="-157512" flipH="1">
              <a:off x="1392148" y="332954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14"/>
            <p:cNvSpPr/>
            <p:nvPr/>
          </p:nvSpPr>
          <p:spPr>
            <a:xfrm rot="-157512" flipH="1">
              <a:off x="1064998" y="386414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14"/>
            <p:cNvSpPr/>
            <p:nvPr/>
          </p:nvSpPr>
          <p:spPr>
            <a:xfrm rot="-157512" flipH="1">
              <a:off x="1364223" y="440671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14"/>
            <p:cNvSpPr/>
            <p:nvPr/>
          </p:nvSpPr>
          <p:spPr>
            <a:xfrm rot="-157512" flipH="1">
              <a:off x="119483" y="438279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14" name="Google Shape;614;p14"/>
            <p:cNvGrpSpPr/>
            <p:nvPr/>
          </p:nvGrpSpPr>
          <p:grpSpPr>
            <a:xfrm>
              <a:off x="108580" y="3135490"/>
              <a:ext cx="1961773" cy="2399979"/>
              <a:chOff x="108580" y="3135490"/>
              <a:chExt cx="1961773" cy="2399979"/>
            </a:xfrm>
          </p:grpSpPr>
          <p:sp>
            <p:nvSpPr>
              <p:cNvPr id="615" name="Google Shape;615;p14"/>
              <p:cNvSpPr/>
              <p:nvPr/>
            </p:nvSpPr>
            <p:spPr>
              <a:xfrm rot="-157512" flipH="1">
                <a:off x="1376547" y="4265784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5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Google Shape;616;p14"/>
              <p:cNvSpPr/>
              <p:nvPr/>
            </p:nvSpPr>
            <p:spPr>
              <a:xfrm rot="-157512" flipH="1">
                <a:off x="1077325" y="3715820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5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Google Shape;617;p14"/>
              <p:cNvSpPr/>
              <p:nvPr/>
            </p:nvSpPr>
            <p:spPr>
              <a:xfrm rot="-157512" flipH="1">
                <a:off x="1404013" y="3181711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14"/>
              <p:cNvSpPr/>
              <p:nvPr/>
            </p:nvSpPr>
            <p:spPr>
              <a:xfrm rot="-157512" flipH="1">
                <a:off x="451466" y="3699965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Google Shape;619;p14"/>
              <p:cNvSpPr/>
              <p:nvPr/>
            </p:nvSpPr>
            <p:spPr>
              <a:xfrm rot="-157512" flipH="1">
                <a:off x="152244" y="3150001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Google Shape;620;p14"/>
              <p:cNvSpPr/>
              <p:nvPr/>
            </p:nvSpPr>
            <p:spPr>
              <a:xfrm rot="-157512" flipH="1">
                <a:off x="778129" y="3165856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Google Shape;621;p14"/>
              <p:cNvSpPr/>
              <p:nvPr/>
            </p:nvSpPr>
            <p:spPr>
              <a:xfrm rot="-157512" flipH="1">
                <a:off x="124753" y="4234050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Google Shape;622;p14"/>
              <p:cNvSpPr/>
              <p:nvPr/>
            </p:nvSpPr>
            <p:spPr>
              <a:xfrm rot="-157512" flipH="1">
                <a:off x="423974" y="4784014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9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Google Shape;623;p14"/>
              <p:cNvSpPr/>
              <p:nvPr/>
            </p:nvSpPr>
            <p:spPr>
              <a:xfrm rot="-157512" flipH="1">
                <a:off x="1049859" y="4799893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9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5" name="Google Shape;625;p15"/>
          <p:cNvGrpSpPr/>
          <p:nvPr/>
        </p:nvGrpSpPr>
        <p:grpSpPr>
          <a:xfrm rot="10800000">
            <a:off x="5530217" y="3662226"/>
            <a:ext cx="3811962" cy="1913484"/>
            <a:chOff x="4673664" y="4413931"/>
            <a:chExt cx="3811962" cy="1913484"/>
          </a:xfrm>
        </p:grpSpPr>
        <p:grpSp>
          <p:nvGrpSpPr>
            <p:cNvPr id="626" name="Google Shape;626;p15"/>
            <p:cNvGrpSpPr/>
            <p:nvPr/>
          </p:nvGrpSpPr>
          <p:grpSpPr>
            <a:xfrm>
              <a:off x="4673664" y="4413931"/>
              <a:ext cx="3811962" cy="1913484"/>
              <a:chOff x="3825164" y="2626856"/>
              <a:chExt cx="3811962" cy="1913484"/>
            </a:xfrm>
          </p:grpSpPr>
          <p:sp>
            <p:nvSpPr>
              <p:cNvPr id="627" name="Google Shape;627;p15"/>
              <p:cNvSpPr/>
              <p:nvPr/>
            </p:nvSpPr>
            <p:spPr>
              <a:xfrm rot="157512">
                <a:off x="3841337" y="2720667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0" y="6321"/>
                    </a:lnTo>
                    <a:lnTo>
                      <a:pt x="11975" y="0"/>
                    </a:lnTo>
                    <a:lnTo>
                      <a:pt x="0" y="8102"/>
                    </a:lnTo>
                    <a:lnTo>
                      <a:pt x="1029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Google Shape;628;p15"/>
              <p:cNvSpPr/>
              <p:nvPr/>
            </p:nvSpPr>
            <p:spPr>
              <a:xfrm rot="157512">
                <a:off x="4467198" y="2704787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10" y="20743"/>
                    </a:moveTo>
                    <a:lnTo>
                      <a:pt x="24982" y="6322"/>
                    </a:lnTo>
                    <a:lnTo>
                      <a:pt x="11977" y="1"/>
                    </a:lnTo>
                    <a:lnTo>
                      <a:pt x="1" y="8103"/>
                    </a:lnTo>
                    <a:lnTo>
                      <a:pt x="1030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Google Shape;629;p15"/>
              <p:cNvSpPr/>
              <p:nvPr/>
            </p:nvSpPr>
            <p:spPr>
              <a:xfrm rot="157512">
                <a:off x="5093107" y="2688958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Google Shape;630;p15"/>
              <p:cNvSpPr/>
              <p:nvPr/>
            </p:nvSpPr>
            <p:spPr>
              <a:xfrm rot="157512">
                <a:off x="5718992" y="2673103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4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Google Shape;631;p15"/>
              <p:cNvSpPr/>
              <p:nvPr/>
            </p:nvSpPr>
            <p:spPr>
              <a:xfrm rot="157512">
                <a:off x="6344876" y="2657223"/>
                <a:ext cx="65016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6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5" y="1"/>
                    </a:lnTo>
                    <a:lnTo>
                      <a:pt x="0" y="8103"/>
                    </a:lnTo>
                    <a:lnTo>
                      <a:pt x="1028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Google Shape;632;p15"/>
              <p:cNvSpPr/>
              <p:nvPr/>
            </p:nvSpPr>
            <p:spPr>
              <a:xfrm rot="157512">
                <a:off x="6970736" y="2641369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10" y="20743"/>
                    </a:moveTo>
                    <a:lnTo>
                      <a:pt x="24981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Google Shape;633;p15"/>
              <p:cNvSpPr/>
              <p:nvPr/>
            </p:nvSpPr>
            <p:spPr>
              <a:xfrm rot="157512">
                <a:off x="4168001" y="3254751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09" y="20744"/>
                    </a:moveTo>
                    <a:lnTo>
                      <a:pt x="24980" y="6322"/>
                    </a:lnTo>
                    <a:lnTo>
                      <a:pt x="11977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4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Google Shape;634;p15"/>
              <p:cNvSpPr/>
              <p:nvPr/>
            </p:nvSpPr>
            <p:spPr>
              <a:xfrm rot="157512">
                <a:off x="4793885" y="3238896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7" y="0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15"/>
              <p:cNvSpPr/>
              <p:nvPr/>
            </p:nvSpPr>
            <p:spPr>
              <a:xfrm rot="157512">
                <a:off x="5419770" y="3223067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9" y="20743"/>
                    </a:moveTo>
                    <a:lnTo>
                      <a:pt x="24981" y="6320"/>
                    </a:lnTo>
                    <a:lnTo>
                      <a:pt x="11976" y="0"/>
                    </a:lnTo>
                    <a:lnTo>
                      <a:pt x="1" y="8101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Google Shape;636;p15"/>
              <p:cNvSpPr/>
              <p:nvPr/>
            </p:nvSpPr>
            <p:spPr>
              <a:xfrm rot="157512">
                <a:off x="6045654" y="3207187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Google Shape;637;p15"/>
              <p:cNvSpPr/>
              <p:nvPr/>
            </p:nvSpPr>
            <p:spPr>
              <a:xfrm rot="157512">
                <a:off x="3868779" y="3804714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10" y="20744"/>
                    </a:moveTo>
                    <a:lnTo>
                      <a:pt x="24982" y="6322"/>
                    </a:lnTo>
                    <a:lnTo>
                      <a:pt x="11977" y="1"/>
                    </a:lnTo>
                    <a:lnTo>
                      <a:pt x="1" y="8102"/>
                    </a:lnTo>
                    <a:lnTo>
                      <a:pt x="1030" y="22525"/>
                    </a:lnTo>
                    <a:lnTo>
                      <a:pt x="14034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Google Shape;638;p15"/>
              <p:cNvSpPr/>
              <p:nvPr/>
            </p:nvSpPr>
            <p:spPr>
              <a:xfrm rot="157512">
                <a:off x="4494689" y="3788860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1" y="8103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Google Shape;639;p15"/>
              <p:cNvSpPr/>
              <p:nvPr/>
            </p:nvSpPr>
            <p:spPr>
              <a:xfrm rot="157512">
                <a:off x="5120574" y="3773006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40" name="Google Shape;640;p15"/>
            <p:cNvSpPr/>
            <p:nvPr/>
          </p:nvSpPr>
          <p:spPr>
            <a:xfrm rot="157512">
              <a:off x="8124633" y="5115580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15"/>
            <p:cNvSpPr/>
            <p:nvPr/>
          </p:nvSpPr>
          <p:spPr>
            <a:xfrm rot="157512">
              <a:off x="6574005" y="5703526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15"/>
            <p:cNvSpPr/>
            <p:nvPr/>
          </p:nvSpPr>
          <p:spPr>
            <a:xfrm rot="157512">
              <a:off x="5957267" y="6080755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15"/>
            <p:cNvSpPr/>
            <p:nvPr/>
          </p:nvSpPr>
          <p:spPr>
            <a:xfrm rot="157512">
              <a:off x="5929801" y="4996682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4" name="Google Shape;644;p15"/>
          <p:cNvSpPr txBox="1">
            <a:spLocks noGrp="1"/>
          </p:cNvSpPr>
          <p:nvPr>
            <p:ph type="title"/>
          </p:nvPr>
        </p:nvSpPr>
        <p:spPr>
          <a:xfrm>
            <a:off x="720000" y="1354363"/>
            <a:ext cx="3594000" cy="163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645" name="Google Shape;645;p15"/>
          <p:cNvSpPr txBox="1">
            <a:spLocks noGrp="1"/>
          </p:cNvSpPr>
          <p:nvPr>
            <p:ph type="subTitle" idx="1"/>
          </p:nvPr>
        </p:nvSpPr>
        <p:spPr>
          <a:xfrm>
            <a:off x="720000" y="2986350"/>
            <a:ext cx="3594000" cy="96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6" name="Google Shape;646;p15"/>
          <p:cNvSpPr>
            <a:spLocks noGrp="1"/>
          </p:cNvSpPr>
          <p:nvPr>
            <p:ph type="pic" idx="2"/>
          </p:nvPr>
        </p:nvSpPr>
        <p:spPr>
          <a:xfrm>
            <a:off x="4627875" y="778125"/>
            <a:ext cx="3627900" cy="37629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l-G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1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649" name="Google Shape;649;p16"/>
          <p:cNvSpPr txBox="1">
            <a:spLocks noGrp="1"/>
          </p:cNvSpPr>
          <p:nvPr>
            <p:ph type="subTitle" idx="1"/>
          </p:nvPr>
        </p:nvSpPr>
        <p:spPr>
          <a:xfrm>
            <a:off x="720000" y="1448250"/>
            <a:ext cx="4466400" cy="23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naheim"/>
              <a:buChar char="◆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9pPr>
          </a:lstStyle>
          <a:p>
            <a:endParaRPr/>
          </a:p>
        </p:txBody>
      </p:sp>
      <p:grpSp>
        <p:nvGrpSpPr>
          <p:cNvPr id="650" name="Google Shape;650;p16"/>
          <p:cNvGrpSpPr/>
          <p:nvPr/>
        </p:nvGrpSpPr>
        <p:grpSpPr>
          <a:xfrm rot="10800000">
            <a:off x="5530217" y="3471726"/>
            <a:ext cx="3811962" cy="1913484"/>
            <a:chOff x="4673664" y="4413931"/>
            <a:chExt cx="3811962" cy="1913484"/>
          </a:xfrm>
        </p:grpSpPr>
        <p:grpSp>
          <p:nvGrpSpPr>
            <p:cNvPr id="651" name="Google Shape;651;p16"/>
            <p:cNvGrpSpPr/>
            <p:nvPr/>
          </p:nvGrpSpPr>
          <p:grpSpPr>
            <a:xfrm>
              <a:off x="4673664" y="4413931"/>
              <a:ext cx="3811962" cy="1913484"/>
              <a:chOff x="3825164" y="2626856"/>
              <a:chExt cx="3811962" cy="1913484"/>
            </a:xfrm>
          </p:grpSpPr>
          <p:sp>
            <p:nvSpPr>
              <p:cNvPr id="652" name="Google Shape;652;p16"/>
              <p:cNvSpPr/>
              <p:nvPr/>
            </p:nvSpPr>
            <p:spPr>
              <a:xfrm rot="157512">
                <a:off x="3841337" y="2720667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0" y="6321"/>
                    </a:lnTo>
                    <a:lnTo>
                      <a:pt x="11975" y="0"/>
                    </a:lnTo>
                    <a:lnTo>
                      <a:pt x="0" y="8102"/>
                    </a:lnTo>
                    <a:lnTo>
                      <a:pt x="1029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16"/>
              <p:cNvSpPr/>
              <p:nvPr/>
            </p:nvSpPr>
            <p:spPr>
              <a:xfrm rot="157512">
                <a:off x="4467198" y="2704787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10" y="20743"/>
                    </a:moveTo>
                    <a:lnTo>
                      <a:pt x="24982" y="6322"/>
                    </a:lnTo>
                    <a:lnTo>
                      <a:pt x="11977" y="1"/>
                    </a:lnTo>
                    <a:lnTo>
                      <a:pt x="1" y="8103"/>
                    </a:lnTo>
                    <a:lnTo>
                      <a:pt x="1030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16"/>
              <p:cNvSpPr/>
              <p:nvPr/>
            </p:nvSpPr>
            <p:spPr>
              <a:xfrm rot="157512">
                <a:off x="5093107" y="2688958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16"/>
              <p:cNvSpPr/>
              <p:nvPr/>
            </p:nvSpPr>
            <p:spPr>
              <a:xfrm rot="157512">
                <a:off x="5718992" y="2673103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4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16"/>
              <p:cNvSpPr/>
              <p:nvPr/>
            </p:nvSpPr>
            <p:spPr>
              <a:xfrm rot="157512">
                <a:off x="6344876" y="2657223"/>
                <a:ext cx="65016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6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5" y="1"/>
                    </a:lnTo>
                    <a:lnTo>
                      <a:pt x="0" y="8103"/>
                    </a:lnTo>
                    <a:lnTo>
                      <a:pt x="1028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16"/>
              <p:cNvSpPr/>
              <p:nvPr/>
            </p:nvSpPr>
            <p:spPr>
              <a:xfrm rot="157512">
                <a:off x="6970736" y="2641369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10" y="20743"/>
                    </a:moveTo>
                    <a:lnTo>
                      <a:pt x="24981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16"/>
              <p:cNvSpPr/>
              <p:nvPr/>
            </p:nvSpPr>
            <p:spPr>
              <a:xfrm rot="157512">
                <a:off x="4168001" y="3254751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09" y="20744"/>
                    </a:moveTo>
                    <a:lnTo>
                      <a:pt x="24980" y="6322"/>
                    </a:lnTo>
                    <a:lnTo>
                      <a:pt x="11977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4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16"/>
              <p:cNvSpPr/>
              <p:nvPr/>
            </p:nvSpPr>
            <p:spPr>
              <a:xfrm rot="157512">
                <a:off x="4793885" y="3238896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7" y="0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16"/>
              <p:cNvSpPr/>
              <p:nvPr/>
            </p:nvSpPr>
            <p:spPr>
              <a:xfrm rot="157512">
                <a:off x="5419770" y="3223067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9" y="20743"/>
                    </a:moveTo>
                    <a:lnTo>
                      <a:pt x="24981" y="6320"/>
                    </a:lnTo>
                    <a:lnTo>
                      <a:pt x="11976" y="0"/>
                    </a:lnTo>
                    <a:lnTo>
                      <a:pt x="1" y="8101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61;p16"/>
              <p:cNvSpPr/>
              <p:nvPr/>
            </p:nvSpPr>
            <p:spPr>
              <a:xfrm rot="157512">
                <a:off x="6045654" y="3207187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62;p16"/>
              <p:cNvSpPr/>
              <p:nvPr/>
            </p:nvSpPr>
            <p:spPr>
              <a:xfrm rot="157512">
                <a:off x="3868779" y="3804714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10" y="20744"/>
                    </a:moveTo>
                    <a:lnTo>
                      <a:pt x="24982" y="6322"/>
                    </a:lnTo>
                    <a:lnTo>
                      <a:pt x="11977" y="1"/>
                    </a:lnTo>
                    <a:lnTo>
                      <a:pt x="1" y="8102"/>
                    </a:lnTo>
                    <a:lnTo>
                      <a:pt x="1030" y="22525"/>
                    </a:lnTo>
                    <a:lnTo>
                      <a:pt x="14034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16"/>
              <p:cNvSpPr/>
              <p:nvPr/>
            </p:nvSpPr>
            <p:spPr>
              <a:xfrm rot="157512">
                <a:off x="4494689" y="3788860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1" y="8103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16"/>
              <p:cNvSpPr/>
              <p:nvPr/>
            </p:nvSpPr>
            <p:spPr>
              <a:xfrm rot="157512">
                <a:off x="5120574" y="3773006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65" name="Google Shape;665;p16"/>
            <p:cNvSpPr/>
            <p:nvPr/>
          </p:nvSpPr>
          <p:spPr>
            <a:xfrm rot="157512">
              <a:off x="8124633" y="5115580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16"/>
            <p:cNvSpPr/>
            <p:nvPr/>
          </p:nvSpPr>
          <p:spPr>
            <a:xfrm rot="157512">
              <a:off x="6574005" y="5703526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16"/>
            <p:cNvSpPr/>
            <p:nvPr/>
          </p:nvSpPr>
          <p:spPr>
            <a:xfrm rot="157512">
              <a:off x="5957267" y="6080755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16"/>
            <p:cNvSpPr/>
            <p:nvPr/>
          </p:nvSpPr>
          <p:spPr>
            <a:xfrm rot="157512">
              <a:off x="5929801" y="4996682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17"/>
          <p:cNvSpPr txBox="1">
            <a:spLocks noGrp="1"/>
          </p:cNvSpPr>
          <p:nvPr>
            <p:ph type="title"/>
          </p:nvPr>
        </p:nvSpPr>
        <p:spPr>
          <a:xfrm>
            <a:off x="5026800" y="1720586"/>
            <a:ext cx="3157500" cy="107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671" name="Google Shape;671;p17"/>
          <p:cNvSpPr txBox="1">
            <a:spLocks noGrp="1"/>
          </p:cNvSpPr>
          <p:nvPr>
            <p:ph type="subTitle" idx="1"/>
          </p:nvPr>
        </p:nvSpPr>
        <p:spPr>
          <a:xfrm>
            <a:off x="5027018" y="2799063"/>
            <a:ext cx="3157500" cy="108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72" name="Google Shape;672;p17"/>
          <p:cNvGrpSpPr/>
          <p:nvPr/>
        </p:nvGrpSpPr>
        <p:grpSpPr>
          <a:xfrm>
            <a:off x="-958305" y="3475515"/>
            <a:ext cx="1961773" cy="2399979"/>
            <a:chOff x="108580" y="3135490"/>
            <a:chExt cx="1961773" cy="2399979"/>
          </a:xfrm>
        </p:grpSpPr>
        <p:sp>
          <p:nvSpPr>
            <p:cNvPr id="673" name="Google Shape;673;p17"/>
            <p:cNvSpPr/>
            <p:nvPr/>
          </p:nvSpPr>
          <p:spPr>
            <a:xfrm rot="-157512" flipH="1">
              <a:off x="1392148" y="332954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17"/>
            <p:cNvSpPr/>
            <p:nvPr/>
          </p:nvSpPr>
          <p:spPr>
            <a:xfrm rot="-157512" flipH="1">
              <a:off x="1064998" y="386414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17"/>
            <p:cNvSpPr/>
            <p:nvPr/>
          </p:nvSpPr>
          <p:spPr>
            <a:xfrm rot="-157512" flipH="1">
              <a:off x="1364223" y="440671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17"/>
            <p:cNvSpPr/>
            <p:nvPr/>
          </p:nvSpPr>
          <p:spPr>
            <a:xfrm rot="-157512" flipH="1">
              <a:off x="119483" y="438279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77" name="Google Shape;677;p17"/>
            <p:cNvGrpSpPr/>
            <p:nvPr/>
          </p:nvGrpSpPr>
          <p:grpSpPr>
            <a:xfrm>
              <a:off x="108580" y="3135490"/>
              <a:ext cx="1961773" cy="2399979"/>
              <a:chOff x="108580" y="3135490"/>
              <a:chExt cx="1961773" cy="2399979"/>
            </a:xfrm>
          </p:grpSpPr>
          <p:sp>
            <p:nvSpPr>
              <p:cNvPr id="678" name="Google Shape;678;p17"/>
              <p:cNvSpPr/>
              <p:nvPr/>
            </p:nvSpPr>
            <p:spPr>
              <a:xfrm rot="-157512" flipH="1">
                <a:off x="1376547" y="4265784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5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Google Shape;679;p17"/>
              <p:cNvSpPr/>
              <p:nvPr/>
            </p:nvSpPr>
            <p:spPr>
              <a:xfrm rot="-157512" flipH="1">
                <a:off x="1077325" y="3715820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5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Google Shape;680;p17"/>
              <p:cNvSpPr/>
              <p:nvPr/>
            </p:nvSpPr>
            <p:spPr>
              <a:xfrm rot="-157512" flipH="1">
                <a:off x="1404013" y="3181711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Google Shape;681;p17"/>
              <p:cNvSpPr/>
              <p:nvPr/>
            </p:nvSpPr>
            <p:spPr>
              <a:xfrm rot="-157512" flipH="1">
                <a:off x="451466" y="3699965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Google Shape;682;p17"/>
              <p:cNvSpPr/>
              <p:nvPr/>
            </p:nvSpPr>
            <p:spPr>
              <a:xfrm rot="-157512" flipH="1">
                <a:off x="152244" y="3150001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Google Shape;683;p17"/>
              <p:cNvSpPr/>
              <p:nvPr/>
            </p:nvSpPr>
            <p:spPr>
              <a:xfrm rot="-157512" flipH="1">
                <a:off x="778129" y="3165856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Google Shape;684;p17"/>
              <p:cNvSpPr/>
              <p:nvPr/>
            </p:nvSpPr>
            <p:spPr>
              <a:xfrm rot="-157512" flipH="1">
                <a:off x="124753" y="4234050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Google Shape;685;p17"/>
              <p:cNvSpPr/>
              <p:nvPr/>
            </p:nvSpPr>
            <p:spPr>
              <a:xfrm rot="-157512" flipH="1">
                <a:off x="423974" y="4784014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9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Google Shape;686;p17"/>
              <p:cNvSpPr/>
              <p:nvPr/>
            </p:nvSpPr>
            <p:spPr>
              <a:xfrm rot="-157512" flipH="1">
                <a:off x="1049859" y="4799893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9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87" name="Google Shape;687;p17"/>
          <p:cNvGrpSpPr/>
          <p:nvPr/>
        </p:nvGrpSpPr>
        <p:grpSpPr>
          <a:xfrm>
            <a:off x="7250837" y="-355553"/>
            <a:ext cx="1934332" cy="1332011"/>
            <a:chOff x="7107962" y="-355553"/>
            <a:chExt cx="1934332" cy="1332011"/>
          </a:xfrm>
        </p:grpSpPr>
        <p:sp>
          <p:nvSpPr>
            <p:cNvPr id="688" name="Google Shape;688;p17"/>
            <p:cNvSpPr/>
            <p:nvPr/>
          </p:nvSpPr>
          <p:spPr>
            <a:xfrm rot="-157512" flipH="1">
              <a:off x="7124135" y="209124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17"/>
            <p:cNvSpPr/>
            <p:nvPr/>
          </p:nvSpPr>
          <p:spPr>
            <a:xfrm rot="-157512" flipH="1">
              <a:off x="7112323" y="35256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17"/>
            <p:cNvSpPr/>
            <p:nvPr/>
          </p:nvSpPr>
          <p:spPr>
            <a:xfrm rot="-157512" flipH="1">
              <a:off x="7729061" y="729798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17"/>
            <p:cNvSpPr/>
            <p:nvPr/>
          </p:nvSpPr>
          <p:spPr>
            <a:xfrm rot="-157512" flipH="1">
              <a:off x="7756527" y="-354275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17"/>
            <p:cNvSpPr/>
            <p:nvPr/>
          </p:nvSpPr>
          <p:spPr>
            <a:xfrm rot="-157512" flipH="1">
              <a:off x="8076682" y="-309131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09" y="20744"/>
                  </a:moveTo>
                  <a:lnTo>
                    <a:pt x="24980" y="6322"/>
                  </a:lnTo>
                  <a:lnTo>
                    <a:pt x="11977" y="1"/>
                  </a:lnTo>
                  <a:lnTo>
                    <a:pt x="0" y="8103"/>
                  </a:lnTo>
                  <a:lnTo>
                    <a:pt x="1029" y="22525"/>
                  </a:lnTo>
                  <a:lnTo>
                    <a:pt x="14034" y="28846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17"/>
            <p:cNvSpPr/>
            <p:nvPr/>
          </p:nvSpPr>
          <p:spPr>
            <a:xfrm rot="-157512" flipH="1">
              <a:off x="7450823" y="-324986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9" y="20743"/>
                  </a:moveTo>
                  <a:lnTo>
                    <a:pt x="24981" y="6321"/>
                  </a:lnTo>
                  <a:lnTo>
                    <a:pt x="11977" y="0"/>
                  </a:lnTo>
                  <a:lnTo>
                    <a:pt x="0" y="8103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17"/>
            <p:cNvSpPr/>
            <p:nvPr/>
          </p:nvSpPr>
          <p:spPr>
            <a:xfrm rot="-157512" flipH="1">
              <a:off x="8375904" y="240832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4"/>
                  </a:moveTo>
                  <a:lnTo>
                    <a:pt x="24982" y="6322"/>
                  </a:lnTo>
                  <a:lnTo>
                    <a:pt x="11977" y="1"/>
                  </a:lnTo>
                  <a:lnTo>
                    <a:pt x="1" y="8102"/>
                  </a:lnTo>
                  <a:lnTo>
                    <a:pt x="1030" y="22525"/>
                  </a:lnTo>
                  <a:lnTo>
                    <a:pt x="14034" y="28846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17"/>
            <p:cNvSpPr/>
            <p:nvPr/>
          </p:nvSpPr>
          <p:spPr>
            <a:xfrm rot="-157512" flipH="1">
              <a:off x="7750020" y="224978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3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12"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7" name="Google Shape;697;p18"/>
          <p:cNvGrpSpPr/>
          <p:nvPr/>
        </p:nvGrpSpPr>
        <p:grpSpPr>
          <a:xfrm flipH="1">
            <a:off x="7223396" y="3475515"/>
            <a:ext cx="1961773" cy="2399979"/>
            <a:chOff x="108580" y="3135490"/>
            <a:chExt cx="1961773" cy="2399979"/>
          </a:xfrm>
        </p:grpSpPr>
        <p:sp>
          <p:nvSpPr>
            <p:cNvPr id="698" name="Google Shape;698;p18"/>
            <p:cNvSpPr/>
            <p:nvPr/>
          </p:nvSpPr>
          <p:spPr>
            <a:xfrm rot="-157512" flipH="1">
              <a:off x="1392148" y="332954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8"/>
            <p:cNvSpPr/>
            <p:nvPr/>
          </p:nvSpPr>
          <p:spPr>
            <a:xfrm rot="-157512" flipH="1">
              <a:off x="1064998" y="386414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8"/>
            <p:cNvSpPr/>
            <p:nvPr/>
          </p:nvSpPr>
          <p:spPr>
            <a:xfrm rot="-157512" flipH="1">
              <a:off x="1364223" y="440671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18"/>
            <p:cNvSpPr/>
            <p:nvPr/>
          </p:nvSpPr>
          <p:spPr>
            <a:xfrm rot="-157512" flipH="1">
              <a:off x="119483" y="438279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02" name="Google Shape;702;p18"/>
            <p:cNvGrpSpPr/>
            <p:nvPr/>
          </p:nvGrpSpPr>
          <p:grpSpPr>
            <a:xfrm>
              <a:off x="108580" y="3135490"/>
              <a:ext cx="1961773" cy="2399979"/>
              <a:chOff x="108580" y="3135490"/>
              <a:chExt cx="1961773" cy="2399979"/>
            </a:xfrm>
          </p:grpSpPr>
          <p:sp>
            <p:nvSpPr>
              <p:cNvPr id="703" name="Google Shape;703;p18"/>
              <p:cNvSpPr/>
              <p:nvPr/>
            </p:nvSpPr>
            <p:spPr>
              <a:xfrm rot="-157512" flipH="1">
                <a:off x="1376547" y="4265784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5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Google Shape;704;p18"/>
              <p:cNvSpPr/>
              <p:nvPr/>
            </p:nvSpPr>
            <p:spPr>
              <a:xfrm rot="-157512" flipH="1">
                <a:off x="1077325" y="3715820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5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Google Shape;705;p18"/>
              <p:cNvSpPr/>
              <p:nvPr/>
            </p:nvSpPr>
            <p:spPr>
              <a:xfrm rot="-157512" flipH="1">
                <a:off x="1404013" y="3181711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706;p18"/>
              <p:cNvSpPr/>
              <p:nvPr/>
            </p:nvSpPr>
            <p:spPr>
              <a:xfrm rot="-157512" flipH="1">
                <a:off x="451466" y="3699965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Google Shape;707;p18"/>
              <p:cNvSpPr/>
              <p:nvPr/>
            </p:nvSpPr>
            <p:spPr>
              <a:xfrm rot="-157512" flipH="1">
                <a:off x="152244" y="3150001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Google Shape;708;p18"/>
              <p:cNvSpPr/>
              <p:nvPr/>
            </p:nvSpPr>
            <p:spPr>
              <a:xfrm rot="-157512" flipH="1">
                <a:off x="778129" y="3165856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Google Shape;709;p18"/>
              <p:cNvSpPr/>
              <p:nvPr/>
            </p:nvSpPr>
            <p:spPr>
              <a:xfrm rot="-157512" flipH="1">
                <a:off x="124753" y="4234050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Google Shape;710;p18"/>
              <p:cNvSpPr/>
              <p:nvPr/>
            </p:nvSpPr>
            <p:spPr>
              <a:xfrm rot="-157512" flipH="1">
                <a:off x="423974" y="4784014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9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Google Shape;711;p18"/>
              <p:cNvSpPr/>
              <p:nvPr/>
            </p:nvSpPr>
            <p:spPr>
              <a:xfrm rot="-157512" flipH="1">
                <a:off x="1049859" y="4799893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9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12" name="Google Shape;712;p18"/>
          <p:cNvGrpSpPr/>
          <p:nvPr/>
        </p:nvGrpSpPr>
        <p:grpSpPr>
          <a:xfrm flipH="1">
            <a:off x="-253943" y="-355553"/>
            <a:ext cx="1934332" cy="1332011"/>
            <a:chOff x="7107962" y="-355553"/>
            <a:chExt cx="1934332" cy="1332011"/>
          </a:xfrm>
        </p:grpSpPr>
        <p:sp>
          <p:nvSpPr>
            <p:cNvPr id="713" name="Google Shape;713;p18"/>
            <p:cNvSpPr/>
            <p:nvPr/>
          </p:nvSpPr>
          <p:spPr>
            <a:xfrm rot="-157512" flipH="1">
              <a:off x="7124135" y="209124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18"/>
            <p:cNvSpPr/>
            <p:nvPr/>
          </p:nvSpPr>
          <p:spPr>
            <a:xfrm rot="-157512" flipH="1">
              <a:off x="7112323" y="35256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18"/>
            <p:cNvSpPr/>
            <p:nvPr/>
          </p:nvSpPr>
          <p:spPr>
            <a:xfrm rot="-157512" flipH="1">
              <a:off x="7729061" y="729798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18"/>
            <p:cNvSpPr/>
            <p:nvPr/>
          </p:nvSpPr>
          <p:spPr>
            <a:xfrm rot="-157512" flipH="1">
              <a:off x="7756527" y="-354275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18"/>
            <p:cNvSpPr/>
            <p:nvPr/>
          </p:nvSpPr>
          <p:spPr>
            <a:xfrm rot="-157512" flipH="1">
              <a:off x="8076682" y="-309131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09" y="20744"/>
                  </a:moveTo>
                  <a:lnTo>
                    <a:pt x="24980" y="6322"/>
                  </a:lnTo>
                  <a:lnTo>
                    <a:pt x="11977" y="1"/>
                  </a:lnTo>
                  <a:lnTo>
                    <a:pt x="0" y="8103"/>
                  </a:lnTo>
                  <a:lnTo>
                    <a:pt x="1029" y="22525"/>
                  </a:lnTo>
                  <a:lnTo>
                    <a:pt x="14034" y="28846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18"/>
            <p:cNvSpPr/>
            <p:nvPr/>
          </p:nvSpPr>
          <p:spPr>
            <a:xfrm rot="-157512" flipH="1">
              <a:off x="7450823" y="-324986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9" y="20743"/>
                  </a:moveTo>
                  <a:lnTo>
                    <a:pt x="24981" y="6321"/>
                  </a:lnTo>
                  <a:lnTo>
                    <a:pt x="11977" y="0"/>
                  </a:lnTo>
                  <a:lnTo>
                    <a:pt x="0" y="8103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18"/>
            <p:cNvSpPr/>
            <p:nvPr/>
          </p:nvSpPr>
          <p:spPr>
            <a:xfrm rot="-157512" flipH="1">
              <a:off x="8375904" y="240832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4"/>
                  </a:moveTo>
                  <a:lnTo>
                    <a:pt x="24982" y="6322"/>
                  </a:lnTo>
                  <a:lnTo>
                    <a:pt x="11977" y="1"/>
                  </a:lnTo>
                  <a:lnTo>
                    <a:pt x="1" y="8102"/>
                  </a:lnTo>
                  <a:lnTo>
                    <a:pt x="1030" y="22525"/>
                  </a:lnTo>
                  <a:lnTo>
                    <a:pt x="14034" y="28846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18"/>
            <p:cNvSpPr/>
            <p:nvPr/>
          </p:nvSpPr>
          <p:spPr>
            <a:xfrm rot="-157512" flipH="1">
              <a:off x="7750020" y="224978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3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1" name="Google Shape;721;p18"/>
          <p:cNvSpPr txBox="1">
            <a:spLocks noGrp="1"/>
          </p:cNvSpPr>
          <p:nvPr>
            <p:ph type="title"/>
          </p:nvPr>
        </p:nvSpPr>
        <p:spPr>
          <a:xfrm>
            <a:off x="720000" y="1673500"/>
            <a:ext cx="4466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722" name="Google Shape;722;p18"/>
          <p:cNvSpPr txBox="1">
            <a:spLocks noGrp="1"/>
          </p:cNvSpPr>
          <p:nvPr>
            <p:ph type="subTitle" idx="1"/>
          </p:nvPr>
        </p:nvSpPr>
        <p:spPr>
          <a:xfrm>
            <a:off x="720000" y="2246200"/>
            <a:ext cx="4466400" cy="139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naheim"/>
              <a:buChar char="◆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13"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19"/>
          <p:cNvSpPr txBox="1">
            <a:spLocks noGrp="1"/>
          </p:cNvSpPr>
          <p:nvPr>
            <p:ph type="title"/>
          </p:nvPr>
        </p:nvSpPr>
        <p:spPr>
          <a:xfrm>
            <a:off x="5026800" y="2001148"/>
            <a:ext cx="3157500" cy="57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725" name="Google Shape;725;p19"/>
          <p:cNvSpPr txBox="1">
            <a:spLocks noGrp="1"/>
          </p:cNvSpPr>
          <p:nvPr>
            <p:ph type="subTitle" idx="1"/>
          </p:nvPr>
        </p:nvSpPr>
        <p:spPr>
          <a:xfrm>
            <a:off x="5027025" y="2577134"/>
            <a:ext cx="3157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26" name="Google Shape;726;p19"/>
          <p:cNvGrpSpPr/>
          <p:nvPr/>
        </p:nvGrpSpPr>
        <p:grpSpPr>
          <a:xfrm>
            <a:off x="6950792" y="-147006"/>
            <a:ext cx="2532725" cy="1881750"/>
            <a:chOff x="7221517" y="-507956"/>
            <a:chExt cx="2532725" cy="1881750"/>
          </a:xfrm>
        </p:grpSpPr>
        <p:sp>
          <p:nvSpPr>
            <p:cNvPr id="727" name="Google Shape;727;p19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19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19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19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19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19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19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19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19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19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7" name="Google Shape;737;p19"/>
          <p:cNvGrpSpPr/>
          <p:nvPr/>
        </p:nvGrpSpPr>
        <p:grpSpPr>
          <a:xfrm>
            <a:off x="6399342" y="3763244"/>
            <a:ext cx="2532725" cy="1881750"/>
            <a:chOff x="7221517" y="-507956"/>
            <a:chExt cx="2532725" cy="1881750"/>
          </a:xfrm>
        </p:grpSpPr>
        <p:sp>
          <p:nvSpPr>
            <p:cNvPr id="738" name="Google Shape;738;p19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19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19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19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19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19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19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19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19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19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20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750" name="Google Shape;750;p20"/>
          <p:cNvSpPr txBox="1">
            <a:spLocks noGrp="1"/>
          </p:cNvSpPr>
          <p:nvPr>
            <p:ph type="subTitle" idx="1"/>
          </p:nvPr>
        </p:nvSpPr>
        <p:spPr>
          <a:xfrm>
            <a:off x="4236935" y="3459222"/>
            <a:ext cx="25056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1" name="Google Shape;751;p20"/>
          <p:cNvSpPr txBox="1">
            <a:spLocks noGrp="1"/>
          </p:cNvSpPr>
          <p:nvPr>
            <p:ph type="subTitle" idx="2"/>
          </p:nvPr>
        </p:nvSpPr>
        <p:spPr>
          <a:xfrm>
            <a:off x="2401463" y="2055647"/>
            <a:ext cx="25056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2" name="Google Shape;752;p20"/>
          <p:cNvSpPr txBox="1">
            <a:spLocks noGrp="1"/>
          </p:cNvSpPr>
          <p:nvPr>
            <p:ph type="subTitle" idx="3"/>
          </p:nvPr>
        </p:nvSpPr>
        <p:spPr>
          <a:xfrm>
            <a:off x="2401463" y="1598450"/>
            <a:ext cx="2505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53" name="Google Shape;753;p20"/>
          <p:cNvSpPr txBox="1">
            <a:spLocks noGrp="1"/>
          </p:cNvSpPr>
          <p:nvPr>
            <p:ph type="subTitle" idx="4"/>
          </p:nvPr>
        </p:nvSpPr>
        <p:spPr>
          <a:xfrm>
            <a:off x="4236938" y="3002025"/>
            <a:ext cx="2505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754" name="Google Shape;754;p20"/>
          <p:cNvGrpSpPr/>
          <p:nvPr/>
        </p:nvGrpSpPr>
        <p:grpSpPr>
          <a:xfrm rot="-121718">
            <a:off x="7509504" y="-374087"/>
            <a:ext cx="1961826" cy="2400044"/>
            <a:chOff x="108580" y="3135490"/>
            <a:chExt cx="1961773" cy="2399979"/>
          </a:xfrm>
        </p:grpSpPr>
        <p:sp>
          <p:nvSpPr>
            <p:cNvPr id="755" name="Google Shape;755;p20"/>
            <p:cNvSpPr/>
            <p:nvPr/>
          </p:nvSpPr>
          <p:spPr>
            <a:xfrm rot="-157512" flipH="1">
              <a:off x="1392148" y="332954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20"/>
            <p:cNvSpPr/>
            <p:nvPr/>
          </p:nvSpPr>
          <p:spPr>
            <a:xfrm rot="-157512" flipH="1">
              <a:off x="1064998" y="386414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0"/>
            <p:cNvSpPr/>
            <p:nvPr/>
          </p:nvSpPr>
          <p:spPr>
            <a:xfrm rot="-157512" flipH="1">
              <a:off x="1364223" y="440671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0"/>
            <p:cNvSpPr/>
            <p:nvPr/>
          </p:nvSpPr>
          <p:spPr>
            <a:xfrm rot="-157512" flipH="1">
              <a:off x="119483" y="438279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59" name="Google Shape;759;p20"/>
            <p:cNvGrpSpPr/>
            <p:nvPr/>
          </p:nvGrpSpPr>
          <p:grpSpPr>
            <a:xfrm>
              <a:off x="108580" y="3135490"/>
              <a:ext cx="1961773" cy="2399979"/>
              <a:chOff x="108580" y="3135490"/>
              <a:chExt cx="1961773" cy="2399979"/>
            </a:xfrm>
          </p:grpSpPr>
          <p:sp>
            <p:nvSpPr>
              <p:cNvPr id="760" name="Google Shape;760;p20"/>
              <p:cNvSpPr/>
              <p:nvPr/>
            </p:nvSpPr>
            <p:spPr>
              <a:xfrm rot="-157512" flipH="1">
                <a:off x="1376547" y="4265784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5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20"/>
              <p:cNvSpPr/>
              <p:nvPr/>
            </p:nvSpPr>
            <p:spPr>
              <a:xfrm rot="-157512" flipH="1">
                <a:off x="1077325" y="3715820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5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20"/>
              <p:cNvSpPr/>
              <p:nvPr/>
            </p:nvSpPr>
            <p:spPr>
              <a:xfrm rot="-157512" flipH="1">
                <a:off x="1404013" y="3181711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Google Shape;763;p20"/>
              <p:cNvSpPr/>
              <p:nvPr/>
            </p:nvSpPr>
            <p:spPr>
              <a:xfrm rot="-157512" flipH="1">
                <a:off x="451466" y="3699965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Google Shape;764;p20"/>
              <p:cNvSpPr/>
              <p:nvPr/>
            </p:nvSpPr>
            <p:spPr>
              <a:xfrm rot="-157512" flipH="1">
                <a:off x="152244" y="3150001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20"/>
              <p:cNvSpPr/>
              <p:nvPr/>
            </p:nvSpPr>
            <p:spPr>
              <a:xfrm rot="-157512" flipH="1">
                <a:off x="778129" y="3165856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20"/>
              <p:cNvSpPr/>
              <p:nvPr/>
            </p:nvSpPr>
            <p:spPr>
              <a:xfrm rot="-157512" flipH="1">
                <a:off x="124753" y="4234050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20"/>
              <p:cNvSpPr/>
              <p:nvPr/>
            </p:nvSpPr>
            <p:spPr>
              <a:xfrm rot="-157512" flipH="1">
                <a:off x="423974" y="4784014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9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20"/>
              <p:cNvSpPr/>
              <p:nvPr/>
            </p:nvSpPr>
            <p:spPr>
              <a:xfrm rot="-157512" flipH="1">
                <a:off x="1049859" y="4799893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9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69" name="Google Shape;769;p20"/>
          <p:cNvGrpSpPr/>
          <p:nvPr/>
        </p:nvGrpSpPr>
        <p:grpSpPr>
          <a:xfrm rot="-121718">
            <a:off x="-186696" y="3321613"/>
            <a:ext cx="1961826" cy="2400044"/>
            <a:chOff x="108580" y="3135490"/>
            <a:chExt cx="1961773" cy="2399979"/>
          </a:xfrm>
        </p:grpSpPr>
        <p:sp>
          <p:nvSpPr>
            <p:cNvPr id="770" name="Google Shape;770;p20"/>
            <p:cNvSpPr/>
            <p:nvPr/>
          </p:nvSpPr>
          <p:spPr>
            <a:xfrm rot="-157512" flipH="1">
              <a:off x="1392148" y="332954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20"/>
            <p:cNvSpPr/>
            <p:nvPr/>
          </p:nvSpPr>
          <p:spPr>
            <a:xfrm rot="-157512" flipH="1">
              <a:off x="1064998" y="386414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20"/>
            <p:cNvSpPr/>
            <p:nvPr/>
          </p:nvSpPr>
          <p:spPr>
            <a:xfrm rot="-157512" flipH="1">
              <a:off x="1364223" y="440671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20"/>
            <p:cNvSpPr/>
            <p:nvPr/>
          </p:nvSpPr>
          <p:spPr>
            <a:xfrm rot="-157512" flipH="1">
              <a:off x="119483" y="4382794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74" name="Google Shape;774;p20"/>
            <p:cNvGrpSpPr/>
            <p:nvPr/>
          </p:nvGrpSpPr>
          <p:grpSpPr>
            <a:xfrm>
              <a:off x="108580" y="3135490"/>
              <a:ext cx="1961773" cy="2399979"/>
              <a:chOff x="108580" y="3135490"/>
              <a:chExt cx="1961773" cy="2399979"/>
            </a:xfrm>
          </p:grpSpPr>
          <p:sp>
            <p:nvSpPr>
              <p:cNvPr id="775" name="Google Shape;775;p20"/>
              <p:cNvSpPr/>
              <p:nvPr/>
            </p:nvSpPr>
            <p:spPr>
              <a:xfrm rot="-157512" flipH="1">
                <a:off x="1376547" y="4265784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5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Google Shape;776;p20"/>
              <p:cNvSpPr/>
              <p:nvPr/>
            </p:nvSpPr>
            <p:spPr>
              <a:xfrm rot="-157512" flipH="1">
                <a:off x="1077325" y="3715820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5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Google Shape;777;p20"/>
              <p:cNvSpPr/>
              <p:nvPr/>
            </p:nvSpPr>
            <p:spPr>
              <a:xfrm rot="-157512" flipH="1">
                <a:off x="1404013" y="3181711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4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Google Shape;778;p20"/>
              <p:cNvSpPr/>
              <p:nvPr/>
            </p:nvSpPr>
            <p:spPr>
              <a:xfrm rot="-157512" flipH="1">
                <a:off x="451466" y="3699965"/>
                <a:ext cx="650167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2"/>
                    </a:lnTo>
                    <a:lnTo>
                      <a:pt x="1028" y="22524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Google Shape;779;p20"/>
              <p:cNvSpPr/>
              <p:nvPr/>
            </p:nvSpPr>
            <p:spPr>
              <a:xfrm rot="-157512" flipH="1">
                <a:off x="152244" y="3150001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Google Shape;780;p20"/>
              <p:cNvSpPr/>
              <p:nvPr/>
            </p:nvSpPr>
            <p:spPr>
              <a:xfrm rot="-157512" flipH="1">
                <a:off x="778129" y="3165856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781;p20"/>
              <p:cNvSpPr/>
              <p:nvPr/>
            </p:nvSpPr>
            <p:spPr>
              <a:xfrm rot="-157512" flipH="1">
                <a:off x="124753" y="4234050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Google Shape;782;p20"/>
              <p:cNvSpPr/>
              <p:nvPr/>
            </p:nvSpPr>
            <p:spPr>
              <a:xfrm rot="-157512" flipH="1">
                <a:off x="423974" y="4784014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9" y="20743"/>
                    </a:moveTo>
                    <a:lnTo>
                      <a:pt x="24980" y="6322"/>
                    </a:lnTo>
                    <a:lnTo>
                      <a:pt x="11976" y="1"/>
                    </a:lnTo>
                    <a:lnTo>
                      <a:pt x="0" y="8102"/>
                    </a:lnTo>
                    <a:lnTo>
                      <a:pt x="1029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Google Shape;783;p20"/>
              <p:cNvSpPr/>
              <p:nvPr/>
            </p:nvSpPr>
            <p:spPr>
              <a:xfrm rot="-157512" flipH="1">
                <a:off x="1049859" y="4799893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9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noFill/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21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786" name="Google Shape;786;p21"/>
          <p:cNvSpPr txBox="1">
            <a:spLocks noGrp="1"/>
          </p:cNvSpPr>
          <p:nvPr>
            <p:ph type="subTitle" idx="1"/>
          </p:nvPr>
        </p:nvSpPr>
        <p:spPr>
          <a:xfrm>
            <a:off x="5046298" y="1571625"/>
            <a:ext cx="3383400" cy="280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◆"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87" name="Google Shape;787;p21"/>
          <p:cNvSpPr txBox="1">
            <a:spLocks noGrp="1"/>
          </p:cNvSpPr>
          <p:nvPr>
            <p:ph type="subTitle" idx="2"/>
          </p:nvPr>
        </p:nvSpPr>
        <p:spPr>
          <a:xfrm>
            <a:off x="714475" y="1571625"/>
            <a:ext cx="3383400" cy="280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◆"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788" name="Google Shape;788;p21"/>
          <p:cNvGrpSpPr/>
          <p:nvPr/>
        </p:nvGrpSpPr>
        <p:grpSpPr>
          <a:xfrm>
            <a:off x="7488217" y="-507956"/>
            <a:ext cx="2532725" cy="1881750"/>
            <a:chOff x="7221517" y="-507956"/>
            <a:chExt cx="2532725" cy="1881750"/>
          </a:xfrm>
        </p:grpSpPr>
        <p:sp>
          <p:nvSpPr>
            <p:cNvPr id="789" name="Google Shape;789;p21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21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21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21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21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21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21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21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21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21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9" name="Google Shape;799;p21"/>
          <p:cNvGrpSpPr/>
          <p:nvPr/>
        </p:nvGrpSpPr>
        <p:grpSpPr>
          <a:xfrm flipH="1">
            <a:off x="-969983" y="-507956"/>
            <a:ext cx="2532725" cy="1881750"/>
            <a:chOff x="7221517" y="-507956"/>
            <a:chExt cx="2532725" cy="1881750"/>
          </a:xfrm>
        </p:grpSpPr>
        <p:sp>
          <p:nvSpPr>
            <p:cNvPr id="800" name="Google Shape;800;p21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21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21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21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21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21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21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21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21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21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22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812" name="Google Shape;812;p22"/>
          <p:cNvSpPr txBox="1">
            <a:spLocks noGrp="1"/>
          </p:cNvSpPr>
          <p:nvPr>
            <p:ph type="subTitle" idx="1"/>
          </p:nvPr>
        </p:nvSpPr>
        <p:spPr>
          <a:xfrm>
            <a:off x="926987" y="3180750"/>
            <a:ext cx="2095200" cy="89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3" name="Google Shape;813;p22"/>
          <p:cNvSpPr txBox="1">
            <a:spLocks noGrp="1"/>
          </p:cNvSpPr>
          <p:nvPr>
            <p:ph type="subTitle" idx="2"/>
          </p:nvPr>
        </p:nvSpPr>
        <p:spPr>
          <a:xfrm>
            <a:off x="3524399" y="3180750"/>
            <a:ext cx="2095200" cy="89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4" name="Google Shape;814;p22"/>
          <p:cNvSpPr txBox="1">
            <a:spLocks noGrp="1"/>
          </p:cNvSpPr>
          <p:nvPr>
            <p:ph type="subTitle" idx="3"/>
          </p:nvPr>
        </p:nvSpPr>
        <p:spPr>
          <a:xfrm>
            <a:off x="6121811" y="3180750"/>
            <a:ext cx="2095200" cy="89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5" name="Google Shape;815;p22"/>
          <p:cNvSpPr txBox="1">
            <a:spLocks noGrp="1"/>
          </p:cNvSpPr>
          <p:nvPr>
            <p:ph type="subTitle" idx="4"/>
          </p:nvPr>
        </p:nvSpPr>
        <p:spPr>
          <a:xfrm>
            <a:off x="926987" y="2726175"/>
            <a:ext cx="2095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16" name="Google Shape;816;p22"/>
          <p:cNvSpPr txBox="1">
            <a:spLocks noGrp="1"/>
          </p:cNvSpPr>
          <p:nvPr>
            <p:ph type="subTitle" idx="5"/>
          </p:nvPr>
        </p:nvSpPr>
        <p:spPr>
          <a:xfrm>
            <a:off x="3524399" y="2726175"/>
            <a:ext cx="2095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17" name="Google Shape;817;p22"/>
          <p:cNvSpPr txBox="1">
            <a:spLocks noGrp="1"/>
          </p:cNvSpPr>
          <p:nvPr>
            <p:ph type="subTitle" idx="6"/>
          </p:nvPr>
        </p:nvSpPr>
        <p:spPr>
          <a:xfrm>
            <a:off x="6121811" y="2726175"/>
            <a:ext cx="2095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818" name="Google Shape;818;p22"/>
          <p:cNvGrpSpPr/>
          <p:nvPr/>
        </p:nvGrpSpPr>
        <p:grpSpPr>
          <a:xfrm>
            <a:off x="7221517" y="-507956"/>
            <a:ext cx="2532725" cy="1881750"/>
            <a:chOff x="7221517" y="-507956"/>
            <a:chExt cx="2532725" cy="1881750"/>
          </a:xfrm>
        </p:grpSpPr>
        <p:sp>
          <p:nvSpPr>
            <p:cNvPr id="819" name="Google Shape;819;p22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22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2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2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22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2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2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2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2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22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9" name="Google Shape;829;p22"/>
          <p:cNvGrpSpPr/>
          <p:nvPr/>
        </p:nvGrpSpPr>
        <p:grpSpPr>
          <a:xfrm flipH="1">
            <a:off x="-836633" y="-507956"/>
            <a:ext cx="2532725" cy="1881750"/>
            <a:chOff x="7221517" y="-507956"/>
            <a:chExt cx="2532725" cy="1881750"/>
          </a:xfrm>
        </p:grpSpPr>
        <p:sp>
          <p:nvSpPr>
            <p:cNvPr id="830" name="Google Shape;830;p22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22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2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2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22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22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22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22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22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22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2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842" name="Google Shape;842;p23"/>
          <p:cNvSpPr txBox="1">
            <a:spLocks noGrp="1"/>
          </p:cNvSpPr>
          <p:nvPr>
            <p:ph type="subTitle" idx="1"/>
          </p:nvPr>
        </p:nvSpPr>
        <p:spPr>
          <a:xfrm>
            <a:off x="1755325" y="2204775"/>
            <a:ext cx="25950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3" name="Google Shape;843;p23"/>
          <p:cNvSpPr txBox="1">
            <a:spLocks noGrp="1"/>
          </p:cNvSpPr>
          <p:nvPr>
            <p:ph type="subTitle" idx="2"/>
          </p:nvPr>
        </p:nvSpPr>
        <p:spPr>
          <a:xfrm>
            <a:off x="4793684" y="2204775"/>
            <a:ext cx="25950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4" name="Google Shape;844;p23"/>
          <p:cNvSpPr txBox="1">
            <a:spLocks noGrp="1"/>
          </p:cNvSpPr>
          <p:nvPr>
            <p:ph type="subTitle" idx="3"/>
          </p:nvPr>
        </p:nvSpPr>
        <p:spPr>
          <a:xfrm>
            <a:off x="1755325" y="3638175"/>
            <a:ext cx="25950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5" name="Google Shape;845;p23"/>
          <p:cNvSpPr txBox="1">
            <a:spLocks noGrp="1"/>
          </p:cNvSpPr>
          <p:nvPr>
            <p:ph type="subTitle" idx="4"/>
          </p:nvPr>
        </p:nvSpPr>
        <p:spPr>
          <a:xfrm>
            <a:off x="4793684" y="3638175"/>
            <a:ext cx="25950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6" name="Google Shape;846;p23"/>
          <p:cNvSpPr txBox="1">
            <a:spLocks noGrp="1"/>
          </p:cNvSpPr>
          <p:nvPr>
            <p:ph type="subTitle" idx="5"/>
          </p:nvPr>
        </p:nvSpPr>
        <p:spPr>
          <a:xfrm>
            <a:off x="1755325" y="1747575"/>
            <a:ext cx="25950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47" name="Google Shape;847;p23"/>
          <p:cNvSpPr txBox="1">
            <a:spLocks noGrp="1"/>
          </p:cNvSpPr>
          <p:nvPr>
            <p:ph type="subTitle" idx="6"/>
          </p:nvPr>
        </p:nvSpPr>
        <p:spPr>
          <a:xfrm>
            <a:off x="1755325" y="3180975"/>
            <a:ext cx="25950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48" name="Google Shape;848;p23"/>
          <p:cNvSpPr txBox="1">
            <a:spLocks noGrp="1"/>
          </p:cNvSpPr>
          <p:nvPr>
            <p:ph type="subTitle" idx="7"/>
          </p:nvPr>
        </p:nvSpPr>
        <p:spPr>
          <a:xfrm>
            <a:off x="4793680" y="1747575"/>
            <a:ext cx="25950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49" name="Google Shape;849;p23"/>
          <p:cNvSpPr txBox="1">
            <a:spLocks noGrp="1"/>
          </p:cNvSpPr>
          <p:nvPr>
            <p:ph type="subTitle" idx="8"/>
          </p:nvPr>
        </p:nvSpPr>
        <p:spPr>
          <a:xfrm>
            <a:off x="4793680" y="3180975"/>
            <a:ext cx="25950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850" name="Google Shape;850;p23"/>
          <p:cNvGrpSpPr/>
          <p:nvPr/>
        </p:nvGrpSpPr>
        <p:grpSpPr>
          <a:xfrm flipH="1">
            <a:off x="-884258" y="-507956"/>
            <a:ext cx="2532725" cy="1881750"/>
            <a:chOff x="7221517" y="-507956"/>
            <a:chExt cx="2532725" cy="1881750"/>
          </a:xfrm>
        </p:grpSpPr>
        <p:sp>
          <p:nvSpPr>
            <p:cNvPr id="851" name="Google Shape;851;p23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23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3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23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23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23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23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23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23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23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1" name="Google Shape;861;p23"/>
          <p:cNvGrpSpPr/>
          <p:nvPr/>
        </p:nvGrpSpPr>
        <p:grpSpPr>
          <a:xfrm flipH="1">
            <a:off x="7421542" y="4092619"/>
            <a:ext cx="2532725" cy="1881750"/>
            <a:chOff x="7221517" y="-507956"/>
            <a:chExt cx="2532725" cy="1881750"/>
          </a:xfrm>
        </p:grpSpPr>
        <p:sp>
          <p:nvSpPr>
            <p:cNvPr id="862" name="Google Shape;862;p23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23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23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23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23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23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23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23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23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23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3" name="Google Shape;873;p24"/>
          <p:cNvPicPr preferRelativeResize="0"/>
          <p:nvPr/>
        </p:nvPicPr>
        <p:blipFill rotWithShape="1">
          <a:blip r:embed="rId2">
            <a:alphaModFix/>
          </a:blip>
          <a:srcRect l="24332" t="5722" r="23343" b="4592"/>
          <a:stretch/>
        </p:blipFill>
        <p:spPr>
          <a:xfrm rot="2268302">
            <a:off x="7595262" y="-436051"/>
            <a:ext cx="1857374" cy="1790699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24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875" name="Google Shape;875;p24"/>
          <p:cNvSpPr txBox="1">
            <a:spLocks noGrp="1"/>
          </p:cNvSpPr>
          <p:nvPr>
            <p:ph type="subTitle" idx="1"/>
          </p:nvPr>
        </p:nvSpPr>
        <p:spPr>
          <a:xfrm>
            <a:off x="1110205" y="21931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6" name="Google Shape;876;p24"/>
          <p:cNvSpPr txBox="1">
            <a:spLocks noGrp="1"/>
          </p:cNvSpPr>
          <p:nvPr>
            <p:ph type="subTitle" idx="2"/>
          </p:nvPr>
        </p:nvSpPr>
        <p:spPr>
          <a:xfrm>
            <a:off x="3580050" y="21931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7" name="Google Shape;877;p24"/>
          <p:cNvSpPr txBox="1">
            <a:spLocks noGrp="1"/>
          </p:cNvSpPr>
          <p:nvPr>
            <p:ph type="subTitle" idx="3"/>
          </p:nvPr>
        </p:nvSpPr>
        <p:spPr>
          <a:xfrm>
            <a:off x="1110205" y="3702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8" name="Google Shape;878;p24"/>
          <p:cNvSpPr txBox="1">
            <a:spLocks noGrp="1"/>
          </p:cNvSpPr>
          <p:nvPr>
            <p:ph type="subTitle" idx="4"/>
          </p:nvPr>
        </p:nvSpPr>
        <p:spPr>
          <a:xfrm>
            <a:off x="3580050" y="3702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9" name="Google Shape;879;p24"/>
          <p:cNvSpPr txBox="1">
            <a:spLocks noGrp="1"/>
          </p:cNvSpPr>
          <p:nvPr>
            <p:ph type="subTitle" idx="5"/>
          </p:nvPr>
        </p:nvSpPr>
        <p:spPr>
          <a:xfrm>
            <a:off x="6049895" y="21931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0" name="Google Shape;880;p24"/>
          <p:cNvSpPr txBox="1">
            <a:spLocks noGrp="1"/>
          </p:cNvSpPr>
          <p:nvPr>
            <p:ph type="subTitle" idx="6"/>
          </p:nvPr>
        </p:nvSpPr>
        <p:spPr>
          <a:xfrm>
            <a:off x="6049895" y="3702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1" name="Google Shape;881;p24"/>
          <p:cNvSpPr txBox="1">
            <a:spLocks noGrp="1"/>
          </p:cNvSpPr>
          <p:nvPr>
            <p:ph type="subTitle" idx="7"/>
          </p:nvPr>
        </p:nvSpPr>
        <p:spPr>
          <a:xfrm>
            <a:off x="1111105" y="1735963"/>
            <a:ext cx="1984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82" name="Google Shape;882;p24"/>
          <p:cNvSpPr txBox="1">
            <a:spLocks noGrp="1"/>
          </p:cNvSpPr>
          <p:nvPr>
            <p:ph type="subTitle" idx="8"/>
          </p:nvPr>
        </p:nvSpPr>
        <p:spPr>
          <a:xfrm>
            <a:off x="3580950" y="1735963"/>
            <a:ext cx="1984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83" name="Google Shape;883;p24"/>
          <p:cNvSpPr txBox="1">
            <a:spLocks noGrp="1"/>
          </p:cNvSpPr>
          <p:nvPr>
            <p:ph type="subTitle" idx="9"/>
          </p:nvPr>
        </p:nvSpPr>
        <p:spPr>
          <a:xfrm>
            <a:off x="6050795" y="1735963"/>
            <a:ext cx="1984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84" name="Google Shape;884;p24"/>
          <p:cNvSpPr txBox="1">
            <a:spLocks noGrp="1"/>
          </p:cNvSpPr>
          <p:nvPr>
            <p:ph type="subTitle" idx="13"/>
          </p:nvPr>
        </p:nvSpPr>
        <p:spPr>
          <a:xfrm>
            <a:off x="1111105" y="3245575"/>
            <a:ext cx="1984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85" name="Google Shape;885;p24"/>
          <p:cNvSpPr txBox="1">
            <a:spLocks noGrp="1"/>
          </p:cNvSpPr>
          <p:nvPr>
            <p:ph type="subTitle" idx="14"/>
          </p:nvPr>
        </p:nvSpPr>
        <p:spPr>
          <a:xfrm>
            <a:off x="3580950" y="3245575"/>
            <a:ext cx="1984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86" name="Google Shape;886;p24"/>
          <p:cNvSpPr txBox="1">
            <a:spLocks noGrp="1"/>
          </p:cNvSpPr>
          <p:nvPr>
            <p:ph type="subTitle" idx="15"/>
          </p:nvPr>
        </p:nvSpPr>
        <p:spPr>
          <a:xfrm>
            <a:off x="6050795" y="3245575"/>
            <a:ext cx="1984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887" name="Google Shape;887;p24"/>
          <p:cNvGrpSpPr/>
          <p:nvPr/>
        </p:nvGrpSpPr>
        <p:grpSpPr>
          <a:xfrm flipH="1">
            <a:off x="-884258" y="-507956"/>
            <a:ext cx="2532725" cy="1881750"/>
            <a:chOff x="7221517" y="-507956"/>
            <a:chExt cx="2532725" cy="1881750"/>
          </a:xfrm>
        </p:grpSpPr>
        <p:sp>
          <p:nvSpPr>
            <p:cNvPr id="888" name="Google Shape;888;p24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24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24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24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24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24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24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24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24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24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8" name="Google Shape;898;p24"/>
          <p:cNvGrpSpPr/>
          <p:nvPr/>
        </p:nvGrpSpPr>
        <p:grpSpPr>
          <a:xfrm flipH="1">
            <a:off x="7421542" y="4092619"/>
            <a:ext cx="2532725" cy="1881750"/>
            <a:chOff x="7221517" y="-507956"/>
            <a:chExt cx="2532725" cy="1881750"/>
          </a:xfrm>
        </p:grpSpPr>
        <p:sp>
          <p:nvSpPr>
            <p:cNvPr id="899" name="Google Shape;899;p24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24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24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24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24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24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24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24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24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24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25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grpSp>
        <p:nvGrpSpPr>
          <p:cNvPr id="911" name="Google Shape;911;p25"/>
          <p:cNvGrpSpPr/>
          <p:nvPr/>
        </p:nvGrpSpPr>
        <p:grpSpPr>
          <a:xfrm>
            <a:off x="7488217" y="-507956"/>
            <a:ext cx="2532725" cy="1881750"/>
            <a:chOff x="7221517" y="-507956"/>
            <a:chExt cx="2532725" cy="1881750"/>
          </a:xfrm>
        </p:grpSpPr>
        <p:sp>
          <p:nvSpPr>
            <p:cNvPr id="912" name="Google Shape;912;p25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25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25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25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25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25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25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25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25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25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1"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26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grpSp>
        <p:nvGrpSpPr>
          <p:cNvPr id="924" name="Google Shape;924;p26"/>
          <p:cNvGrpSpPr/>
          <p:nvPr/>
        </p:nvGrpSpPr>
        <p:grpSpPr>
          <a:xfrm rot="10800000">
            <a:off x="7221517" y="-1342256"/>
            <a:ext cx="2532725" cy="1881750"/>
            <a:chOff x="7221517" y="-507956"/>
            <a:chExt cx="2532725" cy="1881750"/>
          </a:xfrm>
        </p:grpSpPr>
        <p:sp>
          <p:nvSpPr>
            <p:cNvPr id="925" name="Google Shape;925;p26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26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26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26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26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26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26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26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26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26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5" name="Google Shape;935;p26"/>
          <p:cNvGrpSpPr/>
          <p:nvPr/>
        </p:nvGrpSpPr>
        <p:grpSpPr>
          <a:xfrm rot="10800000" flipH="1">
            <a:off x="-465158" y="-1342256"/>
            <a:ext cx="2532725" cy="1881750"/>
            <a:chOff x="7221517" y="-507956"/>
            <a:chExt cx="2532725" cy="1881750"/>
          </a:xfrm>
        </p:grpSpPr>
        <p:sp>
          <p:nvSpPr>
            <p:cNvPr id="936" name="Google Shape;936;p26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26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26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26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26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26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26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26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26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26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27"/>
          <p:cNvSpPr txBox="1">
            <a:spLocks noGrp="1"/>
          </p:cNvSpPr>
          <p:nvPr>
            <p:ph type="title" hasCustomPrompt="1"/>
          </p:nvPr>
        </p:nvSpPr>
        <p:spPr>
          <a:xfrm>
            <a:off x="713213" y="670225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48" name="Google Shape;948;p27"/>
          <p:cNvSpPr txBox="1">
            <a:spLocks noGrp="1"/>
          </p:cNvSpPr>
          <p:nvPr>
            <p:ph type="subTitle" idx="1"/>
          </p:nvPr>
        </p:nvSpPr>
        <p:spPr>
          <a:xfrm>
            <a:off x="713213" y="1439127"/>
            <a:ext cx="4696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5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949" name="Google Shape;949;p27"/>
          <p:cNvSpPr txBox="1">
            <a:spLocks noGrp="1"/>
          </p:cNvSpPr>
          <p:nvPr>
            <p:ph type="title" idx="2" hasCustomPrompt="1"/>
          </p:nvPr>
        </p:nvSpPr>
        <p:spPr>
          <a:xfrm>
            <a:off x="3733963" y="2069800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50" name="Google Shape;950;p27"/>
          <p:cNvSpPr txBox="1">
            <a:spLocks noGrp="1"/>
          </p:cNvSpPr>
          <p:nvPr>
            <p:ph type="subTitle" idx="3"/>
          </p:nvPr>
        </p:nvSpPr>
        <p:spPr>
          <a:xfrm>
            <a:off x="3733963" y="2838708"/>
            <a:ext cx="4696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5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951" name="Google Shape;951;p27"/>
          <p:cNvSpPr txBox="1">
            <a:spLocks noGrp="1"/>
          </p:cNvSpPr>
          <p:nvPr>
            <p:ph type="title" idx="4" hasCustomPrompt="1"/>
          </p:nvPr>
        </p:nvSpPr>
        <p:spPr>
          <a:xfrm>
            <a:off x="713213" y="3469375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52" name="Google Shape;952;p27"/>
          <p:cNvSpPr txBox="1">
            <a:spLocks noGrp="1"/>
          </p:cNvSpPr>
          <p:nvPr>
            <p:ph type="subTitle" idx="5"/>
          </p:nvPr>
        </p:nvSpPr>
        <p:spPr>
          <a:xfrm>
            <a:off x="713213" y="4238290"/>
            <a:ext cx="4696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5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grpSp>
        <p:nvGrpSpPr>
          <p:cNvPr id="953" name="Google Shape;953;p27"/>
          <p:cNvGrpSpPr/>
          <p:nvPr/>
        </p:nvGrpSpPr>
        <p:grpSpPr>
          <a:xfrm rot="10800000">
            <a:off x="6611267" y="3525019"/>
            <a:ext cx="2532725" cy="1881750"/>
            <a:chOff x="7221517" y="-507956"/>
            <a:chExt cx="2532725" cy="1881750"/>
          </a:xfrm>
        </p:grpSpPr>
        <p:sp>
          <p:nvSpPr>
            <p:cNvPr id="954" name="Google Shape;954;p27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27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27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27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27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27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27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27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27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27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4" name="Google Shape;964;p27"/>
          <p:cNvGrpSpPr/>
          <p:nvPr/>
        </p:nvGrpSpPr>
        <p:grpSpPr>
          <a:xfrm>
            <a:off x="7078642" y="-256406"/>
            <a:ext cx="2532725" cy="1881750"/>
            <a:chOff x="7221517" y="-507956"/>
            <a:chExt cx="2532725" cy="1881750"/>
          </a:xfrm>
        </p:grpSpPr>
        <p:sp>
          <p:nvSpPr>
            <p:cNvPr id="965" name="Google Shape;965;p27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27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27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27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27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27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27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27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27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27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8_1">
    <p:spTree>
      <p:nvGrpSpPr>
        <p:cNvPr id="1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28"/>
          <p:cNvSpPr txBox="1">
            <a:spLocks noGrp="1"/>
          </p:cNvSpPr>
          <p:nvPr>
            <p:ph type="title" hasCustomPrompt="1"/>
          </p:nvPr>
        </p:nvSpPr>
        <p:spPr>
          <a:xfrm>
            <a:off x="1200575" y="2456174"/>
            <a:ext cx="13989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77" name="Google Shape;977;p28"/>
          <p:cNvSpPr txBox="1">
            <a:spLocks noGrp="1"/>
          </p:cNvSpPr>
          <p:nvPr>
            <p:ph type="subTitle" idx="1"/>
          </p:nvPr>
        </p:nvSpPr>
        <p:spPr>
          <a:xfrm>
            <a:off x="713225" y="3812476"/>
            <a:ext cx="2373600" cy="6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978" name="Google Shape;978;p28"/>
          <p:cNvSpPr txBox="1">
            <a:spLocks noGrp="1"/>
          </p:cNvSpPr>
          <p:nvPr>
            <p:ph type="subTitle" idx="2"/>
          </p:nvPr>
        </p:nvSpPr>
        <p:spPr>
          <a:xfrm>
            <a:off x="713225" y="3411134"/>
            <a:ext cx="2373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79" name="Google Shape;979;p28"/>
          <p:cNvSpPr txBox="1">
            <a:spLocks noGrp="1"/>
          </p:cNvSpPr>
          <p:nvPr>
            <p:ph type="title" idx="3" hasCustomPrompt="1"/>
          </p:nvPr>
        </p:nvSpPr>
        <p:spPr>
          <a:xfrm>
            <a:off x="3869735" y="2456174"/>
            <a:ext cx="13977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0" name="Google Shape;980;p28"/>
          <p:cNvSpPr txBox="1">
            <a:spLocks noGrp="1"/>
          </p:cNvSpPr>
          <p:nvPr>
            <p:ph type="subTitle" idx="4"/>
          </p:nvPr>
        </p:nvSpPr>
        <p:spPr>
          <a:xfrm>
            <a:off x="3381787" y="3812476"/>
            <a:ext cx="2373600" cy="6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981" name="Google Shape;981;p28"/>
          <p:cNvSpPr txBox="1">
            <a:spLocks noGrp="1"/>
          </p:cNvSpPr>
          <p:nvPr>
            <p:ph type="subTitle" idx="5"/>
          </p:nvPr>
        </p:nvSpPr>
        <p:spPr>
          <a:xfrm>
            <a:off x="3381785" y="3411134"/>
            <a:ext cx="2373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82" name="Google Shape;982;p28"/>
          <p:cNvSpPr txBox="1">
            <a:spLocks noGrp="1"/>
          </p:cNvSpPr>
          <p:nvPr>
            <p:ph type="title" idx="6" hasCustomPrompt="1"/>
          </p:nvPr>
        </p:nvSpPr>
        <p:spPr>
          <a:xfrm>
            <a:off x="6538296" y="2456174"/>
            <a:ext cx="13977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3" name="Google Shape;983;p28"/>
          <p:cNvSpPr txBox="1">
            <a:spLocks noGrp="1"/>
          </p:cNvSpPr>
          <p:nvPr>
            <p:ph type="subTitle" idx="7"/>
          </p:nvPr>
        </p:nvSpPr>
        <p:spPr>
          <a:xfrm>
            <a:off x="6050349" y="3812476"/>
            <a:ext cx="2373600" cy="6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984" name="Google Shape;984;p28"/>
          <p:cNvSpPr txBox="1">
            <a:spLocks noGrp="1"/>
          </p:cNvSpPr>
          <p:nvPr>
            <p:ph type="subTitle" idx="8"/>
          </p:nvPr>
        </p:nvSpPr>
        <p:spPr>
          <a:xfrm>
            <a:off x="6050346" y="3411134"/>
            <a:ext cx="2373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85" name="Google Shape;985;p28"/>
          <p:cNvSpPr txBox="1">
            <a:spLocks noGrp="1"/>
          </p:cNvSpPr>
          <p:nvPr>
            <p:ph type="title" idx="9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grpSp>
        <p:nvGrpSpPr>
          <p:cNvPr id="986" name="Google Shape;986;p28"/>
          <p:cNvGrpSpPr/>
          <p:nvPr/>
        </p:nvGrpSpPr>
        <p:grpSpPr>
          <a:xfrm rot="-10638711">
            <a:off x="-2374723" y="-345865"/>
            <a:ext cx="3485299" cy="1363521"/>
            <a:chOff x="5000328" y="4413931"/>
            <a:chExt cx="3485298" cy="1363521"/>
          </a:xfrm>
        </p:grpSpPr>
        <p:grpSp>
          <p:nvGrpSpPr>
            <p:cNvPr id="987" name="Google Shape;987;p28"/>
            <p:cNvGrpSpPr/>
            <p:nvPr/>
          </p:nvGrpSpPr>
          <p:grpSpPr>
            <a:xfrm>
              <a:off x="5000328" y="4413931"/>
              <a:ext cx="3485298" cy="1363521"/>
              <a:chOff x="4151828" y="2626856"/>
              <a:chExt cx="3485298" cy="1363521"/>
            </a:xfrm>
          </p:grpSpPr>
          <p:sp>
            <p:nvSpPr>
              <p:cNvPr id="988" name="Google Shape;988;p28"/>
              <p:cNvSpPr/>
              <p:nvPr/>
            </p:nvSpPr>
            <p:spPr>
              <a:xfrm rot="157512">
                <a:off x="4467198" y="2704787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10" y="20743"/>
                    </a:moveTo>
                    <a:lnTo>
                      <a:pt x="24982" y="6322"/>
                    </a:lnTo>
                    <a:lnTo>
                      <a:pt x="11977" y="1"/>
                    </a:lnTo>
                    <a:lnTo>
                      <a:pt x="1" y="8103"/>
                    </a:lnTo>
                    <a:lnTo>
                      <a:pt x="1030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solidFill>
                <a:schemeClr val="dk2"/>
              </a:solidFill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Google Shape;989;p28"/>
              <p:cNvSpPr/>
              <p:nvPr/>
            </p:nvSpPr>
            <p:spPr>
              <a:xfrm rot="157512">
                <a:off x="5093107" y="2688958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solidFill>
                <a:schemeClr val="dk2"/>
              </a:solidFill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Google Shape;990;p28"/>
              <p:cNvSpPr/>
              <p:nvPr/>
            </p:nvSpPr>
            <p:spPr>
              <a:xfrm rot="157512">
                <a:off x="5718992" y="2673103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4"/>
                    </a:lnTo>
                    <a:lnTo>
                      <a:pt x="14033" y="28844"/>
                    </a:lnTo>
                    <a:close/>
                  </a:path>
                </a:pathLst>
              </a:custGeom>
              <a:solidFill>
                <a:schemeClr val="dk2"/>
              </a:solidFill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Google Shape;991;p28"/>
              <p:cNvSpPr/>
              <p:nvPr/>
            </p:nvSpPr>
            <p:spPr>
              <a:xfrm rot="157512">
                <a:off x="6344876" y="2657223"/>
                <a:ext cx="65016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6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5" y="1"/>
                    </a:lnTo>
                    <a:lnTo>
                      <a:pt x="0" y="8103"/>
                    </a:lnTo>
                    <a:lnTo>
                      <a:pt x="1028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solidFill>
                <a:schemeClr val="dk2"/>
              </a:solidFill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Google Shape;992;p28"/>
              <p:cNvSpPr/>
              <p:nvPr/>
            </p:nvSpPr>
            <p:spPr>
              <a:xfrm rot="157512">
                <a:off x="6970736" y="2641369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10" y="20743"/>
                    </a:moveTo>
                    <a:lnTo>
                      <a:pt x="24981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solidFill>
                <a:schemeClr val="dk2"/>
              </a:solidFill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28"/>
              <p:cNvSpPr/>
              <p:nvPr/>
            </p:nvSpPr>
            <p:spPr>
              <a:xfrm rot="157512">
                <a:off x="4168001" y="3254751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09" y="20744"/>
                    </a:moveTo>
                    <a:lnTo>
                      <a:pt x="24980" y="6322"/>
                    </a:lnTo>
                    <a:lnTo>
                      <a:pt x="11977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4" y="28846"/>
                    </a:lnTo>
                    <a:close/>
                  </a:path>
                </a:pathLst>
              </a:custGeom>
              <a:solidFill>
                <a:schemeClr val="dk2"/>
              </a:solidFill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994;p28"/>
              <p:cNvSpPr/>
              <p:nvPr/>
            </p:nvSpPr>
            <p:spPr>
              <a:xfrm rot="157512">
                <a:off x="4793885" y="3238896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7" y="0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solidFill>
                <a:schemeClr val="dk2"/>
              </a:solidFill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Google Shape;995;p28"/>
              <p:cNvSpPr/>
              <p:nvPr/>
            </p:nvSpPr>
            <p:spPr>
              <a:xfrm rot="157512">
                <a:off x="5419770" y="3223067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9" y="20743"/>
                    </a:moveTo>
                    <a:lnTo>
                      <a:pt x="24981" y="6320"/>
                    </a:lnTo>
                    <a:lnTo>
                      <a:pt x="11976" y="0"/>
                    </a:lnTo>
                    <a:lnTo>
                      <a:pt x="1" y="8101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solidFill>
                <a:schemeClr val="dk2"/>
              </a:solidFill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28"/>
              <p:cNvSpPr/>
              <p:nvPr/>
            </p:nvSpPr>
            <p:spPr>
              <a:xfrm rot="157512">
                <a:off x="6045654" y="3207187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solidFill>
                <a:schemeClr val="dk2"/>
              </a:solidFill>
              <a:ln w="7725" cap="flat" cmpd="sng">
                <a:solidFill>
                  <a:schemeClr val="dk2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97" name="Google Shape;997;p28"/>
            <p:cNvSpPr/>
            <p:nvPr/>
          </p:nvSpPr>
          <p:spPr>
            <a:xfrm rot="157512">
              <a:off x="8124633" y="5115580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28"/>
            <p:cNvSpPr/>
            <p:nvPr/>
          </p:nvSpPr>
          <p:spPr>
            <a:xfrm rot="157512">
              <a:off x="6574005" y="5703526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28"/>
            <p:cNvSpPr/>
            <p:nvPr/>
          </p:nvSpPr>
          <p:spPr>
            <a:xfrm rot="157512">
              <a:off x="5929801" y="4996682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29"/>
          <p:cNvSpPr txBox="1">
            <a:spLocks noGrp="1"/>
          </p:cNvSpPr>
          <p:nvPr>
            <p:ph type="title"/>
          </p:nvPr>
        </p:nvSpPr>
        <p:spPr>
          <a:xfrm>
            <a:off x="2347938" y="7878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65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002" name="Google Shape;1002;p29"/>
          <p:cNvSpPr txBox="1">
            <a:spLocks noGrp="1"/>
          </p:cNvSpPr>
          <p:nvPr>
            <p:ph type="subTitle" idx="1"/>
          </p:nvPr>
        </p:nvSpPr>
        <p:spPr>
          <a:xfrm>
            <a:off x="2347900" y="18465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3" name="Google Shape;1003;p29"/>
          <p:cNvSpPr txBox="1"/>
          <p:nvPr/>
        </p:nvSpPr>
        <p:spPr>
          <a:xfrm>
            <a:off x="1691450" y="3611950"/>
            <a:ext cx="57609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CREDITS: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and includes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and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2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004" name="Google Shape;1004;p29"/>
          <p:cNvGrpSpPr/>
          <p:nvPr/>
        </p:nvGrpSpPr>
        <p:grpSpPr>
          <a:xfrm>
            <a:off x="7372789" y="1086026"/>
            <a:ext cx="5036265" cy="4113315"/>
            <a:chOff x="4780389" y="2513201"/>
            <a:chExt cx="5036265" cy="4113315"/>
          </a:xfrm>
        </p:grpSpPr>
        <p:grpSp>
          <p:nvGrpSpPr>
            <p:cNvPr id="1005" name="Google Shape;1005;p29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006" name="Google Shape;1006;p29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07" name="Google Shape;1007;p29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008" name="Google Shape;1008;p29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009" name="Google Shape;1009;p29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0" name="Google Shape;1010;p29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1" name="Google Shape;1011;p29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2" name="Google Shape;1012;p29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3" name="Google Shape;1013;p29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4" name="Google Shape;1014;p29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5" name="Google Shape;1015;p29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6" name="Google Shape;1016;p29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7" name="Google Shape;1017;p29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8" name="Google Shape;1018;p29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19" name="Google Shape;1019;p29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0" name="Google Shape;1020;p29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1" name="Google Shape;1021;p29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2" name="Google Shape;1022;p29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3" name="Google Shape;1023;p29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4" name="Google Shape;1024;p29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5" name="Google Shape;1025;p29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6" name="Google Shape;1026;p29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7" name="Google Shape;1027;p29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8" name="Google Shape;1028;p29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29" name="Google Shape;1029;p29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30" name="Google Shape;1030;p29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31" name="Google Shape;1031;p29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32" name="Google Shape;1032;p29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33" name="Google Shape;1033;p29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34" name="Google Shape;1034;p29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35" name="Google Shape;1035;p29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36" name="Google Shape;1036;p29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037" name="Google Shape;1037;p29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8" name="Google Shape;1038;p29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9" name="Google Shape;1039;p29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0" name="Google Shape;1040;p29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1" name="Google Shape;1041;p29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2" name="Google Shape;1042;p29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3" name="Google Shape;1043;p29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4" name="Google Shape;1044;p29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045" name="Google Shape;1045;p29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29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29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8" name="Google Shape;1048;p29"/>
          <p:cNvGrpSpPr/>
          <p:nvPr/>
        </p:nvGrpSpPr>
        <p:grpSpPr>
          <a:xfrm>
            <a:off x="-2544736" y="-950637"/>
            <a:ext cx="5036265" cy="4113315"/>
            <a:chOff x="4780389" y="2513201"/>
            <a:chExt cx="5036265" cy="4113315"/>
          </a:xfrm>
        </p:grpSpPr>
        <p:grpSp>
          <p:nvGrpSpPr>
            <p:cNvPr id="1049" name="Google Shape;1049;p29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050" name="Google Shape;1050;p29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51" name="Google Shape;1051;p29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052" name="Google Shape;1052;p29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053" name="Google Shape;1053;p29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54" name="Google Shape;1054;p29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55" name="Google Shape;1055;p29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56" name="Google Shape;1056;p29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57" name="Google Shape;1057;p29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58" name="Google Shape;1058;p29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59" name="Google Shape;1059;p29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0" name="Google Shape;1060;p29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1" name="Google Shape;1061;p29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2" name="Google Shape;1062;p29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3" name="Google Shape;1063;p29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4" name="Google Shape;1064;p29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5" name="Google Shape;1065;p29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6" name="Google Shape;1066;p29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7" name="Google Shape;1067;p29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8" name="Google Shape;1068;p29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9" name="Google Shape;1069;p29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0" name="Google Shape;1070;p29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1" name="Google Shape;1071;p29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2" name="Google Shape;1072;p29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3" name="Google Shape;1073;p29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4" name="Google Shape;1074;p29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5" name="Google Shape;1075;p29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6" name="Google Shape;1076;p29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7" name="Google Shape;1077;p29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8" name="Google Shape;1078;p29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9" name="Google Shape;1079;p29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80" name="Google Shape;1080;p29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081" name="Google Shape;1081;p29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2" name="Google Shape;1082;p29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3" name="Google Shape;1083;p29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4" name="Google Shape;1084;p29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5" name="Google Shape;1085;p29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6" name="Google Shape;1086;p29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7" name="Google Shape;1087;p29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8" name="Google Shape;1088;p29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089" name="Google Shape;1089;p29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29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29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3" name="Google Shape;1093;p30"/>
          <p:cNvPicPr preferRelativeResize="0"/>
          <p:nvPr/>
        </p:nvPicPr>
        <p:blipFill rotWithShape="1">
          <a:blip r:embed="rId2">
            <a:alphaModFix/>
          </a:blip>
          <a:srcRect l="24332" t="5722" r="23343" b="4592"/>
          <a:stretch/>
        </p:blipFill>
        <p:spPr>
          <a:xfrm rot="2268302">
            <a:off x="7595262" y="-436051"/>
            <a:ext cx="1857374" cy="17906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94" name="Google Shape;1094;p30"/>
          <p:cNvGrpSpPr/>
          <p:nvPr/>
        </p:nvGrpSpPr>
        <p:grpSpPr>
          <a:xfrm flipH="1">
            <a:off x="-884258" y="-507956"/>
            <a:ext cx="2532725" cy="1881750"/>
            <a:chOff x="7221517" y="-507956"/>
            <a:chExt cx="2532725" cy="1881750"/>
          </a:xfrm>
        </p:grpSpPr>
        <p:sp>
          <p:nvSpPr>
            <p:cNvPr id="1095" name="Google Shape;1095;p30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30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30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30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30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30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30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30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30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30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05" name="Google Shape;1105;p30"/>
          <p:cNvGrpSpPr/>
          <p:nvPr/>
        </p:nvGrpSpPr>
        <p:grpSpPr>
          <a:xfrm flipH="1">
            <a:off x="7421542" y="4092619"/>
            <a:ext cx="2532725" cy="1881750"/>
            <a:chOff x="7221517" y="-507956"/>
            <a:chExt cx="2532725" cy="1881750"/>
          </a:xfrm>
        </p:grpSpPr>
        <p:sp>
          <p:nvSpPr>
            <p:cNvPr id="1106" name="Google Shape;1106;p30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30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30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30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30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30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30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30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30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30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6" name="Google Shape;1116;p30"/>
          <p:cNvGrpSpPr/>
          <p:nvPr/>
        </p:nvGrpSpPr>
        <p:grpSpPr>
          <a:xfrm>
            <a:off x="1531525" y="4798375"/>
            <a:ext cx="76825" cy="76800"/>
            <a:chOff x="3104875" y="1099400"/>
            <a:chExt cx="76825" cy="76800"/>
          </a:xfrm>
        </p:grpSpPr>
        <p:sp>
          <p:nvSpPr>
            <p:cNvPr id="1117" name="Google Shape;1117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9" name="Google Shape;1119;p30"/>
          <p:cNvGrpSpPr/>
          <p:nvPr/>
        </p:nvGrpSpPr>
        <p:grpSpPr>
          <a:xfrm>
            <a:off x="8745875" y="2533350"/>
            <a:ext cx="76825" cy="76800"/>
            <a:chOff x="3104875" y="1099400"/>
            <a:chExt cx="76825" cy="76800"/>
          </a:xfrm>
        </p:grpSpPr>
        <p:sp>
          <p:nvSpPr>
            <p:cNvPr id="1120" name="Google Shape;1120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2" name="Google Shape;1122;p30"/>
          <p:cNvGrpSpPr/>
          <p:nvPr/>
        </p:nvGrpSpPr>
        <p:grpSpPr>
          <a:xfrm>
            <a:off x="3576600" y="215950"/>
            <a:ext cx="76825" cy="76800"/>
            <a:chOff x="3104875" y="1099400"/>
            <a:chExt cx="76825" cy="76800"/>
          </a:xfrm>
        </p:grpSpPr>
        <p:sp>
          <p:nvSpPr>
            <p:cNvPr id="1123" name="Google Shape;1123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30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25" name="Google Shape;1125;p30"/>
          <p:cNvPicPr preferRelativeResize="0"/>
          <p:nvPr/>
        </p:nvPicPr>
        <p:blipFill rotWithShape="1">
          <a:blip r:embed="rId3">
            <a:alphaModFix/>
          </a:blip>
          <a:srcRect l="15237" r="10475"/>
          <a:stretch/>
        </p:blipFill>
        <p:spPr>
          <a:xfrm>
            <a:off x="7421549" y="539509"/>
            <a:ext cx="1552574" cy="1390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7" name="Google Shape;1127;p31"/>
          <p:cNvGrpSpPr/>
          <p:nvPr/>
        </p:nvGrpSpPr>
        <p:grpSpPr>
          <a:xfrm>
            <a:off x="4780389" y="2513201"/>
            <a:ext cx="5036265" cy="4113315"/>
            <a:chOff x="4780389" y="2513201"/>
            <a:chExt cx="5036265" cy="4113315"/>
          </a:xfrm>
        </p:grpSpPr>
        <p:grpSp>
          <p:nvGrpSpPr>
            <p:cNvPr id="1128" name="Google Shape;1128;p31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129" name="Google Shape;1129;p31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30" name="Google Shape;1130;p31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131" name="Google Shape;1131;p31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132" name="Google Shape;1132;p31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3" name="Google Shape;1133;p31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4" name="Google Shape;1134;p31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5" name="Google Shape;1135;p31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6" name="Google Shape;1136;p31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7" name="Google Shape;1137;p31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8" name="Google Shape;1138;p31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9" name="Google Shape;1139;p31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0" name="Google Shape;1140;p31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1" name="Google Shape;1141;p31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2" name="Google Shape;1142;p31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3" name="Google Shape;1143;p31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4" name="Google Shape;1144;p31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5" name="Google Shape;1145;p31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6" name="Google Shape;1146;p31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7" name="Google Shape;1147;p31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8" name="Google Shape;1148;p31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9" name="Google Shape;1149;p31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0" name="Google Shape;1150;p31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1" name="Google Shape;1151;p31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2" name="Google Shape;1152;p31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3" name="Google Shape;1153;p31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4" name="Google Shape;1154;p31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5" name="Google Shape;1155;p31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6" name="Google Shape;1156;p31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7" name="Google Shape;1157;p31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8" name="Google Shape;1158;p31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9" name="Google Shape;1159;p31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160" name="Google Shape;1160;p31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1" name="Google Shape;1161;p31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2" name="Google Shape;1162;p31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3" name="Google Shape;1163;p31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4" name="Google Shape;1164;p31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5" name="Google Shape;1165;p31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6" name="Google Shape;1166;p31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7" name="Google Shape;1167;p31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168" name="Google Shape;1168;p31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31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31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1" name="Google Shape;1171;p31"/>
          <p:cNvGrpSpPr/>
          <p:nvPr/>
        </p:nvGrpSpPr>
        <p:grpSpPr>
          <a:xfrm>
            <a:off x="-3382536" y="-1517162"/>
            <a:ext cx="5036265" cy="4113315"/>
            <a:chOff x="4780389" y="2513201"/>
            <a:chExt cx="5036265" cy="4113315"/>
          </a:xfrm>
        </p:grpSpPr>
        <p:grpSp>
          <p:nvGrpSpPr>
            <p:cNvPr id="1172" name="Google Shape;1172;p31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173" name="Google Shape;1173;p31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74" name="Google Shape;1174;p31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175" name="Google Shape;1175;p31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176" name="Google Shape;1176;p31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7" name="Google Shape;1177;p31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8" name="Google Shape;1178;p31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9" name="Google Shape;1179;p31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0" name="Google Shape;1180;p31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1" name="Google Shape;1181;p31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2" name="Google Shape;1182;p31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3" name="Google Shape;1183;p31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4" name="Google Shape;1184;p31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5" name="Google Shape;1185;p31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6" name="Google Shape;1186;p31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7" name="Google Shape;1187;p31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8" name="Google Shape;1188;p31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9" name="Google Shape;1189;p31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0" name="Google Shape;1190;p31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1" name="Google Shape;1191;p31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2" name="Google Shape;1192;p31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3" name="Google Shape;1193;p31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4" name="Google Shape;1194;p31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5" name="Google Shape;1195;p31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6" name="Google Shape;1196;p31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7" name="Google Shape;1197;p31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8" name="Google Shape;1198;p31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9" name="Google Shape;1199;p31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0" name="Google Shape;1200;p31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1" name="Google Shape;1201;p31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2" name="Google Shape;1202;p31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3" name="Google Shape;1203;p31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204" name="Google Shape;1204;p31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5" name="Google Shape;1205;p31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6" name="Google Shape;1206;p31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7" name="Google Shape;1207;p31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8" name="Google Shape;1208;p31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9" name="Google Shape;1209;p31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10" name="Google Shape;1210;p31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11" name="Google Shape;1211;p31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212" name="Google Shape;1212;p31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31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31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5" name="Google Shape;1215;p31"/>
          <p:cNvGrpSpPr/>
          <p:nvPr/>
        </p:nvGrpSpPr>
        <p:grpSpPr>
          <a:xfrm>
            <a:off x="274225" y="2188525"/>
            <a:ext cx="76825" cy="76800"/>
            <a:chOff x="3104875" y="1099400"/>
            <a:chExt cx="76825" cy="76800"/>
          </a:xfrm>
        </p:grpSpPr>
        <p:sp>
          <p:nvSpPr>
            <p:cNvPr id="1216" name="Google Shape;1216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8" name="Google Shape;1218;p31"/>
          <p:cNvGrpSpPr/>
          <p:nvPr/>
        </p:nvGrpSpPr>
        <p:grpSpPr>
          <a:xfrm>
            <a:off x="3783350" y="4781250"/>
            <a:ext cx="76825" cy="76800"/>
            <a:chOff x="3104875" y="1099400"/>
            <a:chExt cx="76825" cy="76800"/>
          </a:xfrm>
        </p:grpSpPr>
        <p:sp>
          <p:nvSpPr>
            <p:cNvPr id="1219" name="Google Shape;1219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1" name="Google Shape;1221;p31"/>
          <p:cNvGrpSpPr/>
          <p:nvPr/>
        </p:nvGrpSpPr>
        <p:grpSpPr>
          <a:xfrm>
            <a:off x="7034175" y="263575"/>
            <a:ext cx="76825" cy="76800"/>
            <a:chOff x="3104875" y="1099400"/>
            <a:chExt cx="76825" cy="76800"/>
          </a:xfrm>
        </p:grpSpPr>
        <p:sp>
          <p:nvSpPr>
            <p:cNvPr id="1222" name="Google Shape;1222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3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224" name="Google Shape;1224;p31"/>
          <p:cNvPicPr preferRelativeResize="0"/>
          <p:nvPr/>
        </p:nvPicPr>
        <p:blipFill rotWithShape="1">
          <a:blip r:embed="rId2">
            <a:alphaModFix/>
          </a:blip>
          <a:srcRect l="24332" t="5722" r="23343" b="4592"/>
          <a:stretch/>
        </p:blipFill>
        <p:spPr>
          <a:xfrm rot="2268302">
            <a:off x="204037" y="2189887"/>
            <a:ext cx="1857374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5" name="Google Shape;1225;p31"/>
          <p:cNvPicPr preferRelativeResize="0"/>
          <p:nvPr/>
        </p:nvPicPr>
        <p:blipFill rotWithShape="1">
          <a:blip r:embed="rId3">
            <a:alphaModFix/>
          </a:blip>
          <a:srcRect l="18647" t="7960" r="8852" b="8337"/>
          <a:stretch/>
        </p:blipFill>
        <p:spPr>
          <a:xfrm rot="-1406513">
            <a:off x="899285" y="427425"/>
            <a:ext cx="1175233" cy="7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6" name="Google Shape;1226;p31"/>
          <p:cNvPicPr preferRelativeResize="0"/>
          <p:nvPr/>
        </p:nvPicPr>
        <p:blipFill rotWithShape="1">
          <a:blip r:embed="rId4">
            <a:alphaModFix/>
          </a:blip>
          <a:srcRect l="25538" t="7152" r="23468" b="5838"/>
          <a:stretch/>
        </p:blipFill>
        <p:spPr>
          <a:xfrm>
            <a:off x="6925599" y="755225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7" name="Google Shape;1227;p31"/>
          <p:cNvPicPr preferRelativeResize="0"/>
          <p:nvPr/>
        </p:nvPicPr>
        <p:blipFill rotWithShape="1">
          <a:blip r:embed="rId5">
            <a:alphaModFix/>
          </a:blip>
          <a:srcRect l="15237" r="10475"/>
          <a:stretch/>
        </p:blipFill>
        <p:spPr>
          <a:xfrm rot="1220421">
            <a:off x="6684874" y="2035009"/>
            <a:ext cx="1552575" cy="1390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8" name="Google Shape;1228;p31"/>
          <p:cNvPicPr preferRelativeResize="0"/>
          <p:nvPr/>
        </p:nvPicPr>
        <p:blipFill rotWithShape="1">
          <a:blip r:embed="rId6">
            <a:alphaModFix/>
          </a:blip>
          <a:srcRect l="22010" r="18456"/>
          <a:stretch/>
        </p:blipFill>
        <p:spPr>
          <a:xfrm rot="-1592621">
            <a:off x="1473480" y="2658333"/>
            <a:ext cx="903663" cy="853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">
    <p:spTree>
      <p:nvGrpSpPr>
        <p:cNvPr id="1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p34"/>
          <p:cNvSpPr txBox="1">
            <a:spLocks noGrp="1"/>
          </p:cNvSpPr>
          <p:nvPr>
            <p:ph type="title"/>
          </p:nvPr>
        </p:nvSpPr>
        <p:spPr>
          <a:xfrm>
            <a:off x="716775" y="510900"/>
            <a:ext cx="77106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 Black"/>
              <a:buNone/>
              <a:defRPr sz="32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◆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p32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231" name="Google Shape;1231;p32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9" name="Google Shape;1239;p35"/>
          <p:cNvPicPr preferRelativeResize="0"/>
          <p:nvPr/>
        </p:nvPicPr>
        <p:blipFill rotWithShape="1">
          <a:blip r:embed="rId3">
            <a:alphaModFix/>
          </a:blip>
          <a:srcRect l="25538" t="7152" r="23468" b="5838"/>
          <a:stretch/>
        </p:blipFill>
        <p:spPr>
          <a:xfrm>
            <a:off x="5198299" y="70850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0" name="Google Shape;1240;p35"/>
          <p:cNvPicPr preferRelativeResize="0"/>
          <p:nvPr/>
        </p:nvPicPr>
        <p:blipFill rotWithShape="1">
          <a:blip r:embed="rId4">
            <a:alphaModFix/>
          </a:blip>
          <a:srcRect l="22010" r="18456"/>
          <a:stretch/>
        </p:blipFill>
        <p:spPr>
          <a:xfrm rot="-1020085">
            <a:off x="7029503" y="3396240"/>
            <a:ext cx="1187445" cy="11219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1" name="Google Shape;1241;p35"/>
          <p:cNvGrpSpPr/>
          <p:nvPr/>
        </p:nvGrpSpPr>
        <p:grpSpPr>
          <a:xfrm>
            <a:off x="7905475" y="1913575"/>
            <a:ext cx="76825" cy="76800"/>
            <a:chOff x="3104875" y="1099400"/>
            <a:chExt cx="76825" cy="76800"/>
          </a:xfrm>
        </p:grpSpPr>
        <p:sp>
          <p:nvSpPr>
            <p:cNvPr id="1242" name="Google Shape;1242;p3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3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4" name="Google Shape;1244;p35"/>
          <p:cNvGrpSpPr/>
          <p:nvPr/>
        </p:nvGrpSpPr>
        <p:grpSpPr>
          <a:xfrm>
            <a:off x="5419450" y="3918800"/>
            <a:ext cx="76825" cy="76800"/>
            <a:chOff x="3104875" y="1099400"/>
            <a:chExt cx="76825" cy="76800"/>
          </a:xfrm>
        </p:grpSpPr>
        <p:sp>
          <p:nvSpPr>
            <p:cNvPr id="1245" name="Google Shape;1245;p3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3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7" name="Google Shape;1247;p35"/>
          <p:cNvGrpSpPr/>
          <p:nvPr/>
        </p:nvGrpSpPr>
        <p:grpSpPr>
          <a:xfrm>
            <a:off x="4400275" y="699350"/>
            <a:ext cx="76825" cy="76800"/>
            <a:chOff x="3104875" y="1099400"/>
            <a:chExt cx="76825" cy="76800"/>
          </a:xfrm>
        </p:grpSpPr>
        <p:sp>
          <p:nvSpPr>
            <p:cNvPr id="1248" name="Google Shape;1248;p3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3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250" name="Google Shape;1250;p35"/>
          <p:cNvPicPr preferRelativeResize="0"/>
          <p:nvPr/>
        </p:nvPicPr>
        <p:blipFill rotWithShape="1">
          <a:blip r:embed="rId5">
            <a:alphaModFix/>
          </a:blip>
          <a:srcRect l="18647" t="7960" r="8852" b="8337"/>
          <a:stretch/>
        </p:blipFill>
        <p:spPr>
          <a:xfrm rot="-1152297">
            <a:off x="6577050" y="457137"/>
            <a:ext cx="1647827" cy="1070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1" name="Google Shape;1251;p35"/>
          <p:cNvSpPr txBox="1">
            <a:spLocks noGrp="1"/>
          </p:cNvSpPr>
          <p:nvPr>
            <p:ph type="ctrTitle"/>
          </p:nvPr>
        </p:nvSpPr>
        <p:spPr>
          <a:xfrm>
            <a:off x="713225" y="1256688"/>
            <a:ext cx="7033800" cy="219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latin typeface="Montserrat Black"/>
                <a:ea typeface="Montserrat Black"/>
                <a:cs typeface="Montserrat Black"/>
                <a:sym typeface="Montserrat Black"/>
              </a:rPr>
              <a:t>Pulse AI - ValveGuard</a:t>
            </a:r>
            <a:endParaRPr sz="4400" dirty="0">
              <a:solidFill>
                <a:schemeClr val="dk2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Montserrat"/>
                <a:ea typeface="Montserrat"/>
                <a:cs typeface="Montserrat"/>
                <a:sym typeface="Montserrat"/>
              </a:rPr>
              <a:t>Dynamic Surveillance for Bioprosthetic Valve Durability</a:t>
            </a:r>
            <a:endParaRPr sz="28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2" name="Google Shape;1252;p35"/>
          <p:cNvSpPr txBox="1">
            <a:spLocks noGrp="1"/>
          </p:cNvSpPr>
          <p:nvPr>
            <p:ph type="subTitle" idx="1"/>
          </p:nvPr>
        </p:nvSpPr>
        <p:spPr>
          <a:xfrm>
            <a:off x="713224" y="3521113"/>
            <a:ext cx="5966544" cy="4044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Athanasiou-Paraskevopoulou Maria – Medical Student</a:t>
            </a:r>
          </a:p>
          <a:p>
            <a:pPr marL="0" indent="0"/>
            <a:r>
              <a:rPr lang="en" sz="1200" dirty="0" err="1"/>
              <a:t>Chatzipapas</a:t>
            </a:r>
            <a:r>
              <a:rPr lang="en" sz="1200" dirty="0"/>
              <a:t> Konstantinos – Electrical and Computer Engineering Student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Myaris Stylianos – Informatics Student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sz="1200" dirty="0"/>
          </a:p>
          <a:p>
            <a:pPr marL="0" indent="0"/>
            <a:r>
              <a:rPr lang="en" sz="1200" dirty="0"/>
              <a:t>September 2026 – </a:t>
            </a:r>
            <a:r>
              <a:rPr lang="en" sz="1200" dirty="0" err="1"/>
              <a:t>Dyania</a:t>
            </a:r>
            <a:r>
              <a:rPr lang="en" sz="1200" dirty="0"/>
              <a:t> Health Hackathon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p44"/>
          <p:cNvSpPr txBox="1">
            <a:spLocks noGrp="1"/>
          </p:cNvSpPr>
          <p:nvPr>
            <p:ph type="title"/>
          </p:nvPr>
        </p:nvSpPr>
        <p:spPr>
          <a:xfrm>
            <a:off x="681587" y="38658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Clinical Problem</a:t>
            </a:r>
            <a:endParaRPr dirty="0"/>
          </a:p>
        </p:txBody>
      </p:sp>
      <p:sp>
        <p:nvSpPr>
          <p:cNvPr id="1527" name="Google Shape;1527;p44"/>
          <p:cNvSpPr txBox="1">
            <a:spLocks noGrp="1"/>
          </p:cNvSpPr>
          <p:nvPr>
            <p:ph type="subTitle" idx="7"/>
          </p:nvPr>
        </p:nvSpPr>
        <p:spPr>
          <a:xfrm>
            <a:off x="231210" y="2943743"/>
            <a:ext cx="25950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The SAVR vs TAVR Uncertainty</a:t>
            </a:r>
            <a:endParaRPr sz="1600" dirty="0"/>
          </a:p>
        </p:txBody>
      </p:sp>
      <p:sp>
        <p:nvSpPr>
          <p:cNvPr id="1529" name="Google Shape;1529;p44"/>
          <p:cNvSpPr txBox="1">
            <a:spLocks noGrp="1"/>
          </p:cNvSpPr>
          <p:nvPr>
            <p:ph type="subTitle" idx="5"/>
          </p:nvPr>
        </p:nvSpPr>
        <p:spPr>
          <a:xfrm>
            <a:off x="-286453" y="1239696"/>
            <a:ext cx="3630325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What is SVD and why durability matters:</a:t>
            </a:r>
            <a:endParaRPr sz="1600" dirty="0"/>
          </a:p>
        </p:txBody>
      </p:sp>
      <p:sp>
        <p:nvSpPr>
          <p:cNvPr id="1530" name="Google Shape;1530;p44"/>
          <p:cNvSpPr txBox="1">
            <a:spLocks noGrp="1"/>
          </p:cNvSpPr>
          <p:nvPr>
            <p:ph type="subTitle" idx="1"/>
          </p:nvPr>
        </p:nvSpPr>
        <p:spPr>
          <a:xfrm>
            <a:off x="215582" y="1577195"/>
            <a:ext cx="25950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/>
              <a:t>Bioprosthetic valves wear out over time.</a:t>
            </a:r>
            <a:endParaRPr lang="en-US" sz="1300" dirty="0">
              <a:sym typeface="Wingdings" panose="05000000000000000000" pitchFamily="2" charset="2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ym typeface="Wingdings" panose="05000000000000000000" pitchFamily="2" charset="2"/>
              </a:rPr>
              <a:t>The shift: patients receiving are younger than ever &amp; outlive their </a:t>
            </a:r>
            <a:r>
              <a:rPr lang="en-US" sz="1300" dirty="0" err="1">
                <a:sym typeface="Wingdings" panose="05000000000000000000" pitchFamily="2" charset="2"/>
              </a:rPr>
              <a:t>bioprostheses</a:t>
            </a:r>
            <a:r>
              <a:rPr lang="en-US" sz="1300" dirty="0">
                <a:sym typeface="Wingdings" panose="05000000000000000000" pitchFamily="2" charset="2"/>
              </a:rPr>
              <a:t>.</a:t>
            </a:r>
            <a:endParaRPr dirty="0"/>
          </a:p>
        </p:txBody>
      </p:sp>
      <p:sp>
        <p:nvSpPr>
          <p:cNvPr id="1531" name="Google Shape;1531;p44"/>
          <p:cNvSpPr txBox="1">
            <a:spLocks noGrp="1"/>
          </p:cNvSpPr>
          <p:nvPr>
            <p:ph type="subTitle" idx="2"/>
          </p:nvPr>
        </p:nvSpPr>
        <p:spPr>
          <a:xfrm>
            <a:off x="170256" y="3229076"/>
            <a:ext cx="2839162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/>
              <a:t>SAVR (Surgical): Durability documented over decades.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/>
              <a:t>TAVR (Transcatheter): Unique procedural wear-and-tear, medchanical stress.</a:t>
            </a:r>
          </a:p>
          <a:p>
            <a:pPr marL="0" indent="0"/>
            <a:r>
              <a:rPr lang="en" sz="1300" dirty="0">
                <a:solidFill>
                  <a:srgbClr val="FFFFFF"/>
                </a:solidFill>
              </a:rPr>
              <a:t>TAVR moves into younger patients </a:t>
            </a:r>
            <a:r>
              <a:rPr lang="en" sz="1300" b="1" dirty="0">
                <a:solidFill>
                  <a:srgbClr val="FFFFFF"/>
                </a:solidFill>
              </a:rPr>
              <a:t>faster than the evidence.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" sz="13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32" name="Google Shape;1532;p44"/>
          <p:cNvSpPr txBox="1">
            <a:spLocks noGrp="1"/>
          </p:cNvSpPr>
          <p:nvPr>
            <p:ph type="subTitle" idx="3"/>
          </p:nvPr>
        </p:nvSpPr>
        <p:spPr>
          <a:xfrm>
            <a:off x="6338397" y="1611344"/>
            <a:ext cx="25950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/>
              <a:t>Valve decay is silent until it is severe </a:t>
            </a:r>
            <a:r>
              <a:rPr lang="en-US" sz="1300" dirty="0">
                <a:sym typeface="Wingdings" panose="05000000000000000000" pitchFamily="2" charset="2"/>
              </a:rPr>
              <a:t> standard annual follow-ups are too rigid.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300" dirty="0">
              <a:sym typeface="Wingdings" panose="05000000000000000000" pitchFamily="2" charset="2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ym typeface="Wingdings" panose="05000000000000000000" pitchFamily="2" charset="2"/>
              </a:rPr>
              <a:t>Patients are often diagnosed 1 to 2 years too late – presenting to the ER with shortness of breath.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300" dirty="0">
              <a:sym typeface="Wingdings" panose="05000000000000000000" pitchFamily="2" charset="2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ym typeface="Wingdings" panose="05000000000000000000" pitchFamily="2" charset="2"/>
              </a:rPr>
              <a:t>The stakes: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/>
              <a:t>Caught early: &lt;3% mortality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/>
              <a:t>Caught late: - Emergency Fix: &gt;8-10% mortality</a:t>
            </a:r>
          </a:p>
        </p:txBody>
      </p:sp>
      <p:sp>
        <p:nvSpPr>
          <p:cNvPr id="1534" name="Google Shape;1534;p44"/>
          <p:cNvSpPr txBox="1">
            <a:spLocks noGrp="1"/>
          </p:cNvSpPr>
          <p:nvPr>
            <p:ph type="subTitle" idx="8"/>
          </p:nvPr>
        </p:nvSpPr>
        <p:spPr>
          <a:xfrm>
            <a:off x="6284838" y="1231527"/>
            <a:ext cx="25950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The Surveillance Gap</a:t>
            </a:r>
            <a:endParaRPr sz="1600" dirty="0"/>
          </a:p>
        </p:txBody>
      </p:sp>
      <p:grpSp>
        <p:nvGrpSpPr>
          <p:cNvPr id="1535" name="Google Shape;1535;p44"/>
          <p:cNvGrpSpPr/>
          <p:nvPr/>
        </p:nvGrpSpPr>
        <p:grpSpPr>
          <a:xfrm>
            <a:off x="681587" y="1035400"/>
            <a:ext cx="76825" cy="76800"/>
            <a:chOff x="3104875" y="1099400"/>
            <a:chExt cx="76825" cy="76800"/>
          </a:xfrm>
        </p:grpSpPr>
        <p:sp>
          <p:nvSpPr>
            <p:cNvPr id="1536" name="Google Shape;1536;p44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37" name="Google Shape;1537;p44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38" name="Google Shape;1538;p44"/>
          <p:cNvGrpSpPr/>
          <p:nvPr/>
        </p:nvGrpSpPr>
        <p:grpSpPr>
          <a:xfrm>
            <a:off x="988056" y="4178571"/>
            <a:ext cx="76825" cy="76800"/>
            <a:chOff x="3104875" y="1099400"/>
            <a:chExt cx="76825" cy="76800"/>
          </a:xfrm>
        </p:grpSpPr>
        <p:sp>
          <p:nvSpPr>
            <p:cNvPr id="1539" name="Google Shape;1539;p44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44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41" name="Google Shape;1541;p44"/>
          <p:cNvGrpSpPr/>
          <p:nvPr/>
        </p:nvGrpSpPr>
        <p:grpSpPr>
          <a:xfrm>
            <a:off x="8077165" y="2686124"/>
            <a:ext cx="76825" cy="76800"/>
            <a:chOff x="3104875" y="1099400"/>
            <a:chExt cx="76825" cy="76800"/>
          </a:xfrm>
        </p:grpSpPr>
        <p:sp>
          <p:nvSpPr>
            <p:cNvPr id="1542" name="Google Shape;1542;p44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44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544" name="Google Shape;1544;p44"/>
          <p:cNvPicPr preferRelativeResize="0"/>
          <p:nvPr/>
        </p:nvPicPr>
        <p:blipFill rotWithShape="1">
          <a:blip r:embed="rId3">
            <a:alphaModFix/>
          </a:blip>
          <a:srcRect l="22010" r="18456"/>
          <a:stretch/>
        </p:blipFill>
        <p:spPr>
          <a:xfrm rot="-1020103">
            <a:off x="7695546" y="533414"/>
            <a:ext cx="652201" cy="616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5" name="Google Shape;1545;p44"/>
          <p:cNvPicPr preferRelativeResize="0"/>
          <p:nvPr/>
        </p:nvPicPr>
        <p:blipFill rotWithShape="1">
          <a:blip r:embed="rId4">
            <a:alphaModFix/>
          </a:blip>
          <a:srcRect l="15237" r="10475"/>
          <a:stretch/>
        </p:blipFill>
        <p:spPr>
          <a:xfrm rot="20977497">
            <a:off x="815806" y="312235"/>
            <a:ext cx="724720" cy="70317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" name="Google Shape;1258;p36">
            <a:extLst>
              <a:ext uri="{FF2B5EF4-FFF2-40B4-BE49-F238E27FC236}">
                <a16:creationId xmlns:a16="http://schemas.microsoft.com/office/drawing/2014/main" id="{D54DC720-C9DB-415D-24BD-4E3B5D0CE4E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55830828"/>
              </p:ext>
            </p:extLst>
          </p:nvPr>
        </p:nvGraphicFramePr>
        <p:xfrm>
          <a:off x="3104251" y="1640381"/>
          <a:ext cx="2935497" cy="3177390"/>
        </p:xfrm>
        <a:graphic>
          <a:graphicData uri="http://schemas.openxmlformats.org/drawingml/2006/table">
            <a:tbl>
              <a:tblPr>
                <a:noFill/>
                <a:tableStyleId>{FBB24058-E6B8-4B8D-8191-A9BED5023D86}</a:tableStyleId>
              </a:tblPr>
              <a:tblGrid>
                <a:gridCol w="9037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17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513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 u="sng" dirty="0">
                          <a:solidFill>
                            <a:schemeClr val="dk1"/>
                          </a:solidFill>
                          <a:latin typeface="Montserrat Black"/>
                          <a:ea typeface="Montserrat Black"/>
                          <a:cs typeface="Montserrat Black"/>
                          <a:sym typeface="Montserrat Black"/>
                        </a:rPr>
                        <a:t>Reactive Clinical Mindeset</a:t>
                      </a:r>
                      <a:endParaRPr sz="950" dirty="0">
                        <a:solidFill>
                          <a:schemeClr val="dk1"/>
                        </a:solidFill>
                        <a:latin typeface="Montserrat Black"/>
                        <a:ea typeface="Montserrat Black"/>
                        <a:cs typeface="Montserrat Black"/>
                        <a:sym typeface="Montserrat Black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33C9B">
                        <a:alpha val="330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Action triggered after symptoms - collapse</a:t>
                      </a:r>
                      <a:endParaRPr sz="1100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69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 u="sng" dirty="0">
                          <a:solidFill>
                            <a:schemeClr val="dk1"/>
                          </a:solidFill>
                          <a:latin typeface="Montserrat Black"/>
                          <a:ea typeface="Montserrat Black"/>
                          <a:cs typeface="Montserrat Black"/>
                          <a:sym typeface="Montserrat Black"/>
                        </a:rPr>
                        <a:t>Loss to Follow-Up</a:t>
                      </a:r>
                      <a:endParaRPr sz="950" dirty="0">
                        <a:solidFill>
                          <a:schemeClr val="dk1"/>
                        </a:solidFill>
                        <a:latin typeface="Montserrat Black"/>
                        <a:ea typeface="Montserrat Black"/>
                        <a:cs typeface="Montserrat Black"/>
                        <a:sym typeface="Montserrat Black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33C9B">
                        <a:alpha val="330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5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Over 40% of post-AVR patients skip checkups once asymptomatic</a:t>
                      </a:r>
                      <a:endParaRPr sz="1050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513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 u="sng" dirty="0">
                          <a:solidFill>
                            <a:schemeClr val="dk1"/>
                          </a:solidFill>
                          <a:latin typeface="Montserrat Black"/>
                          <a:ea typeface="Montserrat Black"/>
                          <a:cs typeface="Montserrat Black"/>
                          <a:sym typeface="Montserrat Black"/>
                        </a:rPr>
                        <a:t>Measurement Variability</a:t>
                      </a:r>
                      <a:endParaRPr sz="950" dirty="0">
                        <a:solidFill>
                          <a:schemeClr val="dk1"/>
                        </a:solidFill>
                        <a:latin typeface="Montserrat Black"/>
                        <a:ea typeface="Montserrat Black"/>
                        <a:cs typeface="Montserrat Black"/>
                        <a:sym typeface="Montserrat Black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33C9B">
                        <a:alpha val="330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5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Operator-dependent errors distort calculations</a:t>
                      </a:r>
                      <a:endParaRPr sz="1050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69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 u="sng" dirty="0">
                          <a:solidFill>
                            <a:schemeClr val="dk1"/>
                          </a:solidFill>
                          <a:latin typeface="Montserrat Black"/>
                          <a:ea typeface="Montserrat Black"/>
                          <a:cs typeface="Montserrat Black"/>
                          <a:sym typeface="Montserrat Black"/>
                        </a:rPr>
                        <a:t>Clinical Cost</a:t>
                      </a:r>
                      <a:endParaRPr sz="950" dirty="0">
                        <a:solidFill>
                          <a:schemeClr val="dk1"/>
                        </a:solidFill>
                        <a:latin typeface="Montserrat Black"/>
                        <a:ea typeface="Montserrat Black"/>
                        <a:cs typeface="Montserrat Black"/>
                        <a:sym typeface="Montserrat Black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33C9B">
                        <a:alpha val="330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5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Irreversible myocardial remodeling, pulmonary edema, shock</a:t>
                      </a:r>
                      <a:endParaRPr sz="1050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513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 u="sng" dirty="0">
                          <a:solidFill>
                            <a:schemeClr val="dk1"/>
                          </a:solidFill>
                          <a:latin typeface="Montserrat Black"/>
                          <a:ea typeface="Montserrat Black"/>
                          <a:cs typeface="Montserrat Black"/>
                          <a:sym typeface="Montserrat Black"/>
                        </a:rPr>
                        <a:t>Financial Cost</a:t>
                      </a:r>
                      <a:endParaRPr sz="950" dirty="0">
                        <a:solidFill>
                          <a:schemeClr val="dk1"/>
                        </a:solidFill>
                        <a:latin typeface="Montserrat Black"/>
                        <a:ea typeface="Montserrat Black"/>
                        <a:cs typeface="Montserrat Black"/>
                        <a:sym typeface="Montserrat Black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33C9B">
                        <a:alpha val="330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Emergent re-admissions, prolonged ICU stays, emergency procedures </a:t>
                      </a:r>
                      <a:endParaRPr sz="950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E765F5F6-547E-0759-C6F8-6840CAB268B7}"/>
              </a:ext>
            </a:extLst>
          </p:cNvPr>
          <p:cNvSpPr txBox="1"/>
          <p:nvPr/>
        </p:nvSpPr>
        <p:spPr>
          <a:xfrm>
            <a:off x="3009418" y="1249583"/>
            <a:ext cx="44235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lack"/>
                <a:sym typeface="Montserrat Black"/>
              </a:rPr>
              <a:t>Current Workflow Failure</a:t>
            </a:r>
            <a:endParaRPr lang="el-GR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BD39A08-0B93-FEED-D1A6-D41BFA11D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52389">
            <a:off x="-1023360" y="-1040108"/>
            <a:ext cx="11190720" cy="6981732"/>
          </a:xfrm>
          <a:prstGeom prst="rect">
            <a:avLst/>
          </a:prstGeom>
        </p:spPr>
      </p:pic>
      <p:sp>
        <p:nvSpPr>
          <p:cNvPr id="1324" name="Google Shape;1324;p39"/>
          <p:cNvSpPr/>
          <p:nvPr/>
        </p:nvSpPr>
        <p:spPr>
          <a:xfrm rot="5400000">
            <a:off x="1507050" y="1558409"/>
            <a:ext cx="956100" cy="828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733C9B">
              <a:alpha val="3302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5" name="Google Shape;1325;p39"/>
          <p:cNvSpPr/>
          <p:nvPr/>
        </p:nvSpPr>
        <p:spPr>
          <a:xfrm rot="5400000">
            <a:off x="4042683" y="1623875"/>
            <a:ext cx="956100" cy="828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733C9B">
              <a:alpha val="3302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26" name="Google Shape;1326;p39"/>
          <p:cNvSpPr/>
          <p:nvPr/>
        </p:nvSpPr>
        <p:spPr>
          <a:xfrm rot="5400000">
            <a:off x="6640096" y="1623875"/>
            <a:ext cx="956100" cy="828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733C9B">
              <a:alpha val="3302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7" name="Google Shape;1327;p39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Our Hypothesis</a:t>
            </a:r>
            <a:endParaRPr dirty="0"/>
          </a:p>
        </p:txBody>
      </p:sp>
      <p:sp>
        <p:nvSpPr>
          <p:cNvPr id="1329" name="Google Shape;1329;p39"/>
          <p:cNvSpPr txBox="1">
            <a:spLocks noGrp="1"/>
          </p:cNvSpPr>
          <p:nvPr>
            <p:ph type="subTitle" idx="2"/>
          </p:nvPr>
        </p:nvSpPr>
        <p:spPr>
          <a:xfrm>
            <a:off x="3433050" y="3050832"/>
            <a:ext cx="2095200" cy="89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/>
              <a:t>- for this one valve.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/>
              <a:t>Builds the individual patient’s functional </a:t>
            </a:r>
            <a:r>
              <a:rPr lang="en-US" sz="1300" b="1" dirty="0"/>
              <a:t>curve</a:t>
            </a:r>
            <a:r>
              <a:rPr lang="en-US" sz="1300" dirty="0"/>
              <a:t> from their own follow-up measurements, even predicting the time of failure.</a:t>
            </a:r>
          </a:p>
        </p:txBody>
      </p:sp>
      <p:sp>
        <p:nvSpPr>
          <p:cNvPr id="1328" name="Google Shape;1328;p39"/>
          <p:cNvSpPr txBox="1">
            <a:spLocks noGrp="1"/>
          </p:cNvSpPr>
          <p:nvPr>
            <p:ph type="subTitle" idx="1"/>
          </p:nvPr>
        </p:nvSpPr>
        <p:spPr>
          <a:xfrm>
            <a:off x="974349" y="3027663"/>
            <a:ext cx="2095200" cy="89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" dirty="0"/>
              <a:t>- from thousands of valves.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" dirty="0"/>
              <a:t>Trained on serial echo trajectories across years of follow-up.</a:t>
            </a:r>
            <a:endParaRPr dirty="0"/>
          </a:p>
        </p:txBody>
      </p:sp>
      <p:sp>
        <p:nvSpPr>
          <p:cNvPr id="1330" name="Google Shape;1330;p39"/>
          <p:cNvSpPr txBox="1">
            <a:spLocks noGrp="1"/>
          </p:cNvSpPr>
          <p:nvPr>
            <p:ph type="subTitle" idx="3"/>
          </p:nvPr>
        </p:nvSpPr>
        <p:spPr>
          <a:xfrm>
            <a:off x="6084576" y="3064936"/>
            <a:ext cx="2095200" cy="89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" sz="1300" dirty="0"/>
              <a:t>- before symptomps.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" sz="1300" b="1" dirty="0"/>
              <a:t>The curve’s shape is the information </a:t>
            </a:r>
            <a:r>
              <a:rPr lang="en" sz="1300" dirty="0"/>
              <a:t>– risk as a function of time.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" sz="1300" dirty="0"/>
              <a:t> </a:t>
            </a:r>
            <a:r>
              <a:rPr lang="en-US" sz="1300" dirty="0"/>
              <a:t>flat = stable ·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r>
              <a:rPr lang="en-US" sz="1300" dirty="0"/>
              <a:t>sloped = ageing · accelerating = the warning.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</a:pPr>
            <a:endParaRPr lang="en-US" sz="1300" dirty="0"/>
          </a:p>
          <a:p>
            <a:pPr marL="285750" lvl="0" indent="-285750" algn="ctr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" sz="1300" dirty="0"/>
          </a:p>
        </p:txBody>
      </p:sp>
      <p:sp>
        <p:nvSpPr>
          <p:cNvPr id="1331" name="Google Shape;1331;p39"/>
          <p:cNvSpPr txBox="1">
            <a:spLocks noGrp="1"/>
          </p:cNvSpPr>
          <p:nvPr>
            <p:ph type="subTitle" idx="4"/>
          </p:nvPr>
        </p:nvSpPr>
        <p:spPr>
          <a:xfrm>
            <a:off x="948794" y="2726175"/>
            <a:ext cx="2095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Learn</a:t>
            </a:r>
            <a:endParaRPr sz="1800" dirty="0"/>
          </a:p>
        </p:txBody>
      </p:sp>
      <p:sp>
        <p:nvSpPr>
          <p:cNvPr id="1332" name="Google Shape;1332;p39"/>
          <p:cNvSpPr txBox="1">
            <a:spLocks noGrp="1"/>
          </p:cNvSpPr>
          <p:nvPr>
            <p:ph type="subTitle" idx="5"/>
          </p:nvPr>
        </p:nvSpPr>
        <p:spPr>
          <a:xfrm>
            <a:off x="3473133" y="2734026"/>
            <a:ext cx="2095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Reconstruct</a:t>
            </a:r>
            <a:endParaRPr sz="1800" dirty="0"/>
          </a:p>
        </p:txBody>
      </p:sp>
      <p:sp>
        <p:nvSpPr>
          <p:cNvPr id="1333" name="Google Shape;1333;p39"/>
          <p:cNvSpPr txBox="1">
            <a:spLocks noGrp="1"/>
          </p:cNvSpPr>
          <p:nvPr>
            <p:ph type="subTitle" idx="6"/>
          </p:nvPr>
        </p:nvSpPr>
        <p:spPr>
          <a:xfrm>
            <a:off x="6059021" y="2732176"/>
            <a:ext cx="2095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Anticipate</a:t>
            </a:r>
            <a:endParaRPr sz="1800" dirty="0"/>
          </a:p>
        </p:txBody>
      </p:sp>
      <p:grpSp>
        <p:nvGrpSpPr>
          <p:cNvPr id="1334" name="Google Shape;1334;p39"/>
          <p:cNvGrpSpPr/>
          <p:nvPr/>
        </p:nvGrpSpPr>
        <p:grpSpPr>
          <a:xfrm>
            <a:off x="4238285" y="1747876"/>
            <a:ext cx="531542" cy="602023"/>
            <a:chOff x="4020665" y="1431080"/>
            <a:chExt cx="531542" cy="602023"/>
          </a:xfrm>
        </p:grpSpPr>
        <p:sp>
          <p:nvSpPr>
            <p:cNvPr id="1335" name="Google Shape;1335;p39"/>
            <p:cNvSpPr/>
            <p:nvPr/>
          </p:nvSpPr>
          <p:spPr>
            <a:xfrm>
              <a:off x="4094363" y="1495524"/>
              <a:ext cx="457844" cy="537579"/>
            </a:xfrm>
            <a:custGeom>
              <a:avLst/>
              <a:gdLst/>
              <a:ahLst/>
              <a:cxnLst/>
              <a:rect l="l" t="t" r="r" b="b"/>
              <a:pathLst>
                <a:path w="13804" h="16208" extrusionOk="0">
                  <a:moveTo>
                    <a:pt x="10670" y="532"/>
                  </a:moveTo>
                  <a:lnTo>
                    <a:pt x="10670" y="973"/>
                  </a:lnTo>
                  <a:cubicBezTo>
                    <a:pt x="10670" y="1181"/>
                    <a:pt x="10810" y="1383"/>
                    <a:pt x="11006" y="1455"/>
                  </a:cubicBezTo>
                  <a:lnTo>
                    <a:pt x="11230" y="1549"/>
                  </a:lnTo>
                  <a:cubicBezTo>
                    <a:pt x="11294" y="1579"/>
                    <a:pt x="11367" y="1594"/>
                    <a:pt x="11441" y="1594"/>
                  </a:cubicBezTo>
                  <a:cubicBezTo>
                    <a:pt x="11582" y="1594"/>
                    <a:pt x="11717" y="1540"/>
                    <a:pt x="11810" y="1446"/>
                  </a:cubicBezTo>
                  <a:lnTo>
                    <a:pt x="12117" y="1137"/>
                  </a:lnTo>
                  <a:lnTo>
                    <a:pt x="12674" y="1697"/>
                  </a:lnTo>
                  <a:lnTo>
                    <a:pt x="12364" y="2009"/>
                  </a:lnTo>
                  <a:cubicBezTo>
                    <a:pt x="12217" y="2157"/>
                    <a:pt x="12175" y="2399"/>
                    <a:pt x="12262" y="2588"/>
                  </a:cubicBezTo>
                  <a:lnTo>
                    <a:pt x="12355" y="2815"/>
                  </a:lnTo>
                  <a:cubicBezTo>
                    <a:pt x="12426" y="3012"/>
                    <a:pt x="12628" y="3154"/>
                    <a:pt x="12838" y="3154"/>
                  </a:cubicBezTo>
                  <a:lnTo>
                    <a:pt x="13271" y="3154"/>
                  </a:lnTo>
                  <a:lnTo>
                    <a:pt x="13271" y="3948"/>
                  </a:lnTo>
                  <a:lnTo>
                    <a:pt x="12838" y="3948"/>
                  </a:lnTo>
                  <a:cubicBezTo>
                    <a:pt x="12629" y="3948"/>
                    <a:pt x="12426" y="4090"/>
                    <a:pt x="12355" y="4287"/>
                  </a:cubicBezTo>
                  <a:lnTo>
                    <a:pt x="12262" y="4514"/>
                  </a:lnTo>
                  <a:cubicBezTo>
                    <a:pt x="12175" y="4703"/>
                    <a:pt x="12217" y="4945"/>
                    <a:pt x="12364" y="5093"/>
                  </a:cubicBezTo>
                  <a:lnTo>
                    <a:pt x="12674" y="5405"/>
                  </a:lnTo>
                  <a:lnTo>
                    <a:pt x="12117" y="5966"/>
                  </a:lnTo>
                  <a:lnTo>
                    <a:pt x="11810" y="5656"/>
                  </a:lnTo>
                  <a:cubicBezTo>
                    <a:pt x="11717" y="5562"/>
                    <a:pt x="11582" y="5508"/>
                    <a:pt x="11441" y="5508"/>
                  </a:cubicBezTo>
                  <a:cubicBezTo>
                    <a:pt x="11367" y="5508"/>
                    <a:pt x="11294" y="5523"/>
                    <a:pt x="11230" y="5553"/>
                  </a:cubicBezTo>
                  <a:lnTo>
                    <a:pt x="11006" y="5647"/>
                  </a:lnTo>
                  <a:cubicBezTo>
                    <a:pt x="10811" y="5718"/>
                    <a:pt x="10670" y="5921"/>
                    <a:pt x="10670" y="6129"/>
                  </a:cubicBezTo>
                  <a:lnTo>
                    <a:pt x="10670" y="6570"/>
                  </a:lnTo>
                  <a:lnTo>
                    <a:pt x="9885" y="6570"/>
                  </a:lnTo>
                  <a:lnTo>
                    <a:pt x="9885" y="6129"/>
                  </a:lnTo>
                  <a:cubicBezTo>
                    <a:pt x="9885" y="5921"/>
                    <a:pt x="9745" y="5718"/>
                    <a:pt x="9548" y="5647"/>
                  </a:cubicBezTo>
                  <a:lnTo>
                    <a:pt x="9325" y="5553"/>
                  </a:lnTo>
                  <a:cubicBezTo>
                    <a:pt x="9261" y="5523"/>
                    <a:pt x="9189" y="5508"/>
                    <a:pt x="9114" y="5508"/>
                  </a:cubicBezTo>
                  <a:cubicBezTo>
                    <a:pt x="8972" y="5508"/>
                    <a:pt x="8838" y="5562"/>
                    <a:pt x="8745" y="5656"/>
                  </a:cubicBezTo>
                  <a:lnTo>
                    <a:pt x="8438" y="5966"/>
                  </a:lnTo>
                  <a:lnTo>
                    <a:pt x="7882" y="5405"/>
                  </a:lnTo>
                  <a:lnTo>
                    <a:pt x="8191" y="5093"/>
                  </a:lnTo>
                  <a:cubicBezTo>
                    <a:pt x="8338" y="4945"/>
                    <a:pt x="8380" y="4703"/>
                    <a:pt x="8293" y="4513"/>
                  </a:cubicBezTo>
                  <a:lnTo>
                    <a:pt x="8200" y="4287"/>
                  </a:lnTo>
                  <a:cubicBezTo>
                    <a:pt x="8129" y="4090"/>
                    <a:pt x="7927" y="3948"/>
                    <a:pt x="7717" y="3948"/>
                  </a:cubicBezTo>
                  <a:lnTo>
                    <a:pt x="7283" y="3948"/>
                  </a:lnTo>
                  <a:lnTo>
                    <a:pt x="7283" y="3154"/>
                  </a:lnTo>
                  <a:lnTo>
                    <a:pt x="7717" y="3154"/>
                  </a:lnTo>
                  <a:cubicBezTo>
                    <a:pt x="7927" y="3154"/>
                    <a:pt x="8129" y="3012"/>
                    <a:pt x="8200" y="2815"/>
                  </a:cubicBezTo>
                  <a:lnTo>
                    <a:pt x="8293" y="2588"/>
                  </a:lnTo>
                  <a:cubicBezTo>
                    <a:pt x="8380" y="2399"/>
                    <a:pt x="8338" y="2157"/>
                    <a:pt x="8191" y="2009"/>
                  </a:cubicBezTo>
                  <a:lnTo>
                    <a:pt x="7881" y="1697"/>
                  </a:lnTo>
                  <a:lnTo>
                    <a:pt x="8438" y="1136"/>
                  </a:lnTo>
                  <a:lnTo>
                    <a:pt x="8745" y="1446"/>
                  </a:lnTo>
                  <a:cubicBezTo>
                    <a:pt x="8838" y="1540"/>
                    <a:pt x="8972" y="1594"/>
                    <a:pt x="9114" y="1594"/>
                  </a:cubicBezTo>
                  <a:cubicBezTo>
                    <a:pt x="9188" y="1594"/>
                    <a:pt x="9261" y="1579"/>
                    <a:pt x="9325" y="1549"/>
                  </a:cubicBezTo>
                  <a:lnTo>
                    <a:pt x="9548" y="1455"/>
                  </a:lnTo>
                  <a:cubicBezTo>
                    <a:pt x="9744" y="1383"/>
                    <a:pt x="9885" y="1181"/>
                    <a:pt x="9885" y="973"/>
                  </a:cubicBezTo>
                  <a:lnTo>
                    <a:pt x="9885" y="532"/>
                  </a:lnTo>
                  <a:close/>
                  <a:moveTo>
                    <a:pt x="4565" y="7569"/>
                  </a:moveTo>
                  <a:lnTo>
                    <a:pt x="4919" y="7925"/>
                  </a:lnTo>
                  <a:lnTo>
                    <a:pt x="4559" y="8288"/>
                  </a:lnTo>
                  <a:lnTo>
                    <a:pt x="4204" y="7931"/>
                  </a:lnTo>
                  <a:lnTo>
                    <a:pt x="4565" y="7569"/>
                  </a:lnTo>
                  <a:close/>
                  <a:moveTo>
                    <a:pt x="8369" y="8852"/>
                  </a:moveTo>
                  <a:lnTo>
                    <a:pt x="8369" y="9367"/>
                  </a:lnTo>
                  <a:lnTo>
                    <a:pt x="7870" y="9367"/>
                  </a:lnTo>
                  <a:lnTo>
                    <a:pt x="7870" y="8852"/>
                  </a:lnTo>
                  <a:close/>
                  <a:moveTo>
                    <a:pt x="5045" y="9926"/>
                  </a:moveTo>
                  <a:lnTo>
                    <a:pt x="5045" y="10441"/>
                  </a:lnTo>
                  <a:lnTo>
                    <a:pt x="4546" y="10441"/>
                  </a:lnTo>
                  <a:lnTo>
                    <a:pt x="4546" y="9926"/>
                  </a:lnTo>
                  <a:close/>
                  <a:moveTo>
                    <a:pt x="8185" y="13407"/>
                  </a:moveTo>
                  <a:cubicBezTo>
                    <a:pt x="8233" y="13407"/>
                    <a:pt x="8273" y="13448"/>
                    <a:pt x="8273" y="13495"/>
                  </a:cubicBezTo>
                  <a:lnTo>
                    <a:pt x="8273" y="14072"/>
                  </a:lnTo>
                  <a:cubicBezTo>
                    <a:pt x="8273" y="14120"/>
                    <a:pt x="8233" y="14160"/>
                    <a:pt x="8185" y="14160"/>
                  </a:cubicBezTo>
                  <a:lnTo>
                    <a:pt x="3845" y="14160"/>
                  </a:lnTo>
                  <a:cubicBezTo>
                    <a:pt x="3797" y="14160"/>
                    <a:pt x="3756" y="14120"/>
                    <a:pt x="3756" y="14072"/>
                  </a:cubicBezTo>
                  <a:lnTo>
                    <a:pt x="3756" y="13495"/>
                  </a:lnTo>
                  <a:cubicBezTo>
                    <a:pt x="3756" y="13448"/>
                    <a:pt x="3797" y="13407"/>
                    <a:pt x="3845" y="13407"/>
                  </a:cubicBezTo>
                  <a:close/>
                  <a:moveTo>
                    <a:pt x="7265" y="14692"/>
                  </a:moveTo>
                  <a:lnTo>
                    <a:pt x="7265" y="14887"/>
                  </a:lnTo>
                  <a:lnTo>
                    <a:pt x="4764" y="14887"/>
                  </a:lnTo>
                  <a:lnTo>
                    <a:pt x="4764" y="14692"/>
                  </a:lnTo>
                  <a:close/>
                  <a:moveTo>
                    <a:pt x="7265" y="15419"/>
                  </a:moveTo>
                  <a:lnTo>
                    <a:pt x="7265" y="15626"/>
                  </a:lnTo>
                  <a:cubicBezTo>
                    <a:pt x="7265" y="15653"/>
                    <a:pt x="7242" y="15676"/>
                    <a:pt x="7217" y="15676"/>
                  </a:cubicBezTo>
                  <a:lnTo>
                    <a:pt x="4812" y="15676"/>
                  </a:lnTo>
                  <a:cubicBezTo>
                    <a:pt x="4786" y="15676"/>
                    <a:pt x="4764" y="15653"/>
                    <a:pt x="4764" y="15626"/>
                  </a:cubicBezTo>
                  <a:lnTo>
                    <a:pt x="4764" y="15419"/>
                  </a:lnTo>
                  <a:close/>
                  <a:moveTo>
                    <a:pt x="9797" y="0"/>
                  </a:moveTo>
                  <a:cubicBezTo>
                    <a:pt x="9553" y="0"/>
                    <a:pt x="9353" y="199"/>
                    <a:pt x="9353" y="443"/>
                  </a:cubicBezTo>
                  <a:lnTo>
                    <a:pt x="9353" y="960"/>
                  </a:lnTo>
                  <a:lnTo>
                    <a:pt x="9353" y="962"/>
                  </a:lnTo>
                  <a:cubicBezTo>
                    <a:pt x="9352" y="962"/>
                    <a:pt x="9351" y="963"/>
                    <a:pt x="9350" y="963"/>
                  </a:cubicBezTo>
                  <a:lnTo>
                    <a:pt x="9115" y="1060"/>
                  </a:lnTo>
                  <a:cubicBezTo>
                    <a:pt x="9114" y="1061"/>
                    <a:pt x="9113" y="1061"/>
                    <a:pt x="9112" y="1061"/>
                  </a:cubicBezTo>
                  <a:lnTo>
                    <a:pt x="8752" y="698"/>
                  </a:lnTo>
                  <a:cubicBezTo>
                    <a:pt x="8668" y="613"/>
                    <a:pt x="8557" y="567"/>
                    <a:pt x="8438" y="567"/>
                  </a:cubicBezTo>
                  <a:cubicBezTo>
                    <a:pt x="8322" y="567"/>
                    <a:pt x="8213" y="612"/>
                    <a:pt x="8130" y="693"/>
                  </a:cubicBezTo>
                  <a:cubicBezTo>
                    <a:pt x="7471" y="443"/>
                    <a:pt x="6759" y="305"/>
                    <a:pt x="6014" y="305"/>
                  </a:cubicBezTo>
                  <a:cubicBezTo>
                    <a:pt x="2698" y="305"/>
                    <a:pt x="1" y="3023"/>
                    <a:pt x="1" y="6363"/>
                  </a:cubicBezTo>
                  <a:cubicBezTo>
                    <a:pt x="1" y="7600"/>
                    <a:pt x="368" y="8791"/>
                    <a:pt x="1066" y="9805"/>
                  </a:cubicBezTo>
                  <a:cubicBezTo>
                    <a:pt x="1711" y="10746"/>
                    <a:pt x="2595" y="11476"/>
                    <a:pt x="3631" y="11927"/>
                  </a:cubicBezTo>
                  <a:lnTo>
                    <a:pt x="3631" y="12914"/>
                  </a:lnTo>
                  <a:cubicBezTo>
                    <a:pt x="3394" y="13001"/>
                    <a:pt x="3224" y="13228"/>
                    <a:pt x="3224" y="13495"/>
                  </a:cubicBezTo>
                  <a:lnTo>
                    <a:pt x="3224" y="14072"/>
                  </a:lnTo>
                  <a:cubicBezTo>
                    <a:pt x="3224" y="14414"/>
                    <a:pt x="3502" y="14692"/>
                    <a:pt x="3845" y="14692"/>
                  </a:cubicBezTo>
                  <a:lnTo>
                    <a:pt x="4232" y="14692"/>
                  </a:lnTo>
                  <a:lnTo>
                    <a:pt x="4232" y="15625"/>
                  </a:lnTo>
                  <a:cubicBezTo>
                    <a:pt x="4232" y="15947"/>
                    <a:pt x="4493" y="16208"/>
                    <a:pt x="4812" y="16208"/>
                  </a:cubicBezTo>
                  <a:lnTo>
                    <a:pt x="7217" y="16208"/>
                  </a:lnTo>
                  <a:cubicBezTo>
                    <a:pt x="7537" y="16208"/>
                    <a:pt x="7797" y="15947"/>
                    <a:pt x="7797" y="15625"/>
                  </a:cubicBezTo>
                  <a:lnTo>
                    <a:pt x="7797" y="14692"/>
                  </a:lnTo>
                  <a:lnTo>
                    <a:pt x="8185" y="14692"/>
                  </a:lnTo>
                  <a:cubicBezTo>
                    <a:pt x="8527" y="14692"/>
                    <a:pt x="8805" y="14414"/>
                    <a:pt x="8805" y="14072"/>
                  </a:cubicBezTo>
                  <a:lnTo>
                    <a:pt x="8805" y="13495"/>
                  </a:lnTo>
                  <a:cubicBezTo>
                    <a:pt x="8805" y="13228"/>
                    <a:pt x="8635" y="13001"/>
                    <a:pt x="8399" y="12914"/>
                  </a:cubicBezTo>
                  <a:lnTo>
                    <a:pt x="8399" y="11927"/>
                  </a:lnTo>
                  <a:cubicBezTo>
                    <a:pt x="9745" y="11341"/>
                    <a:pt x="10827" y="10289"/>
                    <a:pt x="11455" y="8946"/>
                  </a:cubicBezTo>
                  <a:cubicBezTo>
                    <a:pt x="11518" y="8814"/>
                    <a:pt x="11460" y="8656"/>
                    <a:pt x="11328" y="8593"/>
                  </a:cubicBezTo>
                  <a:cubicBezTo>
                    <a:pt x="11291" y="8576"/>
                    <a:pt x="11253" y="8568"/>
                    <a:pt x="11215" y="8568"/>
                  </a:cubicBezTo>
                  <a:cubicBezTo>
                    <a:pt x="11115" y="8568"/>
                    <a:pt x="11019" y="8625"/>
                    <a:pt x="10974" y="8722"/>
                  </a:cubicBezTo>
                  <a:cubicBezTo>
                    <a:pt x="10434" y="9875"/>
                    <a:pt x="9527" y="10793"/>
                    <a:pt x="8398" y="11341"/>
                  </a:cubicBezTo>
                  <a:lnTo>
                    <a:pt x="8398" y="9899"/>
                  </a:lnTo>
                  <a:lnTo>
                    <a:pt x="8457" y="9899"/>
                  </a:lnTo>
                  <a:cubicBezTo>
                    <a:pt x="8701" y="9899"/>
                    <a:pt x="8901" y="9700"/>
                    <a:pt x="8901" y="9457"/>
                  </a:cubicBezTo>
                  <a:lnTo>
                    <a:pt x="8901" y="8764"/>
                  </a:lnTo>
                  <a:cubicBezTo>
                    <a:pt x="8901" y="8519"/>
                    <a:pt x="8701" y="8320"/>
                    <a:pt x="8457" y="8320"/>
                  </a:cubicBezTo>
                  <a:lnTo>
                    <a:pt x="7781" y="8320"/>
                  </a:lnTo>
                  <a:cubicBezTo>
                    <a:pt x="7537" y="8320"/>
                    <a:pt x="7338" y="8519"/>
                    <a:pt x="7338" y="8764"/>
                  </a:cubicBezTo>
                  <a:lnTo>
                    <a:pt x="7338" y="9457"/>
                  </a:lnTo>
                  <a:cubicBezTo>
                    <a:pt x="7338" y="9700"/>
                    <a:pt x="7537" y="9899"/>
                    <a:pt x="7781" y="9899"/>
                  </a:cubicBezTo>
                  <a:lnTo>
                    <a:pt x="7866" y="9899"/>
                  </a:lnTo>
                  <a:lnTo>
                    <a:pt x="7866" y="12875"/>
                  </a:lnTo>
                  <a:lnTo>
                    <a:pt x="7479" y="12875"/>
                  </a:lnTo>
                  <a:lnTo>
                    <a:pt x="7479" y="10836"/>
                  </a:lnTo>
                  <a:cubicBezTo>
                    <a:pt x="7479" y="10666"/>
                    <a:pt x="7395" y="10465"/>
                    <a:pt x="7277" y="10345"/>
                  </a:cubicBezTo>
                  <a:lnTo>
                    <a:pt x="5271" y="8324"/>
                  </a:lnTo>
                  <a:lnTo>
                    <a:pt x="5357" y="8238"/>
                  </a:lnTo>
                  <a:cubicBezTo>
                    <a:pt x="5528" y="8066"/>
                    <a:pt x="5528" y="7784"/>
                    <a:pt x="5357" y="7612"/>
                  </a:cubicBezTo>
                  <a:lnTo>
                    <a:pt x="4878" y="7129"/>
                  </a:lnTo>
                  <a:cubicBezTo>
                    <a:pt x="4795" y="7045"/>
                    <a:pt x="4683" y="6999"/>
                    <a:pt x="4565" y="6999"/>
                  </a:cubicBezTo>
                  <a:cubicBezTo>
                    <a:pt x="4446" y="6999"/>
                    <a:pt x="4334" y="7045"/>
                    <a:pt x="4250" y="7129"/>
                  </a:cubicBezTo>
                  <a:lnTo>
                    <a:pt x="3766" y="7618"/>
                  </a:lnTo>
                  <a:cubicBezTo>
                    <a:pt x="3594" y="7790"/>
                    <a:pt x="3594" y="8072"/>
                    <a:pt x="3766" y="8244"/>
                  </a:cubicBezTo>
                  <a:lnTo>
                    <a:pt x="4244" y="8727"/>
                  </a:lnTo>
                  <a:cubicBezTo>
                    <a:pt x="4329" y="8811"/>
                    <a:pt x="4439" y="8857"/>
                    <a:pt x="4559" y="8857"/>
                  </a:cubicBezTo>
                  <a:cubicBezTo>
                    <a:pt x="4677" y="8857"/>
                    <a:pt x="4789" y="8811"/>
                    <a:pt x="4872" y="8727"/>
                  </a:cubicBezTo>
                  <a:lnTo>
                    <a:pt x="4897" y="8701"/>
                  </a:lnTo>
                  <a:lnTo>
                    <a:pt x="6899" y="10720"/>
                  </a:lnTo>
                  <a:cubicBezTo>
                    <a:pt x="6919" y="10739"/>
                    <a:pt x="6947" y="10807"/>
                    <a:pt x="6947" y="10836"/>
                  </a:cubicBezTo>
                  <a:lnTo>
                    <a:pt x="6947" y="12875"/>
                  </a:lnTo>
                  <a:lnTo>
                    <a:pt x="6397" y="12875"/>
                  </a:lnTo>
                  <a:lnTo>
                    <a:pt x="6397" y="10642"/>
                  </a:lnTo>
                  <a:cubicBezTo>
                    <a:pt x="6397" y="10495"/>
                    <a:pt x="6278" y="10376"/>
                    <a:pt x="6131" y="10376"/>
                  </a:cubicBezTo>
                  <a:cubicBezTo>
                    <a:pt x="5985" y="10376"/>
                    <a:pt x="5866" y="10495"/>
                    <a:pt x="5866" y="10642"/>
                  </a:cubicBezTo>
                  <a:lnTo>
                    <a:pt x="5866" y="12875"/>
                  </a:lnTo>
                  <a:lnTo>
                    <a:pt x="5062" y="12875"/>
                  </a:lnTo>
                  <a:lnTo>
                    <a:pt x="5062" y="10973"/>
                  </a:lnTo>
                  <a:lnTo>
                    <a:pt x="5133" y="10973"/>
                  </a:lnTo>
                  <a:cubicBezTo>
                    <a:pt x="5378" y="10973"/>
                    <a:pt x="5577" y="10774"/>
                    <a:pt x="5577" y="10530"/>
                  </a:cubicBezTo>
                  <a:lnTo>
                    <a:pt x="5577" y="9838"/>
                  </a:lnTo>
                  <a:cubicBezTo>
                    <a:pt x="5577" y="9593"/>
                    <a:pt x="5378" y="9394"/>
                    <a:pt x="5133" y="9394"/>
                  </a:cubicBezTo>
                  <a:lnTo>
                    <a:pt x="4458" y="9394"/>
                  </a:lnTo>
                  <a:cubicBezTo>
                    <a:pt x="4214" y="9394"/>
                    <a:pt x="4014" y="9592"/>
                    <a:pt x="4014" y="9838"/>
                  </a:cubicBezTo>
                  <a:lnTo>
                    <a:pt x="4014" y="10530"/>
                  </a:lnTo>
                  <a:cubicBezTo>
                    <a:pt x="4014" y="10774"/>
                    <a:pt x="4214" y="10973"/>
                    <a:pt x="4458" y="10973"/>
                  </a:cubicBezTo>
                  <a:lnTo>
                    <a:pt x="4530" y="10973"/>
                  </a:lnTo>
                  <a:lnTo>
                    <a:pt x="4530" y="12875"/>
                  </a:lnTo>
                  <a:lnTo>
                    <a:pt x="4162" y="12875"/>
                  </a:lnTo>
                  <a:lnTo>
                    <a:pt x="4162" y="11749"/>
                  </a:lnTo>
                  <a:cubicBezTo>
                    <a:pt x="4162" y="11641"/>
                    <a:pt x="4096" y="11543"/>
                    <a:pt x="3995" y="11503"/>
                  </a:cubicBezTo>
                  <a:cubicBezTo>
                    <a:pt x="2986" y="11100"/>
                    <a:pt x="2124" y="10409"/>
                    <a:pt x="1503" y="9504"/>
                  </a:cubicBezTo>
                  <a:cubicBezTo>
                    <a:pt x="867" y="8579"/>
                    <a:pt x="532" y="7493"/>
                    <a:pt x="532" y="6363"/>
                  </a:cubicBezTo>
                  <a:cubicBezTo>
                    <a:pt x="532" y="3316"/>
                    <a:pt x="2991" y="837"/>
                    <a:pt x="6014" y="837"/>
                  </a:cubicBezTo>
                  <a:cubicBezTo>
                    <a:pt x="6608" y="837"/>
                    <a:pt x="7180" y="933"/>
                    <a:pt x="7715" y="1109"/>
                  </a:cubicBezTo>
                  <a:lnTo>
                    <a:pt x="7443" y="1383"/>
                  </a:lnTo>
                  <a:cubicBezTo>
                    <a:pt x="7272" y="1557"/>
                    <a:pt x="7272" y="1837"/>
                    <a:pt x="7443" y="2010"/>
                  </a:cubicBezTo>
                  <a:lnTo>
                    <a:pt x="7805" y="2375"/>
                  </a:lnTo>
                  <a:lnTo>
                    <a:pt x="7805" y="2376"/>
                  </a:lnTo>
                  <a:cubicBezTo>
                    <a:pt x="7805" y="2377"/>
                    <a:pt x="7804" y="2379"/>
                    <a:pt x="7803" y="2380"/>
                  </a:cubicBezTo>
                  <a:lnTo>
                    <a:pt x="7705" y="2620"/>
                  </a:lnTo>
                  <a:cubicBezTo>
                    <a:pt x="7705" y="2621"/>
                    <a:pt x="7704" y="2622"/>
                    <a:pt x="7704" y="2623"/>
                  </a:cubicBezTo>
                  <a:lnTo>
                    <a:pt x="7194" y="2623"/>
                  </a:lnTo>
                  <a:cubicBezTo>
                    <a:pt x="6950" y="2623"/>
                    <a:pt x="6752" y="2821"/>
                    <a:pt x="6752" y="3065"/>
                  </a:cubicBezTo>
                  <a:lnTo>
                    <a:pt x="6752" y="4037"/>
                  </a:lnTo>
                  <a:cubicBezTo>
                    <a:pt x="6752" y="4281"/>
                    <a:pt x="6950" y="4480"/>
                    <a:pt x="7194" y="4480"/>
                  </a:cubicBezTo>
                  <a:lnTo>
                    <a:pt x="7704" y="4480"/>
                  </a:lnTo>
                  <a:cubicBezTo>
                    <a:pt x="7705" y="4481"/>
                    <a:pt x="7705" y="4481"/>
                    <a:pt x="7705" y="4482"/>
                  </a:cubicBezTo>
                  <a:lnTo>
                    <a:pt x="7803" y="4721"/>
                  </a:lnTo>
                  <a:cubicBezTo>
                    <a:pt x="7804" y="4722"/>
                    <a:pt x="7805" y="4725"/>
                    <a:pt x="7805" y="4726"/>
                  </a:cubicBezTo>
                  <a:lnTo>
                    <a:pt x="7805" y="4727"/>
                  </a:lnTo>
                  <a:lnTo>
                    <a:pt x="7443" y="5092"/>
                  </a:lnTo>
                  <a:cubicBezTo>
                    <a:pt x="7272" y="5265"/>
                    <a:pt x="7271" y="5546"/>
                    <a:pt x="7443" y="5718"/>
                  </a:cubicBezTo>
                  <a:lnTo>
                    <a:pt x="8123" y="6404"/>
                  </a:lnTo>
                  <a:cubicBezTo>
                    <a:pt x="8208" y="6488"/>
                    <a:pt x="8318" y="6535"/>
                    <a:pt x="8438" y="6535"/>
                  </a:cubicBezTo>
                  <a:cubicBezTo>
                    <a:pt x="8556" y="6535"/>
                    <a:pt x="8668" y="6488"/>
                    <a:pt x="8751" y="6404"/>
                  </a:cubicBezTo>
                  <a:lnTo>
                    <a:pt x="9112" y="6041"/>
                  </a:lnTo>
                  <a:cubicBezTo>
                    <a:pt x="9113" y="6041"/>
                    <a:pt x="9113" y="6041"/>
                    <a:pt x="9114" y="6042"/>
                  </a:cubicBezTo>
                  <a:lnTo>
                    <a:pt x="9349" y="6139"/>
                  </a:lnTo>
                  <a:cubicBezTo>
                    <a:pt x="9350" y="6140"/>
                    <a:pt x="9352" y="6140"/>
                    <a:pt x="9353" y="6141"/>
                  </a:cubicBezTo>
                  <a:lnTo>
                    <a:pt x="9353" y="6659"/>
                  </a:lnTo>
                  <a:cubicBezTo>
                    <a:pt x="9353" y="6903"/>
                    <a:pt x="9552" y="7101"/>
                    <a:pt x="9796" y="7101"/>
                  </a:cubicBezTo>
                  <a:lnTo>
                    <a:pt x="10758" y="7101"/>
                  </a:lnTo>
                  <a:cubicBezTo>
                    <a:pt x="11002" y="7101"/>
                    <a:pt x="11201" y="6903"/>
                    <a:pt x="11201" y="6659"/>
                  </a:cubicBezTo>
                  <a:lnTo>
                    <a:pt x="11201" y="6141"/>
                  </a:lnTo>
                  <a:lnTo>
                    <a:pt x="11202" y="6141"/>
                  </a:lnTo>
                  <a:cubicBezTo>
                    <a:pt x="11203" y="6140"/>
                    <a:pt x="11204" y="6140"/>
                    <a:pt x="11205" y="6139"/>
                  </a:cubicBezTo>
                  <a:lnTo>
                    <a:pt x="11440" y="6042"/>
                  </a:lnTo>
                  <a:cubicBezTo>
                    <a:pt x="11441" y="6041"/>
                    <a:pt x="11442" y="6041"/>
                    <a:pt x="11443" y="6041"/>
                  </a:cubicBezTo>
                  <a:lnTo>
                    <a:pt x="11489" y="6087"/>
                  </a:lnTo>
                  <a:cubicBezTo>
                    <a:pt x="11494" y="6178"/>
                    <a:pt x="11496" y="6271"/>
                    <a:pt x="11496" y="6363"/>
                  </a:cubicBezTo>
                  <a:cubicBezTo>
                    <a:pt x="11496" y="6609"/>
                    <a:pt x="11480" y="6856"/>
                    <a:pt x="11448" y="7098"/>
                  </a:cubicBezTo>
                  <a:cubicBezTo>
                    <a:pt x="11428" y="7243"/>
                    <a:pt x="11531" y="7377"/>
                    <a:pt x="11677" y="7396"/>
                  </a:cubicBezTo>
                  <a:cubicBezTo>
                    <a:pt x="11689" y="7398"/>
                    <a:pt x="11701" y="7398"/>
                    <a:pt x="11712" y="7398"/>
                  </a:cubicBezTo>
                  <a:cubicBezTo>
                    <a:pt x="11844" y="7398"/>
                    <a:pt x="11958" y="7301"/>
                    <a:pt x="11976" y="7167"/>
                  </a:cubicBezTo>
                  <a:cubicBezTo>
                    <a:pt x="12003" y="6956"/>
                    <a:pt x="12020" y="6740"/>
                    <a:pt x="12025" y="6525"/>
                  </a:cubicBezTo>
                  <a:cubicBezTo>
                    <a:pt x="12055" y="6532"/>
                    <a:pt x="12086" y="6535"/>
                    <a:pt x="12117" y="6535"/>
                  </a:cubicBezTo>
                  <a:cubicBezTo>
                    <a:pt x="12235" y="6535"/>
                    <a:pt x="12347" y="6488"/>
                    <a:pt x="12431" y="6404"/>
                  </a:cubicBezTo>
                  <a:lnTo>
                    <a:pt x="13111" y="5718"/>
                  </a:lnTo>
                  <a:cubicBezTo>
                    <a:pt x="13283" y="5546"/>
                    <a:pt x="13283" y="5265"/>
                    <a:pt x="13111" y="5092"/>
                  </a:cubicBezTo>
                  <a:lnTo>
                    <a:pt x="12749" y="4727"/>
                  </a:lnTo>
                  <a:cubicBezTo>
                    <a:pt x="12749" y="4727"/>
                    <a:pt x="12749" y="4727"/>
                    <a:pt x="12749" y="4726"/>
                  </a:cubicBezTo>
                  <a:cubicBezTo>
                    <a:pt x="12750" y="4725"/>
                    <a:pt x="12750" y="4723"/>
                    <a:pt x="12751" y="4721"/>
                  </a:cubicBezTo>
                  <a:lnTo>
                    <a:pt x="12848" y="4482"/>
                  </a:lnTo>
                  <a:cubicBezTo>
                    <a:pt x="12849" y="4482"/>
                    <a:pt x="12849" y="4481"/>
                    <a:pt x="12849" y="4480"/>
                  </a:cubicBezTo>
                  <a:lnTo>
                    <a:pt x="13360" y="4480"/>
                  </a:lnTo>
                  <a:cubicBezTo>
                    <a:pt x="13604" y="4480"/>
                    <a:pt x="13803" y="4281"/>
                    <a:pt x="13803" y="4037"/>
                  </a:cubicBezTo>
                  <a:lnTo>
                    <a:pt x="13803" y="3065"/>
                  </a:lnTo>
                  <a:cubicBezTo>
                    <a:pt x="13803" y="2821"/>
                    <a:pt x="13605" y="2622"/>
                    <a:pt x="13361" y="2622"/>
                  </a:cubicBezTo>
                  <a:lnTo>
                    <a:pt x="12850" y="2622"/>
                  </a:lnTo>
                  <a:cubicBezTo>
                    <a:pt x="12849" y="2621"/>
                    <a:pt x="12849" y="2621"/>
                    <a:pt x="12849" y="2620"/>
                  </a:cubicBezTo>
                  <a:lnTo>
                    <a:pt x="12751" y="2380"/>
                  </a:lnTo>
                  <a:cubicBezTo>
                    <a:pt x="12751" y="2379"/>
                    <a:pt x="12750" y="2377"/>
                    <a:pt x="12750" y="2376"/>
                  </a:cubicBezTo>
                  <a:lnTo>
                    <a:pt x="12750" y="2375"/>
                  </a:lnTo>
                  <a:lnTo>
                    <a:pt x="13112" y="2010"/>
                  </a:lnTo>
                  <a:cubicBezTo>
                    <a:pt x="13283" y="1837"/>
                    <a:pt x="13283" y="1557"/>
                    <a:pt x="13112" y="1383"/>
                  </a:cubicBezTo>
                  <a:lnTo>
                    <a:pt x="12432" y="698"/>
                  </a:lnTo>
                  <a:cubicBezTo>
                    <a:pt x="12347" y="613"/>
                    <a:pt x="12236" y="567"/>
                    <a:pt x="12117" y="567"/>
                  </a:cubicBezTo>
                  <a:cubicBezTo>
                    <a:pt x="11999" y="567"/>
                    <a:pt x="11887" y="613"/>
                    <a:pt x="11804" y="698"/>
                  </a:cubicBezTo>
                  <a:lnTo>
                    <a:pt x="11443" y="1061"/>
                  </a:lnTo>
                  <a:cubicBezTo>
                    <a:pt x="11442" y="1061"/>
                    <a:pt x="11442" y="1061"/>
                    <a:pt x="11441" y="1060"/>
                  </a:cubicBezTo>
                  <a:lnTo>
                    <a:pt x="11206" y="963"/>
                  </a:lnTo>
                  <a:cubicBezTo>
                    <a:pt x="11204" y="963"/>
                    <a:pt x="11203" y="962"/>
                    <a:pt x="11202" y="962"/>
                  </a:cubicBezTo>
                  <a:lnTo>
                    <a:pt x="11202" y="960"/>
                  </a:lnTo>
                  <a:lnTo>
                    <a:pt x="11202" y="443"/>
                  </a:lnTo>
                  <a:cubicBezTo>
                    <a:pt x="11202" y="199"/>
                    <a:pt x="11002" y="0"/>
                    <a:pt x="107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6" name="Google Shape;1336;p39"/>
            <p:cNvSpPr/>
            <p:nvPr/>
          </p:nvSpPr>
          <p:spPr>
            <a:xfrm>
              <a:off x="4374363" y="1552008"/>
              <a:ext cx="121758" cy="122587"/>
            </a:xfrm>
            <a:custGeom>
              <a:avLst/>
              <a:gdLst/>
              <a:ahLst/>
              <a:cxnLst/>
              <a:rect l="l" t="t" r="r" b="b"/>
              <a:pathLst>
                <a:path w="3671" h="3696" extrusionOk="0">
                  <a:moveTo>
                    <a:pt x="1835" y="1"/>
                  </a:moveTo>
                  <a:cubicBezTo>
                    <a:pt x="824" y="1"/>
                    <a:pt x="1" y="829"/>
                    <a:pt x="1" y="1848"/>
                  </a:cubicBezTo>
                  <a:cubicBezTo>
                    <a:pt x="1" y="2866"/>
                    <a:pt x="824" y="3695"/>
                    <a:pt x="1835" y="3695"/>
                  </a:cubicBezTo>
                  <a:cubicBezTo>
                    <a:pt x="2848" y="3695"/>
                    <a:pt x="3670" y="2866"/>
                    <a:pt x="3670" y="1848"/>
                  </a:cubicBezTo>
                  <a:cubicBezTo>
                    <a:pt x="3670" y="1651"/>
                    <a:pt x="3639" y="1457"/>
                    <a:pt x="3579" y="1270"/>
                  </a:cubicBezTo>
                  <a:cubicBezTo>
                    <a:pt x="3543" y="1158"/>
                    <a:pt x="3439" y="1087"/>
                    <a:pt x="3327" y="1087"/>
                  </a:cubicBezTo>
                  <a:cubicBezTo>
                    <a:pt x="3299" y="1087"/>
                    <a:pt x="3271" y="1091"/>
                    <a:pt x="3243" y="1100"/>
                  </a:cubicBezTo>
                  <a:cubicBezTo>
                    <a:pt x="3103" y="1146"/>
                    <a:pt x="3028" y="1297"/>
                    <a:pt x="3074" y="1435"/>
                  </a:cubicBezTo>
                  <a:cubicBezTo>
                    <a:pt x="3117" y="1568"/>
                    <a:pt x="3139" y="1707"/>
                    <a:pt x="3139" y="1848"/>
                  </a:cubicBezTo>
                  <a:cubicBezTo>
                    <a:pt x="3139" y="2573"/>
                    <a:pt x="2554" y="3163"/>
                    <a:pt x="1835" y="3163"/>
                  </a:cubicBezTo>
                  <a:cubicBezTo>
                    <a:pt x="1117" y="3163"/>
                    <a:pt x="533" y="2573"/>
                    <a:pt x="533" y="1848"/>
                  </a:cubicBezTo>
                  <a:cubicBezTo>
                    <a:pt x="533" y="1123"/>
                    <a:pt x="1117" y="533"/>
                    <a:pt x="1835" y="533"/>
                  </a:cubicBezTo>
                  <a:cubicBezTo>
                    <a:pt x="1983" y="533"/>
                    <a:pt x="2128" y="557"/>
                    <a:pt x="2267" y="607"/>
                  </a:cubicBezTo>
                  <a:cubicBezTo>
                    <a:pt x="2296" y="617"/>
                    <a:pt x="2326" y="622"/>
                    <a:pt x="2355" y="622"/>
                  </a:cubicBezTo>
                  <a:cubicBezTo>
                    <a:pt x="2464" y="622"/>
                    <a:pt x="2567" y="554"/>
                    <a:pt x="2606" y="444"/>
                  </a:cubicBezTo>
                  <a:cubicBezTo>
                    <a:pt x="2655" y="306"/>
                    <a:pt x="2582" y="154"/>
                    <a:pt x="2443" y="105"/>
                  </a:cubicBezTo>
                  <a:cubicBezTo>
                    <a:pt x="2248" y="36"/>
                    <a:pt x="2044" y="1"/>
                    <a:pt x="18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39"/>
            <p:cNvSpPr/>
            <p:nvPr/>
          </p:nvSpPr>
          <p:spPr>
            <a:xfrm>
              <a:off x="4404413" y="1582290"/>
              <a:ext cx="61658" cy="62023"/>
            </a:xfrm>
            <a:custGeom>
              <a:avLst/>
              <a:gdLst/>
              <a:ahLst/>
              <a:cxnLst/>
              <a:rect l="l" t="t" r="r" b="b"/>
              <a:pathLst>
                <a:path w="1859" h="1870" extrusionOk="0">
                  <a:moveTo>
                    <a:pt x="929" y="532"/>
                  </a:moveTo>
                  <a:cubicBezTo>
                    <a:pt x="1149" y="532"/>
                    <a:pt x="1327" y="713"/>
                    <a:pt x="1327" y="935"/>
                  </a:cubicBezTo>
                  <a:cubicBezTo>
                    <a:pt x="1327" y="1157"/>
                    <a:pt x="1149" y="1337"/>
                    <a:pt x="929" y="1337"/>
                  </a:cubicBezTo>
                  <a:cubicBezTo>
                    <a:pt x="711" y="1337"/>
                    <a:pt x="532" y="1157"/>
                    <a:pt x="532" y="935"/>
                  </a:cubicBezTo>
                  <a:cubicBezTo>
                    <a:pt x="532" y="713"/>
                    <a:pt x="711" y="532"/>
                    <a:pt x="929" y="532"/>
                  </a:cubicBezTo>
                  <a:close/>
                  <a:moveTo>
                    <a:pt x="929" y="1"/>
                  </a:moveTo>
                  <a:cubicBezTo>
                    <a:pt x="417" y="1"/>
                    <a:pt x="0" y="420"/>
                    <a:pt x="0" y="935"/>
                  </a:cubicBezTo>
                  <a:cubicBezTo>
                    <a:pt x="0" y="1450"/>
                    <a:pt x="417" y="1869"/>
                    <a:pt x="929" y="1869"/>
                  </a:cubicBezTo>
                  <a:cubicBezTo>
                    <a:pt x="1442" y="1869"/>
                    <a:pt x="1859" y="1450"/>
                    <a:pt x="1859" y="935"/>
                  </a:cubicBezTo>
                  <a:cubicBezTo>
                    <a:pt x="1859" y="421"/>
                    <a:pt x="1442" y="1"/>
                    <a:pt x="9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39"/>
            <p:cNvSpPr/>
            <p:nvPr/>
          </p:nvSpPr>
          <p:spPr>
            <a:xfrm>
              <a:off x="4271843" y="1668559"/>
              <a:ext cx="51808" cy="115854"/>
            </a:xfrm>
            <a:custGeom>
              <a:avLst/>
              <a:gdLst/>
              <a:ahLst/>
              <a:cxnLst/>
              <a:rect l="l" t="t" r="r" b="b"/>
              <a:pathLst>
                <a:path w="1562" h="3493" extrusionOk="0">
                  <a:moveTo>
                    <a:pt x="1030" y="532"/>
                  </a:moveTo>
                  <a:lnTo>
                    <a:pt x="1030" y="1048"/>
                  </a:lnTo>
                  <a:lnTo>
                    <a:pt x="532" y="1048"/>
                  </a:lnTo>
                  <a:lnTo>
                    <a:pt x="532" y="532"/>
                  </a:lnTo>
                  <a:close/>
                  <a:moveTo>
                    <a:pt x="443" y="0"/>
                  </a:moveTo>
                  <a:cubicBezTo>
                    <a:pt x="198" y="0"/>
                    <a:pt x="0" y="200"/>
                    <a:pt x="0" y="444"/>
                  </a:cubicBezTo>
                  <a:lnTo>
                    <a:pt x="0" y="1136"/>
                  </a:lnTo>
                  <a:cubicBezTo>
                    <a:pt x="0" y="1380"/>
                    <a:pt x="198" y="1579"/>
                    <a:pt x="443" y="1579"/>
                  </a:cubicBezTo>
                  <a:lnTo>
                    <a:pt x="515" y="1579"/>
                  </a:lnTo>
                  <a:lnTo>
                    <a:pt x="515" y="3226"/>
                  </a:lnTo>
                  <a:cubicBezTo>
                    <a:pt x="515" y="3374"/>
                    <a:pt x="634" y="3492"/>
                    <a:pt x="780" y="3492"/>
                  </a:cubicBezTo>
                  <a:cubicBezTo>
                    <a:pt x="927" y="3492"/>
                    <a:pt x="1046" y="3374"/>
                    <a:pt x="1046" y="3226"/>
                  </a:cubicBezTo>
                  <a:lnTo>
                    <a:pt x="1046" y="1579"/>
                  </a:lnTo>
                  <a:lnTo>
                    <a:pt x="1118" y="1579"/>
                  </a:lnTo>
                  <a:cubicBezTo>
                    <a:pt x="1363" y="1579"/>
                    <a:pt x="1562" y="1380"/>
                    <a:pt x="1562" y="1136"/>
                  </a:cubicBezTo>
                  <a:lnTo>
                    <a:pt x="1562" y="444"/>
                  </a:lnTo>
                  <a:cubicBezTo>
                    <a:pt x="1562" y="200"/>
                    <a:pt x="1364" y="0"/>
                    <a:pt x="11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39"/>
            <p:cNvSpPr/>
            <p:nvPr/>
          </p:nvSpPr>
          <p:spPr>
            <a:xfrm>
              <a:off x="4288891" y="1431080"/>
              <a:ext cx="17678" cy="42255"/>
            </a:xfrm>
            <a:custGeom>
              <a:avLst/>
              <a:gdLst/>
              <a:ahLst/>
              <a:cxnLst/>
              <a:rect l="l" t="t" r="r" b="b"/>
              <a:pathLst>
                <a:path w="533" h="1274" extrusionOk="0">
                  <a:moveTo>
                    <a:pt x="266" y="1"/>
                  </a:moveTo>
                  <a:cubicBezTo>
                    <a:pt x="120" y="1"/>
                    <a:pt x="1" y="120"/>
                    <a:pt x="1" y="267"/>
                  </a:cubicBezTo>
                  <a:lnTo>
                    <a:pt x="1" y="1008"/>
                  </a:lnTo>
                  <a:cubicBezTo>
                    <a:pt x="1" y="1154"/>
                    <a:pt x="120" y="1273"/>
                    <a:pt x="266" y="1273"/>
                  </a:cubicBezTo>
                  <a:cubicBezTo>
                    <a:pt x="413" y="1273"/>
                    <a:pt x="532" y="1154"/>
                    <a:pt x="532" y="1008"/>
                  </a:cubicBezTo>
                  <a:lnTo>
                    <a:pt x="532" y="267"/>
                  </a:lnTo>
                  <a:cubicBezTo>
                    <a:pt x="532" y="120"/>
                    <a:pt x="413" y="1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39"/>
            <p:cNvSpPr/>
            <p:nvPr/>
          </p:nvSpPr>
          <p:spPr>
            <a:xfrm>
              <a:off x="4209985" y="1443252"/>
              <a:ext cx="26766" cy="41194"/>
            </a:xfrm>
            <a:custGeom>
              <a:avLst/>
              <a:gdLst/>
              <a:ahLst/>
              <a:cxnLst/>
              <a:rect l="l" t="t" r="r" b="b"/>
              <a:pathLst>
                <a:path w="807" h="1242" extrusionOk="0">
                  <a:moveTo>
                    <a:pt x="298" y="1"/>
                  </a:moveTo>
                  <a:cubicBezTo>
                    <a:pt x="272" y="1"/>
                    <a:pt x="247" y="4"/>
                    <a:pt x="221" y="12"/>
                  </a:cubicBezTo>
                  <a:cubicBezTo>
                    <a:pt x="81" y="54"/>
                    <a:pt x="1" y="202"/>
                    <a:pt x="43" y="342"/>
                  </a:cubicBezTo>
                  <a:lnTo>
                    <a:pt x="255" y="1052"/>
                  </a:lnTo>
                  <a:cubicBezTo>
                    <a:pt x="289" y="1168"/>
                    <a:pt x="395" y="1242"/>
                    <a:pt x="510" y="1242"/>
                  </a:cubicBezTo>
                  <a:cubicBezTo>
                    <a:pt x="535" y="1242"/>
                    <a:pt x="560" y="1239"/>
                    <a:pt x="586" y="1230"/>
                  </a:cubicBezTo>
                  <a:cubicBezTo>
                    <a:pt x="727" y="1188"/>
                    <a:pt x="807" y="1041"/>
                    <a:pt x="764" y="900"/>
                  </a:cubicBezTo>
                  <a:lnTo>
                    <a:pt x="552" y="190"/>
                  </a:lnTo>
                  <a:cubicBezTo>
                    <a:pt x="518" y="75"/>
                    <a:pt x="412" y="1"/>
                    <a:pt x="2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39"/>
            <p:cNvSpPr/>
            <p:nvPr/>
          </p:nvSpPr>
          <p:spPr>
            <a:xfrm>
              <a:off x="4138675" y="1477348"/>
              <a:ext cx="33566" cy="38209"/>
            </a:xfrm>
            <a:custGeom>
              <a:avLst/>
              <a:gdLst/>
              <a:ahLst/>
              <a:cxnLst/>
              <a:rect l="l" t="t" r="r" b="b"/>
              <a:pathLst>
                <a:path w="1012" h="1152" extrusionOk="0">
                  <a:moveTo>
                    <a:pt x="304" y="0"/>
                  </a:moveTo>
                  <a:cubicBezTo>
                    <a:pt x="253" y="0"/>
                    <a:pt x="203" y="15"/>
                    <a:pt x="158" y="44"/>
                  </a:cubicBezTo>
                  <a:cubicBezTo>
                    <a:pt x="34" y="124"/>
                    <a:pt x="1" y="290"/>
                    <a:pt x="81" y="412"/>
                  </a:cubicBezTo>
                  <a:lnTo>
                    <a:pt x="487" y="1031"/>
                  </a:lnTo>
                  <a:cubicBezTo>
                    <a:pt x="539" y="1109"/>
                    <a:pt x="623" y="1151"/>
                    <a:pt x="710" y="1151"/>
                  </a:cubicBezTo>
                  <a:cubicBezTo>
                    <a:pt x="759" y="1151"/>
                    <a:pt x="811" y="1137"/>
                    <a:pt x="855" y="1107"/>
                  </a:cubicBezTo>
                  <a:cubicBezTo>
                    <a:pt x="978" y="1027"/>
                    <a:pt x="1012" y="862"/>
                    <a:pt x="932" y="739"/>
                  </a:cubicBezTo>
                  <a:lnTo>
                    <a:pt x="525" y="120"/>
                  </a:lnTo>
                  <a:cubicBezTo>
                    <a:pt x="475" y="42"/>
                    <a:pt x="390" y="0"/>
                    <a:pt x="3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39"/>
            <p:cNvSpPr/>
            <p:nvPr/>
          </p:nvSpPr>
          <p:spPr>
            <a:xfrm>
              <a:off x="4080466" y="1530516"/>
              <a:ext cx="38574" cy="33433"/>
            </a:xfrm>
            <a:custGeom>
              <a:avLst/>
              <a:gdLst/>
              <a:ahLst/>
              <a:cxnLst/>
              <a:rect l="l" t="t" r="r" b="b"/>
              <a:pathLst>
                <a:path w="1163" h="1008" extrusionOk="0">
                  <a:moveTo>
                    <a:pt x="298" y="0"/>
                  </a:moveTo>
                  <a:cubicBezTo>
                    <a:pt x="223" y="0"/>
                    <a:pt x="147" y="32"/>
                    <a:pt x="94" y="94"/>
                  </a:cubicBezTo>
                  <a:cubicBezTo>
                    <a:pt x="1" y="207"/>
                    <a:pt x="15" y="375"/>
                    <a:pt x="127" y="469"/>
                  </a:cubicBezTo>
                  <a:lnTo>
                    <a:pt x="693" y="945"/>
                  </a:lnTo>
                  <a:cubicBezTo>
                    <a:pt x="743" y="987"/>
                    <a:pt x="804" y="1007"/>
                    <a:pt x="864" y="1007"/>
                  </a:cubicBezTo>
                  <a:cubicBezTo>
                    <a:pt x="940" y="1007"/>
                    <a:pt x="1015" y="975"/>
                    <a:pt x="1068" y="913"/>
                  </a:cubicBezTo>
                  <a:cubicBezTo>
                    <a:pt x="1162" y="800"/>
                    <a:pt x="1148" y="632"/>
                    <a:pt x="1035" y="538"/>
                  </a:cubicBezTo>
                  <a:lnTo>
                    <a:pt x="469" y="63"/>
                  </a:lnTo>
                  <a:cubicBezTo>
                    <a:pt x="419" y="21"/>
                    <a:pt x="359" y="0"/>
                    <a:pt x="2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39"/>
            <p:cNvSpPr/>
            <p:nvPr/>
          </p:nvSpPr>
          <p:spPr>
            <a:xfrm>
              <a:off x="4039604" y="1598244"/>
              <a:ext cx="42587" cy="27363"/>
            </a:xfrm>
            <a:custGeom>
              <a:avLst/>
              <a:gdLst/>
              <a:ahLst/>
              <a:cxnLst/>
              <a:rect l="l" t="t" r="r" b="b"/>
              <a:pathLst>
                <a:path w="1284" h="825" extrusionOk="0">
                  <a:moveTo>
                    <a:pt x="303" y="0"/>
                  </a:moveTo>
                  <a:cubicBezTo>
                    <a:pt x="200" y="0"/>
                    <a:pt x="102" y="60"/>
                    <a:pt x="58" y="160"/>
                  </a:cubicBezTo>
                  <a:cubicBezTo>
                    <a:pt x="1" y="296"/>
                    <a:pt x="62" y="452"/>
                    <a:pt x="197" y="510"/>
                  </a:cubicBezTo>
                  <a:lnTo>
                    <a:pt x="876" y="803"/>
                  </a:lnTo>
                  <a:cubicBezTo>
                    <a:pt x="909" y="817"/>
                    <a:pt x="945" y="825"/>
                    <a:pt x="980" y="825"/>
                  </a:cubicBezTo>
                  <a:cubicBezTo>
                    <a:pt x="1083" y="825"/>
                    <a:pt x="1182" y="765"/>
                    <a:pt x="1225" y="664"/>
                  </a:cubicBezTo>
                  <a:cubicBezTo>
                    <a:pt x="1283" y="529"/>
                    <a:pt x="1221" y="373"/>
                    <a:pt x="1086" y="314"/>
                  </a:cubicBezTo>
                  <a:lnTo>
                    <a:pt x="408" y="22"/>
                  </a:lnTo>
                  <a:cubicBezTo>
                    <a:pt x="374" y="7"/>
                    <a:pt x="338" y="0"/>
                    <a:pt x="3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39"/>
            <p:cNvSpPr/>
            <p:nvPr/>
          </p:nvSpPr>
          <p:spPr>
            <a:xfrm>
              <a:off x="4020665" y="1674861"/>
              <a:ext cx="42985" cy="20464"/>
            </a:xfrm>
            <a:custGeom>
              <a:avLst/>
              <a:gdLst/>
              <a:ahLst/>
              <a:cxnLst/>
              <a:rect l="l" t="t" r="r" b="b"/>
              <a:pathLst>
                <a:path w="1296" h="617" extrusionOk="0">
                  <a:moveTo>
                    <a:pt x="280" y="0"/>
                  </a:moveTo>
                  <a:cubicBezTo>
                    <a:pt x="148" y="0"/>
                    <a:pt x="34" y="100"/>
                    <a:pt x="17" y="235"/>
                  </a:cubicBezTo>
                  <a:cubicBezTo>
                    <a:pt x="1" y="381"/>
                    <a:pt x="106" y="513"/>
                    <a:pt x="251" y="530"/>
                  </a:cubicBezTo>
                  <a:lnTo>
                    <a:pt x="985" y="615"/>
                  </a:lnTo>
                  <a:cubicBezTo>
                    <a:pt x="995" y="616"/>
                    <a:pt x="1005" y="616"/>
                    <a:pt x="1015" y="616"/>
                  </a:cubicBezTo>
                  <a:cubicBezTo>
                    <a:pt x="1149" y="616"/>
                    <a:pt x="1264" y="517"/>
                    <a:pt x="1279" y="381"/>
                  </a:cubicBezTo>
                  <a:cubicBezTo>
                    <a:pt x="1296" y="235"/>
                    <a:pt x="1192" y="104"/>
                    <a:pt x="1045" y="87"/>
                  </a:cubicBezTo>
                  <a:lnTo>
                    <a:pt x="312" y="2"/>
                  </a:lnTo>
                  <a:cubicBezTo>
                    <a:pt x="301" y="1"/>
                    <a:pt x="291" y="0"/>
                    <a:pt x="2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39"/>
            <p:cNvSpPr/>
            <p:nvPr/>
          </p:nvSpPr>
          <p:spPr>
            <a:xfrm>
              <a:off x="4023584" y="1749587"/>
              <a:ext cx="43217" cy="21990"/>
            </a:xfrm>
            <a:custGeom>
              <a:avLst/>
              <a:gdLst/>
              <a:ahLst/>
              <a:cxnLst/>
              <a:rect l="l" t="t" r="r" b="b"/>
              <a:pathLst>
                <a:path w="1303" h="663" extrusionOk="0">
                  <a:moveTo>
                    <a:pt x="1015" y="1"/>
                  </a:moveTo>
                  <a:cubicBezTo>
                    <a:pt x="999" y="1"/>
                    <a:pt x="983" y="2"/>
                    <a:pt x="967" y="5"/>
                  </a:cubicBezTo>
                  <a:lnTo>
                    <a:pt x="240" y="134"/>
                  </a:lnTo>
                  <a:cubicBezTo>
                    <a:pt x="97" y="160"/>
                    <a:pt x="0" y="299"/>
                    <a:pt x="26" y="444"/>
                  </a:cubicBezTo>
                  <a:cubicBezTo>
                    <a:pt x="48" y="572"/>
                    <a:pt x="161" y="662"/>
                    <a:pt x="288" y="662"/>
                  </a:cubicBezTo>
                  <a:cubicBezTo>
                    <a:pt x="303" y="662"/>
                    <a:pt x="319" y="661"/>
                    <a:pt x="335" y="658"/>
                  </a:cubicBezTo>
                  <a:lnTo>
                    <a:pt x="1061" y="528"/>
                  </a:lnTo>
                  <a:cubicBezTo>
                    <a:pt x="1206" y="502"/>
                    <a:pt x="1302" y="364"/>
                    <a:pt x="1276" y="220"/>
                  </a:cubicBezTo>
                  <a:cubicBezTo>
                    <a:pt x="1253" y="91"/>
                    <a:pt x="1141" y="1"/>
                    <a:pt x="10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39"/>
            <p:cNvSpPr/>
            <p:nvPr/>
          </p:nvSpPr>
          <p:spPr>
            <a:xfrm>
              <a:off x="4048625" y="1817647"/>
              <a:ext cx="42023" cy="28723"/>
            </a:xfrm>
            <a:custGeom>
              <a:avLst/>
              <a:gdLst/>
              <a:ahLst/>
              <a:cxnLst/>
              <a:rect l="l" t="t" r="r" b="b"/>
              <a:pathLst>
                <a:path w="1267" h="866" extrusionOk="0">
                  <a:moveTo>
                    <a:pt x="962" y="1"/>
                  </a:moveTo>
                  <a:cubicBezTo>
                    <a:pt x="922" y="1"/>
                    <a:pt x="881" y="10"/>
                    <a:pt x="843" y="29"/>
                  </a:cubicBezTo>
                  <a:lnTo>
                    <a:pt x="184" y="364"/>
                  </a:lnTo>
                  <a:cubicBezTo>
                    <a:pt x="53" y="430"/>
                    <a:pt x="1" y="590"/>
                    <a:pt x="67" y="720"/>
                  </a:cubicBezTo>
                  <a:cubicBezTo>
                    <a:pt x="114" y="813"/>
                    <a:pt x="207" y="866"/>
                    <a:pt x="304" y="866"/>
                  </a:cubicBezTo>
                  <a:cubicBezTo>
                    <a:pt x="345" y="866"/>
                    <a:pt x="386" y="858"/>
                    <a:pt x="424" y="837"/>
                  </a:cubicBezTo>
                  <a:lnTo>
                    <a:pt x="1083" y="504"/>
                  </a:lnTo>
                  <a:cubicBezTo>
                    <a:pt x="1215" y="438"/>
                    <a:pt x="1267" y="278"/>
                    <a:pt x="1200" y="146"/>
                  </a:cubicBezTo>
                  <a:cubicBezTo>
                    <a:pt x="1153" y="54"/>
                    <a:pt x="1060" y="1"/>
                    <a:pt x="9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39"/>
            <p:cNvSpPr/>
            <p:nvPr/>
          </p:nvSpPr>
          <p:spPr>
            <a:xfrm>
              <a:off x="4094861" y="1876121"/>
              <a:ext cx="37313" cy="34594"/>
            </a:xfrm>
            <a:custGeom>
              <a:avLst/>
              <a:gdLst/>
              <a:ahLst/>
              <a:cxnLst/>
              <a:rect l="l" t="t" r="r" b="b"/>
              <a:pathLst>
                <a:path w="1125" h="1043" extrusionOk="0">
                  <a:moveTo>
                    <a:pt x="830" y="1"/>
                  </a:moveTo>
                  <a:cubicBezTo>
                    <a:pt x="764" y="1"/>
                    <a:pt x="698" y="25"/>
                    <a:pt x="647" y="74"/>
                  </a:cubicBezTo>
                  <a:lnTo>
                    <a:pt x="111" y="584"/>
                  </a:lnTo>
                  <a:cubicBezTo>
                    <a:pt x="5" y="685"/>
                    <a:pt x="0" y="854"/>
                    <a:pt x="102" y="959"/>
                  </a:cubicBezTo>
                  <a:cubicBezTo>
                    <a:pt x="154" y="1015"/>
                    <a:pt x="224" y="1042"/>
                    <a:pt x="295" y="1042"/>
                  </a:cubicBezTo>
                  <a:cubicBezTo>
                    <a:pt x="361" y="1042"/>
                    <a:pt x="426" y="1018"/>
                    <a:pt x="478" y="969"/>
                  </a:cubicBezTo>
                  <a:lnTo>
                    <a:pt x="1014" y="459"/>
                  </a:lnTo>
                  <a:cubicBezTo>
                    <a:pt x="1119" y="358"/>
                    <a:pt x="1124" y="189"/>
                    <a:pt x="1023" y="84"/>
                  </a:cubicBezTo>
                  <a:cubicBezTo>
                    <a:pt x="970" y="28"/>
                    <a:pt x="900" y="1"/>
                    <a:pt x="8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39"/>
            <p:cNvSpPr/>
            <p:nvPr/>
          </p:nvSpPr>
          <p:spPr>
            <a:xfrm>
              <a:off x="4190814" y="1648659"/>
              <a:ext cx="51841" cy="52371"/>
            </a:xfrm>
            <a:custGeom>
              <a:avLst/>
              <a:gdLst/>
              <a:ahLst/>
              <a:cxnLst/>
              <a:rect l="l" t="t" r="r" b="b"/>
              <a:pathLst>
                <a:path w="1563" h="1579" extrusionOk="0">
                  <a:moveTo>
                    <a:pt x="1031" y="533"/>
                  </a:moveTo>
                  <a:lnTo>
                    <a:pt x="1031" y="1048"/>
                  </a:lnTo>
                  <a:lnTo>
                    <a:pt x="532" y="1048"/>
                  </a:lnTo>
                  <a:lnTo>
                    <a:pt x="532" y="533"/>
                  </a:lnTo>
                  <a:close/>
                  <a:moveTo>
                    <a:pt x="443" y="1"/>
                  </a:moveTo>
                  <a:cubicBezTo>
                    <a:pt x="199" y="1"/>
                    <a:pt x="1" y="199"/>
                    <a:pt x="1" y="443"/>
                  </a:cubicBezTo>
                  <a:lnTo>
                    <a:pt x="1" y="1136"/>
                  </a:lnTo>
                  <a:cubicBezTo>
                    <a:pt x="1" y="1381"/>
                    <a:pt x="200" y="1579"/>
                    <a:pt x="443" y="1579"/>
                  </a:cubicBezTo>
                  <a:lnTo>
                    <a:pt x="1120" y="1579"/>
                  </a:lnTo>
                  <a:cubicBezTo>
                    <a:pt x="1364" y="1579"/>
                    <a:pt x="1562" y="1381"/>
                    <a:pt x="1562" y="1136"/>
                  </a:cubicBezTo>
                  <a:lnTo>
                    <a:pt x="1562" y="443"/>
                  </a:lnTo>
                  <a:cubicBezTo>
                    <a:pt x="1562" y="199"/>
                    <a:pt x="1364" y="1"/>
                    <a:pt x="11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39"/>
            <p:cNvSpPr/>
            <p:nvPr/>
          </p:nvSpPr>
          <p:spPr>
            <a:xfrm>
              <a:off x="4231047" y="1581063"/>
              <a:ext cx="51841" cy="52405"/>
            </a:xfrm>
            <a:custGeom>
              <a:avLst/>
              <a:gdLst/>
              <a:ahLst/>
              <a:cxnLst/>
              <a:rect l="l" t="t" r="r" b="b"/>
              <a:pathLst>
                <a:path w="1563" h="1580" extrusionOk="0">
                  <a:moveTo>
                    <a:pt x="1031" y="533"/>
                  </a:moveTo>
                  <a:lnTo>
                    <a:pt x="1031" y="1048"/>
                  </a:lnTo>
                  <a:lnTo>
                    <a:pt x="532" y="1048"/>
                  </a:lnTo>
                  <a:lnTo>
                    <a:pt x="532" y="533"/>
                  </a:lnTo>
                  <a:close/>
                  <a:moveTo>
                    <a:pt x="444" y="1"/>
                  </a:moveTo>
                  <a:cubicBezTo>
                    <a:pt x="199" y="1"/>
                    <a:pt x="0" y="200"/>
                    <a:pt x="0" y="444"/>
                  </a:cubicBezTo>
                  <a:lnTo>
                    <a:pt x="0" y="1137"/>
                  </a:lnTo>
                  <a:cubicBezTo>
                    <a:pt x="0" y="1382"/>
                    <a:pt x="199" y="1580"/>
                    <a:pt x="444" y="1580"/>
                  </a:cubicBezTo>
                  <a:lnTo>
                    <a:pt x="1119" y="1580"/>
                  </a:lnTo>
                  <a:cubicBezTo>
                    <a:pt x="1364" y="1580"/>
                    <a:pt x="1563" y="1382"/>
                    <a:pt x="1563" y="1137"/>
                  </a:cubicBezTo>
                  <a:lnTo>
                    <a:pt x="1563" y="444"/>
                  </a:lnTo>
                  <a:cubicBezTo>
                    <a:pt x="1563" y="200"/>
                    <a:pt x="1364" y="1"/>
                    <a:pt x="11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0" name="Google Shape;1350;p39"/>
          <p:cNvGrpSpPr/>
          <p:nvPr/>
        </p:nvGrpSpPr>
        <p:grpSpPr>
          <a:xfrm>
            <a:off x="1668069" y="1669485"/>
            <a:ext cx="590713" cy="601957"/>
            <a:chOff x="1230449" y="2288393"/>
            <a:chExt cx="590713" cy="601957"/>
          </a:xfrm>
        </p:grpSpPr>
        <p:sp>
          <p:nvSpPr>
            <p:cNvPr id="1351" name="Google Shape;1351;p39"/>
            <p:cNvSpPr/>
            <p:nvPr/>
          </p:nvSpPr>
          <p:spPr>
            <a:xfrm>
              <a:off x="1293202" y="2564645"/>
              <a:ext cx="80995" cy="55556"/>
            </a:xfrm>
            <a:custGeom>
              <a:avLst/>
              <a:gdLst/>
              <a:ahLst/>
              <a:cxnLst/>
              <a:rect l="l" t="t" r="r" b="b"/>
              <a:pathLst>
                <a:path w="2442" h="1675" extrusionOk="0">
                  <a:moveTo>
                    <a:pt x="265" y="0"/>
                  </a:moveTo>
                  <a:cubicBezTo>
                    <a:pt x="118" y="0"/>
                    <a:pt x="0" y="119"/>
                    <a:pt x="0" y="266"/>
                  </a:cubicBezTo>
                  <a:cubicBezTo>
                    <a:pt x="0" y="1042"/>
                    <a:pt x="635" y="1675"/>
                    <a:pt x="1414" y="1675"/>
                  </a:cubicBezTo>
                  <a:lnTo>
                    <a:pt x="2177" y="1675"/>
                  </a:lnTo>
                  <a:cubicBezTo>
                    <a:pt x="2324" y="1675"/>
                    <a:pt x="2442" y="1556"/>
                    <a:pt x="2442" y="1409"/>
                  </a:cubicBezTo>
                  <a:cubicBezTo>
                    <a:pt x="2442" y="1262"/>
                    <a:pt x="2324" y="1143"/>
                    <a:pt x="2176" y="1143"/>
                  </a:cubicBezTo>
                  <a:lnTo>
                    <a:pt x="1414" y="1143"/>
                  </a:lnTo>
                  <a:cubicBezTo>
                    <a:pt x="927" y="1143"/>
                    <a:pt x="531" y="750"/>
                    <a:pt x="531" y="266"/>
                  </a:cubicBezTo>
                  <a:cubicBezTo>
                    <a:pt x="531" y="119"/>
                    <a:pt x="412" y="0"/>
                    <a:pt x="2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39"/>
            <p:cNvSpPr/>
            <p:nvPr/>
          </p:nvSpPr>
          <p:spPr>
            <a:xfrm>
              <a:off x="1327796" y="2667796"/>
              <a:ext cx="129287" cy="53798"/>
            </a:xfrm>
            <a:custGeom>
              <a:avLst/>
              <a:gdLst/>
              <a:ahLst/>
              <a:cxnLst/>
              <a:rect l="l" t="t" r="r" b="b"/>
              <a:pathLst>
                <a:path w="3898" h="1622" extrusionOk="0">
                  <a:moveTo>
                    <a:pt x="1361" y="0"/>
                  </a:moveTo>
                  <a:cubicBezTo>
                    <a:pt x="610" y="0"/>
                    <a:pt x="0" y="608"/>
                    <a:pt x="0" y="1355"/>
                  </a:cubicBezTo>
                  <a:cubicBezTo>
                    <a:pt x="0" y="1502"/>
                    <a:pt x="118" y="1621"/>
                    <a:pt x="266" y="1621"/>
                  </a:cubicBezTo>
                  <a:cubicBezTo>
                    <a:pt x="412" y="1621"/>
                    <a:pt x="531" y="1502"/>
                    <a:pt x="531" y="1355"/>
                  </a:cubicBezTo>
                  <a:cubicBezTo>
                    <a:pt x="531" y="902"/>
                    <a:pt x="903" y="532"/>
                    <a:pt x="1361" y="532"/>
                  </a:cubicBezTo>
                  <a:lnTo>
                    <a:pt x="3631" y="532"/>
                  </a:lnTo>
                  <a:cubicBezTo>
                    <a:pt x="3779" y="532"/>
                    <a:pt x="3897" y="413"/>
                    <a:pt x="3897" y="266"/>
                  </a:cubicBezTo>
                  <a:cubicBezTo>
                    <a:pt x="3898" y="119"/>
                    <a:pt x="3779" y="0"/>
                    <a:pt x="36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39"/>
            <p:cNvSpPr/>
            <p:nvPr/>
          </p:nvSpPr>
          <p:spPr>
            <a:xfrm>
              <a:off x="1474695" y="2667796"/>
              <a:ext cx="54229" cy="17645"/>
            </a:xfrm>
            <a:custGeom>
              <a:avLst/>
              <a:gdLst/>
              <a:ahLst/>
              <a:cxnLst/>
              <a:rect l="l" t="t" r="r" b="b"/>
              <a:pathLst>
                <a:path w="1635" h="532" extrusionOk="0">
                  <a:moveTo>
                    <a:pt x="266" y="0"/>
                  </a:moveTo>
                  <a:cubicBezTo>
                    <a:pt x="119" y="0"/>
                    <a:pt x="1" y="119"/>
                    <a:pt x="1" y="266"/>
                  </a:cubicBezTo>
                  <a:cubicBezTo>
                    <a:pt x="1" y="413"/>
                    <a:pt x="119" y="532"/>
                    <a:pt x="266" y="532"/>
                  </a:cubicBezTo>
                  <a:lnTo>
                    <a:pt x="1368" y="532"/>
                  </a:lnTo>
                  <a:cubicBezTo>
                    <a:pt x="1515" y="532"/>
                    <a:pt x="1634" y="413"/>
                    <a:pt x="1634" y="266"/>
                  </a:cubicBezTo>
                  <a:cubicBezTo>
                    <a:pt x="1634" y="119"/>
                    <a:pt x="1515" y="0"/>
                    <a:pt x="13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39"/>
            <p:cNvSpPr/>
            <p:nvPr/>
          </p:nvSpPr>
          <p:spPr>
            <a:xfrm>
              <a:off x="1394429" y="2496453"/>
              <a:ext cx="72504" cy="72206"/>
            </a:xfrm>
            <a:custGeom>
              <a:avLst/>
              <a:gdLst/>
              <a:ahLst/>
              <a:cxnLst/>
              <a:rect l="l" t="t" r="r" b="b"/>
              <a:pathLst>
                <a:path w="2186" h="2177" extrusionOk="0">
                  <a:moveTo>
                    <a:pt x="1920" y="1"/>
                  </a:moveTo>
                  <a:cubicBezTo>
                    <a:pt x="1773" y="1"/>
                    <a:pt x="1654" y="120"/>
                    <a:pt x="1654" y="266"/>
                  </a:cubicBezTo>
                  <a:cubicBezTo>
                    <a:pt x="1654" y="1026"/>
                    <a:pt x="1031" y="1645"/>
                    <a:pt x="267" y="1645"/>
                  </a:cubicBezTo>
                  <a:cubicBezTo>
                    <a:pt x="120" y="1645"/>
                    <a:pt x="1" y="1763"/>
                    <a:pt x="1" y="1910"/>
                  </a:cubicBezTo>
                  <a:cubicBezTo>
                    <a:pt x="1" y="2058"/>
                    <a:pt x="120" y="2176"/>
                    <a:pt x="267" y="2176"/>
                  </a:cubicBezTo>
                  <a:cubicBezTo>
                    <a:pt x="1324" y="2176"/>
                    <a:pt x="2186" y="1320"/>
                    <a:pt x="2186" y="266"/>
                  </a:cubicBezTo>
                  <a:cubicBezTo>
                    <a:pt x="2186" y="120"/>
                    <a:pt x="2066" y="1"/>
                    <a:pt x="19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39"/>
            <p:cNvSpPr/>
            <p:nvPr/>
          </p:nvSpPr>
          <p:spPr>
            <a:xfrm>
              <a:off x="1400798" y="2363053"/>
              <a:ext cx="49585" cy="45141"/>
            </a:xfrm>
            <a:custGeom>
              <a:avLst/>
              <a:gdLst/>
              <a:ahLst/>
              <a:cxnLst/>
              <a:rect l="l" t="t" r="r" b="b"/>
              <a:pathLst>
                <a:path w="1495" h="1361" extrusionOk="0">
                  <a:moveTo>
                    <a:pt x="1163" y="0"/>
                  </a:moveTo>
                  <a:cubicBezTo>
                    <a:pt x="560" y="0"/>
                    <a:pt x="50" y="469"/>
                    <a:pt x="11" y="1077"/>
                  </a:cubicBezTo>
                  <a:cubicBezTo>
                    <a:pt x="1" y="1224"/>
                    <a:pt x="112" y="1350"/>
                    <a:pt x="258" y="1359"/>
                  </a:cubicBezTo>
                  <a:cubicBezTo>
                    <a:pt x="264" y="1360"/>
                    <a:pt x="271" y="1360"/>
                    <a:pt x="276" y="1360"/>
                  </a:cubicBezTo>
                  <a:cubicBezTo>
                    <a:pt x="414" y="1360"/>
                    <a:pt x="531" y="1252"/>
                    <a:pt x="541" y="1112"/>
                  </a:cubicBezTo>
                  <a:cubicBezTo>
                    <a:pt x="562" y="784"/>
                    <a:pt x="837" y="532"/>
                    <a:pt x="1163" y="532"/>
                  </a:cubicBezTo>
                  <a:cubicBezTo>
                    <a:pt x="1176" y="532"/>
                    <a:pt x="1190" y="533"/>
                    <a:pt x="1203" y="534"/>
                  </a:cubicBezTo>
                  <a:cubicBezTo>
                    <a:pt x="1209" y="534"/>
                    <a:pt x="1215" y="534"/>
                    <a:pt x="1222" y="534"/>
                  </a:cubicBezTo>
                  <a:cubicBezTo>
                    <a:pt x="1360" y="534"/>
                    <a:pt x="1476" y="426"/>
                    <a:pt x="1485" y="286"/>
                  </a:cubicBezTo>
                  <a:cubicBezTo>
                    <a:pt x="1495" y="139"/>
                    <a:pt x="1384" y="13"/>
                    <a:pt x="1237" y="3"/>
                  </a:cubicBezTo>
                  <a:cubicBezTo>
                    <a:pt x="1212" y="1"/>
                    <a:pt x="1188" y="0"/>
                    <a:pt x="11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39"/>
            <p:cNvSpPr/>
            <p:nvPr/>
          </p:nvSpPr>
          <p:spPr>
            <a:xfrm>
              <a:off x="1403351" y="2707033"/>
              <a:ext cx="52902" cy="87761"/>
            </a:xfrm>
            <a:custGeom>
              <a:avLst/>
              <a:gdLst/>
              <a:ahLst/>
              <a:cxnLst/>
              <a:rect l="l" t="t" r="r" b="b"/>
              <a:pathLst>
                <a:path w="1595" h="2646" extrusionOk="0">
                  <a:moveTo>
                    <a:pt x="267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4"/>
                    <a:pt x="120" y="533"/>
                    <a:pt x="267" y="533"/>
                  </a:cubicBezTo>
                  <a:cubicBezTo>
                    <a:pt x="705" y="533"/>
                    <a:pt x="1062" y="888"/>
                    <a:pt x="1062" y="1323"/>
                  </a:cubicBezTo>
                  <a:cubicBezTo>
                    <a:pt x="1062" y="1760"/>
                    <a:pt x="705" y="2115"/>
                    <a:pt x="267" y="2115"/>
                  </a:cubicBezTo>
                  <a:cubicBezTo>
                    <a:pt x="120" y="2115"/>
                    <a:pt x="1" y="2234"/>
                    <a:pt x="1" y="2380"/>
                  </a:cubicBezTo>
                  <a:cubicBezTo>
                    <a:pt x="1" y="2528"/>
                    <a:pt x="120" y="2646"/>
                    <a:pt x="267" y="2646"/>
                  </a:cubicBezTo>
                  <a:cubicBezTo>
                    <a:pt x="999" y="2646"/>
                    <a:pt x="1594" y="2052"/>
                    <a:pt x="1594" y="1323"/>
                  </a:cubicBezTo>
                  <a:cubicBezTo>
                    <a:pt x="1594" y="594"/>
                    <a:pt x="999" y="1"/>
                    <a:pt x="2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39"/>
            <p:cNvSpPr/>
            <p:nvPr/>
          </p:nvSpPr>
          <p:spPr>
            <a:xfrm>
              <a:off x="1493600" y="2499405"/>
              <a:ext cx="47695" cy="77413"/>
            </a:xfrm>
            <a:custGeom>
              <a:avLst/>
              <a:gdLst/>
              <a:ahLst/>
              <a:cxnLst/>
              <a:rect l="l" t="t" r="r" b="b"/>
              <a:pathLst>
                <a:path w="1438" h="2334" extrusionOk="0">
                  <a:moveTo>
                    <a:pt x="266" y="1"/>
                  </a:moveTo>
                  <a:cubicBezTo>
                    <a:pt x="120" y="1"/>
                    <a:pt x="0" y="120"/>
                    <a:pt x="0" y="267"/>
                  </a:cubicBezTo>
                  <a:cubicBezTo>
                    <a:pt x="0" y="414"/>
                    <a:pt x="120" y="533"/>
                    <a:pt x="266" y="533"/>
                  </a:cubicBezTo>
                  <a:cubicBezTo>
                    <a:pt x="619" y="533"/>
                    <a:pt x="906" y="817"/>
                    <a:pt x="906" y="1167"/>
                  </a:cubicBezTo>
                  <a:cubicBezTo>
                    <a:pt x="906" y="1517"/>
                    <a:pt x="619" y="1803"/>
                    <a:pt x="266" y="1803"/>
                  </a:cubicBezTo>
                  <a:cubicBezTo>
                    <a:pt x="120" y="1803"/>
                    <a:pt x="0" y="1922"/>
                    <a:pt x="0" y="2069"/>
                  </a:cubicBezTo>
                  <a:cubicBezTo>
                    <a:pt x="0" y="2216"/>
                    <a:pt x="120" y="2334"/>
                    <a:pt x="266" y="2334"/>
                  </a:cubicBezTo>
                  <a:cubicBezTo>
                    <a:pt x="912" y="2334"/>
                    <a:pt x="1437" y="1811"/>
                    <a:pt x="1437" y="1167"/>
                  </a:cubicBezTo>
                  <a:cubicBezTo>
                    <a:pt x="1438" y="524"/>
                    <a:pt x="912" y="1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39"/>
            <p:cNvSpPr/>
            <p:nvPr/>
          </p:nvSpPr>
          <p:spPr>
            <a:xfrm>
              <a:off x="1338244" y="2443319"/>
              <a:ext cx="62919" cy="107761"/>
            </a:xfrm>
            <a:custGeom>
              <a:avLst/>
              <a:gdLst/>
              <a:ahLst/>
              <a:cxnLst/>
              <a:rect l="l" t="t" r="r" b="b"/>
              <a:pathLst>
                <a:path w="1897" h="3249" extrusionOk="0">
                  <a:moveTo>
                    <a:pt x="266" y="1"/>
                  </a:moveTo>
                  <a:cubicBezTo>
                    <a:pt x="120" y="1"/>
                    <a:pt x="1" y="120"/>
                    <a:pt x="1" y="267"/>
                  </a:cubicBezTo>
                  <a:cubicBezTo>
                    <a:pt x="1" y="414"/>
                    <a:pt x="120" y="533"/>
                    <a:pt x="266" y="533"/>
                  </a:cubicBezTo>
                  <a:cubicBezTo>
                    <a:pt x="872" y="533"/>
                    <a:pt x="1365" y="1022"/>
                    <a:pt x="1365" y="1625"/>
                  </a:cubicBezTo>
                  <a:cubicBezTo>
                    <a:pt x="1365" y="2228"/>
                    <a:pt x="872" y="2718"/>
                    <a:pt x="266" y="2718"/>
                  </a:cubicBezTo>
                  <a:cubicBezTo>
                    <a:pt x="120" y="2718"/>
                    <a:pt x="1" y="2837"/>
                    <a:pt x="1" y="2982"/>
                  </a:cubicBezTo>
                  <a:cubicBezTo>
                    <a:pt x="1" y="3130"/>
                    <a:pt x="120" y="3248"/>
                    <a:pt x="266" y="3248"/>
                  </a:cubicBezTo>
                  <a:cubicBezTo>
                    <a:pt x="1166" y="3248"/>
                    <a:pt x="1897" y="2520"/>
                    <a:pt x="1897" y="1625"/>
                  </a:cubicBezTo>
                  <a:cubicBezTo>
                    <a:pt x="1897" y="730"/>
                    <a:pt x="1166" y="1"/>
                    <a:pt x="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39"/>
            <p:cNvSpPr/>
            <p:nvPr/>
          </p:nvSpPr>
          <p:spPr>
            <a:xfrm>
              <a:off x="1731544" y="2442954"/>
              <a:ext cx="60166" cy="59934"/>
            </a:xfrm>
            <a:custGeom>
              <a:avLst/>
              <a:gdLst/>
              <a:ahLst/>
              <a:cxnLst/>
              <a:rect l="l" t="t" r="r" b="b"/>
              <a:pathLst>
                <a:path w="1814" h="1807" extrusionOk="0">
                  <a:moveTo>
                    <a:pt x="907" y="532"/>
                  </a:moveTo>
                  <a:cubicBezTo>
                    <a:pt x="1113" y="532"/>
                    <a:pt x="1282" y="699"/>
                    <a:pt x="1282" y="903"/>
                  </a:cubicBezTo>
                  <a:cubicBezTo>
                    <a:pt x="1282" y="1108"/>
                    <a:pt x="1113" y="1275"/>
                    <a:pt x="907" y="1275"/>
                  </a:cubicBezTo>
                  <a:cubicBezTo>
                    <a:pt x="701" y="1275"/>
                    <a:pt x="532" y="1108"/>
                    <a:pt x="532" y="903"/>
                  </a:cubicBezTo>
                  <a:cubicBezTo>
                    <a:pt x="532" y="699"/>
                    <a:pt x="701" y="532"/>
                    <a:pt x="907" y="532"/>
                  </a:cubicBezTo>
                  <a:close/>
                  <a:moveTo>
                    <a:pt x="907" y="0"/>
                  </a:moveTo>
                  <a:cubicBezTo>
                    <a:pt x="407" y="0"/>
                    <a:pt x="0" y="405"/>
                    <a:pt x="0" y="903"/>
                  </a:cubicBezTo>
                  <a:cubicBezTo>
                    <a:pt x="0" y="1401"/>
                    <a:pt x="407" y="1807"/>
                    <a:pt x="907" y="1807"/>
                  </a:cubicBezTo>
                  <a:cubicBezTo>
                    <a:pt x="1407" y="1807"/>
                    <a:pt x="1814" y="1401"/>
                    <a:pt x="1814" y="903"/>
                  </a:cubicBezTo>
                  <a:cubicBezTo>
                    <a:pt x="1814" y="405"/>
                    <a:pt x="1407" y="0"/>
                    <a:pt x="9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39"/>
            <p:cNvSpPr/>
            <p:nvPr/>
          </p:nvSpPr>
          <p:spPr>
            <a:xfrm>
              <a:off x="1761030" y="2668626"/>
              <a:ext cx="60133" cy="59934"/>
            </a:xfrm>
            <a:custGeom>
              <a:avLst/>
              <a:gdLst/>
              <a:ahLst/>
              <a:cxnLst/>
              <a:rect l="l" t="t" r="r" b="b"/>
              <a:pathLst>
                <a:path w="1813" h="1807" extrusionOk="0">
                  <a:moveTo>
                    <a:pt x="906" y="533"/>
                  </a:moveTo>
                  <a:cubicBezTo>
                    <a:pt x="1112" y="533"/>
                    <a:pt x="1281" y="699"/>
                    <a:pt x="1281" y="903"/>
                  </a:cubicBezTo>
                  <a:cubicBezTo>
                    <a:pt x="1281" y="1109"/>
                    <a:pt x="1112" y="1275"/>
                    <a:pt x="906" y="1275"/>
                  </a:cubicBezTo>
                  <a:cubicBezTo>
                    <a:pt x="700" y="1275"/>
                    <a:pt x="531" y="1109"/>
                    <a:pt x="531" y="903"/>
                  </a:cubicBezTo>
                  <a:cubicBezTo>
                    <a:pt x="531" y="699"/>
                    <a:pt x="700" y="533"/>
                    <a:pt x="906" y="533"/>
                  </a:cubicBezTo>
                  <a:close/>
                  <a:moveTo>
                    <a:pt x="906" y="1"/>
                  </a:moveTo>
                  <a:cubicBezTo>
                    <a:pt x="407" y="1"/>
                    <a:pt x="1" y="405"/>
                    <a:pt x="1" y="903"/>
                  </a:cubicBezTo>
                  <a:cubicBezTo>
                    <a:pt x="1" y="1401"/>
                    <a:pt x="407" y="1807"/>
                    <a:pt x="906" y="1807"/>
                  </a:cubicBezTo>
                  <a:cubicBezTo>
                    <a:pt x="1406" y="1807"/>
                    <a:pt x="1813" y="1401"/>
                    <a:pt x="1813" y="903"/>
                  </a:cubicBezTo>
                  <a:cubicBezTo>
                    <a:pt x="1813" y="405"/>
                    <a:pt x="1406" y="1"/>
                    <a:pt x="9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39"/>
            <p:cNvSpPr/>
            <p:nvPr/>
          </p:nvSpPr>
          <p:spPr>
            <a:xfrm>
              <a:off x="1725408" y="2546768"/>
              <a:ext cx="77280" cy="76119"/>
            </a:xfrm>
            <a:custGeom>
              <a:avLst/>
              <a:gdLst/>
              <a:ahLst/>
              <a:cxnLst/>
              <a:rect l="l" t="t" r="r" b="b"/>
              <a:pathLst>
                <a:path w="2330" h="2295" extrusionOk="0">
                  <a:moveTo>
                    <a:pt x="1423" y="1020"/>
                  </a:moveTo>
                  <a:cubicBezTo>
                    <a:pt x="1629" y="1020"/>
                    <a:pt x="1797" y="1187"/>
                    <a:pt x="1797" y="1391"/>
                  </a:cubicBezTo>
                  <a:cubicBezTo>
                    <a:pt x="1797" y="1596"/>
                    <a:pt x="1629" y="1763"/>
                    <a:pt x="1423" y="1763"/>
                  </a:cubicBezTo>
                  <a:cubicBezTo>
                    <a:pt x="1216" y="1763"/>
                    <a:pt x="1048" y="1596"/>
                    <a:pt x="1048" y="1391"/>
                  </a:cubicBezTo>
                  <a:cubicBezTo>
                    <a:pt x="1048" y="1187"/>
                    <a:pt x="1216" y="1020"/>
                    <a:pt x="1423" y="1020"/>
                  </a:cubicBezTo>
                  <a:close/>
                  <a:moveTo>
                    <a:pt x="292" y="0"/>
                  </a:moveTo>
                  <a:cubicBezTo>
                    <a:pt x="224" y="0"/>
                    <a:pt x="156" y="27"/>
                    <a:pt x="104" y="79"/>
                  </a:cubicBezTo>
                  <a:cubicBezTo>
                    <a:pt x="1" y="183"/>
                    <a:pt x="1" y="351"/>
                    <a:pt x="104" y="455"/>
                  </a:cubicBezTo>
                  <a:lnTo>
                    <a:pt x="622" y="969"/>
                  </a:lnTo>
                  <a:cubicBezTo>
                    <a:pt x="555" y="1096"/>
                    <a:pt x="516" y="1239"/>
                    <a:pt x="516" y="1391"/>
                  </a:cubicBezTo>
                  <a:cubicBezTo>
                    <a:pt x="516" y="1889"/>
                    <a:pt x="923" y="2295"/>
                    <a:pt x="1423" y="2295"/>
                  </a:cubicBezTo>
                  <a:cubicBezTo>
                    <a:pt x="1923" y="2295"/>
                    <a:pt x="2328" y="1889"/>
                    <a:pt x="2328" y="1391"/>
                  </a:cubicBezTo>
                  <a:cubicBezTo>
                    <a:pt x="2329" y="893"/>
                    <a:pt x="1923" y="488"/>
                    <a:pt x="1423" y="488"/>
                  </a:cubicBezTo>
                  <a:cubicBezTo>
                    <a:pt x="1270" y="488"/>
                    <a:pt x="1125" y="527"/>
                    <a:pt x="997" y="593"/>
                  </a:cubicBezTo>
                  <a:lnTo>
                    <a:pt x="480" y="78"/>
                  </a:lnTo>
                  <a:cubicBezTo>
                    <a:pt x="428" y="26"/>
                    <a:pt x="360" y="0"/>
                    <a:pt x="2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39"/>
            <p:cNvSpPr/>
            <p:nvPr/>
          </p:nvSpPr>
          <p:spPr>
            <a:xfrm>
              <a:off x="1722655" y="2760698"/>
              <a:ext cx="60133" cy="59934"/>
            </a:xfrm>
            <a:custGeom>
              <a:avLst/>
              <a:gdLst/>
              <a:ahLst/>
              <a:cxnLst/>
              <a:rect l="l" t="t" r="r" b="b"/>
              <a:pathLst>
                <a:path w="1813" h="1807" extrusionOk="0">
                  <a:moveTo>
                    <a:pt x="906" y="532"/>
                  </a:moveTo>
                  <a:cubicBezTo>
                    <a:pt x="1113" y="532"/>
                    <a:pt x="1281" y="698"/>
                    <a:pt x="1281" y="903"/>
                  </a:cubicBezTo>
                  <a:cubicBezTo>
                    <a:pt x="1281" y="1108"/>
                    <a:pt x="1113" y="1274"/>
                    <a:pt x="906" y="1274"/>
                  </a:cubicBezTo>
                  <a:cubicBezTo>
                    <a:pt x="700" y="1274"/>
                    <a:pt x="532" y="1108"/>
                    <a:pt x="532" y="903"/>
                  </a:cubicBezTo>
                  <a:cubicBezTo>
                    <a:pt x="532" y="698"/>
                    <a:pt x="700" y="532"/>
                    <a:pt x="906" y="532"/>
                  </a:cubicBezTo>
                  <a:close/>
                  <a:moveTo>
                    <a:pt x="906" y="0"/>
                  </a:moveTo>
                  <a:cubicBezTo>
                    <a:pt x="407" y="0"/>
                    <a:pt x="0" y="405"/>
                    <a:pt x="0" y="903"/>
                  </a:cubicBezTo>
                  <a:cubicBezTo>
                    <a:pt x="0" y="1400"/>
                    <a:pt x="407" y="1806"/>
                    <a:pt x="906" y="1806"/>
                  </a:cubicBezTo>
                  <a:cubicBezTo>
                    <a:pt x="1406" y="1806"/>
                    <a:pt x="1813" y="1400"/>
                    <a:pt x="1813" y="903"/>
                  </a:cubicBezTo>
                  <a:cubicBezTo>
                    <a:pt x="1813" y="405"/>
                    <a:pt x="1406" y="0"/>
                    <a:pt x="9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39"/>
            <p:cNvSpPr/>
            <p:nvPr/>
          </p:nvSpPr>
          <p:spPr>
            <a:xfrm>
              <a:off x="1230449" y="2288393"/>
              <a:ext cx="510547" cy="601957"/>
            </a:xfrm>
            <a:custGeom>
              <a:avLst/>
              <a:gdLst/>
              <a:ahLst/>
              <a:cxnLst/>
              <a:rect l="l" t="t" r="r" b="b"/>
              <a:pathLst>
                <a:path w="15393" h="18149" extrusionOk="0">
                  <a:moveTo>
                    <a:pt x="11924" y="2067"/>
                  </a:moveTo>
                  <a:cubicBezTo>
                    <a:pt x="12131" y="2067"/>
                    <a:pt x="12299" y="2234"/>
                    <a:pt x="12299" y="2439"/>
                  </a:cubicBezTo>
                  <a:cubicBezTo>
                    <a:pt x="12299" y="2643"/>
                    <a:pt x="12131" y="2810"/>
                    <a:pt x="11924" y="2810"/>
                  </a:cubicBezTo>
                  <a:cubicBezTo>
                    <a:pt x="11718" y="2810"/>
                    <a:pt x="11550" y="2643"/>
                    <a:pt x="11550" y="2439"/>
                  </a:cubicBezTo>
                  <a:cubicBezTo>
                    <a:pt x="11550" y="2234"/>
                    <a:pt x="11718" y="2067"/>
                    <a:pt x="11924" y="2067"/>
                  </a:cubicBezTo>
                  <a:close/>
                  <a:moveTo>
                    <a:pt x="14486" y="2561"/>
                  </a:moveTo>
                  <a:cubicBezTo>
                    <a:pt x="14693" y="2561"/>
                    <a:pt x="14861" y="2727"/>
                    <a:pt x="14861" y="2932"/>
                  </a:cubicBezTo>
                  <a:cubicBezTo>
                    <a:pt x="14861" y="3137"/>
                    <a:pt x="14693" y="3303"/>
                    <a:pt x="14486" y="3303"/>
                  </a:cubicBezTo>
                  <a:cubicBezTo>
                    <a:pt x="14280" y="3303"/>
                    <a:pt x="14111" y="3137"/>
                    <a:pt x="14111" y="2932"/>
                  </a:cubicBezTo>
                  <a:cubicBezTo>
                    <a:pt x="14111" y="2727"/>
                    <a:pt x="14280" y="2561"/>
                    <a:pt x="14486" y="2561"/>
                  </a:cubicBezTo>
                  <a:close/>
                  <a:moveTo>
                    <a:pt x="11967" y="8060"/>
                  </a:moveTo>
                  <a:cubicBezTo>
                    <a:pt x="12173" y="8060"/>
                    <a:pt x="12340" y="8226"/>
                    <a:pt x="12340" y="8431"/>
                  </a:cubicBezTo>
                  <a:cubicBezTo>
                    <a:pt x="12340" y="8636"/>
                    <a:pt x="12173" y="8802"/>
                    <a:pt x="11967" y="8802"/>
                  </a:cubicBezTo>
                  <a:cubicBezTo>
                    <a:pt x="11759" y="8802"/>
                    <a:pt x="11592" y="8636"/>
                    <a:pt x="11592" y="8431"/>
                  </a:cubicBezTo>
                  <a:cubicBezTo>
                    <a:pt x="11592" y="8226"/>
                    <a:pt x="11759" y="8060"/>
                    <a:pt x="11967" y="8060"/>
                  </a:cubicBezTo>
                  <a:close/>
                  <a:moveTo>
                    <a:pt x="14073" y="10526"/>
                  </a:moveTo>
                  <a:cubicBezTo>
                    <a:pt x="14280" y="10526"/>
                    <a:pt x="14448" y="10693"/>
                    <a:pt x="14448" y="10898"/>
                  </a:cubicBezTo>
                  <a:cubicBezTo>
                    <a:pt x="14448" y="11102"/>
                    <a:pt x="14280" y="11269"/>
                    <a:pt x="14073" y="11269"/>
                  </a:cubicBezTo>
                  <a:cubicBezTo>
                    <a:pt x="13867" y="11269"/>
                    <a:pt x="13699" y="11102"/>
                    <a:pt x="13699" y="10898"/>
                  </a:cubicBezTo>
                  <a:cubicBezTo>
                    <a:pt x="13699" y="10693"/>
                    <a:pt x="13867" y="10526"/>
                    <a:pt x="14073" y="10526"/>
                  </a:cubicBezTo>
                  <a:close/>
                  <a:moveTo>
                    <a:pt x="13619" y="12838"/>
                  </a:moveTo>
                  <a:cubicBezTo>
                    <a:pt x="13825" y="12838"/>
                    <a:pt x="13993" y="13006"/>
                    <a:pt x="13993" y="13210"/>
                  </a:cubicBezTo>
                  <a:cubicBezTo>
                    <a:pt x="13993" y="13416"/>
                    <a:pt x="13825" y="13582"/>
                    <a:pt x="13619" y="13582"/>
                  </a:cubicBezTo>
                  <a:cubicBezTo>
                    <a:pt x="13412" y="13582"/>
                    <a:pt x="13244" y="13416"/>
                    <a:pt x="13244" y="13210"/>
                  </a:cubicBezTo>
                  <a:cubicBezTo>
                    <a:pt x="13244" y="13006"/>
                    <a:pt x="13412" y="12838"/>
                    <a:pt x="13619" y="12838"/>
                  </a:cubicBezTo>
                  <a:close/>
                  <a:moveTo>
                    <a:pt x="13371" y="16210"/>
                  </a:moveTo>
                  <a:cubicBezTo>
                    <a:pt x="13577" y="16210"/>
                    <a:pt x="13745" y="16377"/>
                    <a:pt x="13745" y="16582"/>
                  </a:cubicBezTo>
                  <a:cubicBezTo>
                    <a:pt x="13745" y="16786"/>
                    <a:pt x="13577" y="16953"/>
                    <a:pt x="13371" y="16953"/>
                  </a:cubicBezTo>
                  <a:cubicBezTo>
                    <a:pt x="13165" y="16953"/>
                    <a:pt x="12996" y="16786"/>
                    <a:pt x="12996" y="16582"/>
                  </a:cubicBezTo>
                  <a:cubicBezTo>
                    <a:pt x="12996" y="16377"/>
                    <a:pt x="13165" y="16210"/>
                    <a:pt x="13371" y="16210"/>
                  </a:cubicBezTo>
                  <a:close/>
                  <a:moveTo>
                    <a:pt x="8299" y="0"/>
                  </a:moveTo>
                  <a:cubicBezTo>
                    <a:pt x="7455" y="0"/>
                    <a:pt x="6697" y="492"/>
                    <a:pt x="6352" y="1245"/>
                  </a:cubicBezTo>
                  <a:cubicBezTo>
                    <a:pt x="6299" y="1240"/>
                    <a:pt x="6246" y="1238"/>
                    <a:pt x="6193" y="1238"/>
                  </a:cubicBezTo>
                  <a:cubicBezTo>
                    <a:pt x="4966" y="1238"/>
                    <a:pt x="3964" y="2219"/>
                    <a:pt x="3935" y="3435"/>
                  </a:cubicBezTo>
                  <a:cubicBezTo>
                    <a:pt x="3830" y="3419"/>
                    <a:pt x="3722" y="3411"/>
                    <a:pt x="3615" y="3411"/>
                  </a:cubicBezTo>
                  <a:cubicBezTo>
                    <a:pt x="2370" y="3411"/>
                    <a:pt x="1356" y="4420"/>
                    <a:pt x="1356" y="5660"/>
                  </a:cubicBezTo>
                  <a:cubicBezTo>
                    <a:pt x="1356" y="5933"/>
                    <a:pt x="1403" y="6195"/>
                    <a:pt x="1498" y="6446"/>
                  </a:cubicBezTo>
                  <a:cubicBezTo>
                    <a:pt x="569" y="6997"/>
                    <a:pt x="1" y="7983"/>
                    <a:pt x="1" y="9074"/>
                  </a:cubicBezTo>
                  <a:cubicBezTo>
                    <a:pt x="1" y="9661"/>
                    <a:pt x="168" y="10231"/>
                    <a:pt x="483" y="10721"/>
                  </a:cubicBezTo>
                  <a:cubicBezTo>
                    <a:pt x="744" y="11127"/>
                    <a:pt x="1094" y="11464"/>
                    <a:pt x="1507" y="11708"/>
                  </a:cubicBezTo>
                  <a:cubicBezTo>
                    <a:pt x="1408" y="11965"/>
                    <a:pt x="1356" y="12239"/>
                    <a:pt x="1356" y="12515"/>
                  </a:cubicBezTo>
                  <a:cubicBezTo>
                    <a:pt x="1356" y="13062"/>
                    <a:pt x="1555" y="13590"/>
                    <a:pt x="1919" y="14001"/>
                  </a:cubicBezTo>
                  <a:cubicBezTo>
                    <a:pt x="1971" y="14060"/>
                    <a:pt x="2044" y="14090"/>
                    <a:pt x="2118" y="14090"/>
                  </a:cubicBezTo>
                  <a:cubicBezTo>
                    <a:pt x="2180" y="14090"/>
                    <a:pt x="2243" y="14068"/>
                    <a:pt x="2294" y="14023"/>
                  </a:cubicBezTo>
                  <a:cubicBezTo>
                    <a:pt x="2404" y="13926"/>
                    <a:pt x="2415" y="13758"/>
                    <a:pt x="2317" y="13649"/>
                  </a:cubicBezTo>
                  <a:cubicBezTo>
                    <a:pt x="2040" y="13335"/>
                    <a:pt x="1888" y="12933"/>
                    <a:pt x="1888" y="12515"/>
                  </a:cubicBezTo>
                  <a:cubicBezTo>
                    <a:pt x="1888" y="12234"/>
                    <a:pt x="1954" y="11966"/>
                    <a:pt x="2085" y="11718"/>
                  </a:cubicBezTo>
                  <a:cubicBezTo>
                    <a:pt x="2241" y="11423"/>
                    <a:pt x="2484" y="11172"/>
                    <a:pt x="2791" y="11006"/>
                  </a:cubicBezTo>
                  <a:cubicBezTo>
                    <a:pt x="2919" y="10936"/>
                    <a:pt x="2967" y="10775"/>
                    <a:pt x="2897" y="10645"/>
                  </a:cubicBezTo>
                  <a:cubicBezTo>
                    <a:pt x="2849" y="10557"/>
                    <a:pt x="2758" y="10507"/>
                    <a:pt x="2663" y="10507"/>
                  </a:cubicBezTo>
                  <a:cubicBezTo>
                    <a:pt x="2621" y="10507"/>
                    <a:pt x="2577" y="10517"/>
                    <a:pt x="2537" y="10539"/>
                  </a:cubicBezTo>
                  <a:cubicBezTo>
                    <a:pt x="2220" y="10711"/>
                    <a:pt x="1955" y="10952"/>
                    <a:pt x="1757" y="11238"/>
                  </a:cubicBezTo>
                  <a:cubicBezTo>
                    <a:pt x="997" y="10780"/>
                    <a:pt x="533" y="9972"/>
                    <a:pt x="533" y="9074"/>
                  </a:cubicBezTo>
                  <a:cubicBezTo>
                    <a:pt x="533" y="8115"/>
                    <a:pt x="1065" y="7255"/>
                    <a:pt x="1922" y="6820"/>
                  </a:cubicBezTo>
                  <a:cubicBezTo>
                    <a:pt x="1922" y="6820"/>
                    <a:pt x="2419" y="6544"/>
                    <a:pt x="3077" y="6544"/>
                  </a:cubicBezTo>
                  <a:cubicBezTo>
                    <a:pt x="3225" y="6544"/>
                    <a:pt x="3343" y="6424"/>
                    <a:pt x="3343" y="6278"/>
                  </a:cubicBezTo>
                  <a:cubicBezTo>
                    <a:pt x="3343" y="6131"/>
                    <a:pt x="3224" y="6013"/>
                    <a:pt x="3077" y="6013"/>
                  </a:cubicBezTo>
                  <a:cubicBezTo>
                    <a:pt x="2691" y="6013"/>
                    <a:pt x="2321" y="6084"/>
                    <a:pt x="1980" y="6214"/>
                  </a:cubicBezTo>
                  <a:cubicBezTo>
                    <a:pt x="1920" y="6036"/>
                    <a:pt x="1888" y="5852"/>
                    <a:pt x="1888" y="5661"/>
                  </a:cubicBezTo>
                  <a:cubicBezTo>
                    <a:pt x="1888" y="4714"/>
                    <a:pt x="2662" y="3943"/>
                    <a:pt x="3615" y="3943"/>
                  </a:cubicBezTo>
                  <a:cubicBezTo>
                    <a:pt x="3794" y="3943"/>
                    <a:pt x="3971" y="3971"/>
                    <a:pt x="4141" y="4025"/>
                  </a:cubicBezTo>
                  <a:cubicBezTo>
                    <a:pt x="4167" y="4033"/>
                    <a:pt x="4194" y="4037"/>
                    <a:pt x="4221" y="4037"/>
                  </a:cubicBezTo>
                  <a:cubicBezTo>
                    <a:pt x="4283" y="4037"/>
                    <a:pt x="4344" y="4015"/>
                    <a:pt x="4393" y="3974"/>
                  </a:cubicBezTo>
                  <a:cubicBezTo>
                    <a:pt x="4463" y="3915"/>
                    <a:pt x="4498" y="3824"/>
                    <a:pt x="4485" y="3733"/>
                  </a:cubicBezTo>
                  <a:cubicBezTo>
                    <a:pt x="4472" y="3651"/>
                    <a:pt x="4467" y="3568"/>
                    <a:pt x="4467" y="3487"/>
                  </a:cubicBezTo>
                  <a:cubicBezTo>
                    <a:pt x="4467" y="2540"/>
                    <a:pt x="5241" y="1770"/>
                    <a:pt x="6193" y="1770"/>
                  </a:cubicBezTo>
                  <a:cubicBezTo>
                    <a:pt x="6287" y="1770"/>
                    <a:pt x="6383" y="1778"/>
                    <a:pt x="6478" y="1794"/>
                  </a:cubicBezTo>
                  <a:cubicBezTo>
                    <a:pt x="7295" y="1929"/>
                    <a:pt x="7920" y="2637"/>
                    <a:pt x="7920" y="3487"/>
                  </a:cubicBezTo>
                  <a:cubicBezTo>
                    <a:pt x="7920" y="3635"/>
                    <a:pt x="8039" y="3753"/>
                    <a:pt x="8186" y="3753"/>
                  </a:cubicBezTo>
                  <a:cubicBezTo>
                    <a:pt x="8333" y="3753"/>
                    <a:pt x="8452" y="3634"/>
                    <a:pt x="8452" y="3487"/>
                  </a:cubicBezTo>
                  <a:cubicBezTo>
                    <a:pt x="8452" y="2491"/>
                    <a:pt x="7798" y="1645"/>
                    <a:pt x="6894" y="1350"/>
                  </a:cubicBezTo>
                  <a:cubicBezTo>
                    <a:pt x="7176" y="851"/>
                    <a:pt x="7709" y="532"/>
                    <a:pt x="8299" y="532"/>
                  </a:cubicBezTo>
                  <a:cubicBezTo>
                    <a:pt x="9187" y="532"/>
                    <a:pt x="9910" y="1250"/>
                    <a:pt x="9910" y="2133"/>
                  </a:cubicBezTo>
                  <a:lnTo>
                    <a:pt x="9910" y="2162"/>
                  </a:lnTo>
                  <a:lnTo>
                    <a:pt x="9399" y="2162"/>
                  </a:lnTo>
                  <a:cubicBezTo>
                    <a:pt x="9251" y="2162"/>
                    <a:pt x="9133" y="2281"/>
                    <a:pt x="9133" y="2428"/>
                  </a:cubicBezTo>
                  <a:cubicBezTo>
                    <a:pt x="9133" y="2575"/>
                    <a:pt x="9251" y="2694"/>
                    <a:pt x="9399" y="2694"/>
                  </a:cubicBezTo>
                  <a:lnTo>
                    <a:pt x="9910" y="2694"/>
                  </a:lnTo>
                  <a:lnTo>
                    <a:pt x="9910" y="4464"/>
                  </a:lnTo>
                  <a:lnTo>
                    <a:pt x="7759" y="4464"/>
                  </a:lnTo>
                  <a:cubicBezTo>
                    <a:pt x="7273" y="4464"/>
                    <a:pt x="6877" y="4071"/>
                    <a:pt x="6877" y="3588"/>
                  </a:cubicBezTo>
                  <a:cubicBezTo>
                    <a:pt x="6877" y="3441"/>
                    <a:pt x="6758" y="3322"/>
                    <a:pt x="6611" y="3322"/>
                  </a:cubicBezTo>
                  <a:cubicBezTo>
                    <a:pt x="6464" y="3322"/>
                    <a:pt x="6345" y="3441"/>
                    <a:pt x="6345" y="3588"/>
                  </a:cubicBezTo>
                  <a:cubicBezTo>
                    <a:pt x="6345" y="4365"/>
                    <a:pt x="6980" y="4996"/>
                    <a:pt x="7760" y="4996"/>
                  </a:cubicBezTo>
                  <a:lnTo>
                    <a:pt x="9910" y="4996"/>
                  </a:lnTo>
                  <a:lnTo>
                    <a:pt x="9910" y="9472"/>
                  </a:lnTo>
                  <a:lnTo>
                    <a:pt x="5597" y="9472"/>
                  </a:lnTo>
                  <a:cubicBezTo>
                    <a:pt x="5450" y="9472"/>
                    <a:pt x="5331" y="9591"/>
                    <a:pt x="5331" y="9738"/>
                  </a:cubicBezTo>
                  <a:cubicBezTo>
                    <a:pt x="5331" y="9885"/>
                    <a:pt x="5450" y="10004"/>
                    <a:pt x="5597" y="10004"/>
                  </a:cubicBezTo>
                  <a:lnTo>
                    <a:pt x="9910" y="10004"/>
                  </a:lnTo>
                  <a:lnTo>
                    <a:pt x="9910" y="13654"/>
                  </a:lnTo>
                  <a:lnTo>
                    <a:pt x="9088" y="13654"/>
                  </a:lnTo>
                  <a:cubicBezTo>
                    <a:pt x="8338" y="13654"/>
                    <a:pt x="7727" y="14262"/>
                    <a:pt x="7727" y="15009"/>
                  </a:cubicBezTo>
                  <a:cubicBezTo>
                    <a:pt x="7727" y="15156"/>
                    <a:pt x="7846" y="15275"/>
                    <a:pt x="7993" y="15275"/>
                  </a:cubicBezTo>
                  <a:cubicBezTo>
                    <a:pt x="8140" y="15275"/>
                    <a:pt x="8259" y="15156"/>
                    <a:pt x="8259" y="15009"/>
                  </a:cubicBezTo>
                  <a:cubicBezTo>
                    <a:pt x="8259" y="14555"/>
                    <a:pt x="8631" y="14186"/>
                    <a:pt x="9088" y="14186"/>
                  </a:cubicBezTo>
                  <a:lnTo>
                    <a:pt x="9909" y="14186"/>
                  </a:lnTo>
                  <a:lnTo>
                    <a:pt x="9909" y="16016"/>
                  </a:lnTo>
                  <a:cubicBezTo>
                    <a:pt x="9909" y="16058"/>
                    <a:pt x="9907" y="16099"/>
                    <a:pt x="9904" y="16141"/>
                  </a:cubicBezTo>
                  <a:lnTo>
                    <a:pt x="9398" y="16141"/>
                  </a:lnTo>
                  <a:cubicBezTo>
                    <a:pt x="9251" y="16141"/>
                    <a:pt x="9133" y="16260"/>
                    <a:pt x="9133" y="16406"/>
                  </a:cubicBezTo>
                  <a:cubicBezTo>
                    <a:pt x="9133" y="16553"/>
                    <a:pt x="9251" y="16672"/>
                    <a:pt x="9398" y="16672"/>
                  </a:cubicBezTo>
                  <a:lnTo>
                    <a:pt x="9767" y="16672"/>
                  </a:lnTo>
                  <a:cubicBezTo>
                    <a:pt x="9515" y="17229"/>
                    <a:pt x="8952" y="17618"/>
                    <a:pt x="8299" y="17618"/>
                  </a:cubicBezTo>
                  <a:cubicBezTo>
                    <a:pt x="7713" y="17618"/>
                    <a:pt x="7181" y="17302"/>
                    <a:pt x="6899" y="16807"/>
                  </a:cubicBezTo>
                  <a:cubicBezTo>
                    <a:pt x="7220" y="16702"/>
                    <a:pt x="7516" y="16526"/>
                    <a:pt x="7765" y="16285"/>
                  </a:cubicBezTo>
                  <a:cubicBezTo>
                    <a:pt x="7871" y="16184"/>
                    <a:pt x="7873" y="16015"/>
                    <a:pt x="7771" y="15909"/>
                  </a:cubicBezTo>
                  <a:cubicBezTo>
                    <a:pt x="7719" y="15855"/>
                    <a:pt x="7650" y="15828"/>
                    <a:pt x="7580" y="15828"/>
                  </a:cubicBezTo>
                  <a:cubicBezTo>
                    <a:pt x="7513" y="15828"/>
                    <a:pt x="7447" y="15853"/>
                    <a:pt x="7395" y="15902"/>
                  </a:cubicBezTo>
                  <a:cubicBezTo>
                    <a:pt x="7142" y="16148"/>
                    <a:pt x="6825" y="16306"/>
                    <a:pt x="6482" y="16363"/>
                  </a:cubicBezTo>
                  <a:cubicBezTo>
                    <a:pt x="6385" y="16379"/>
                    <a:pt x="6288" y="16387"/>
                    <a:pt x="6193" y="16387"/>
                  </a:cubicBezTo>
                  <a:cubicBezTo>
                    <a:pt x="5241" y="16387"/>
                    <a:pt x="4466" y="15617"/>
                    <a:pt x="4466" y="14670"/>
                  </a:cubicBezTo>
                  <a:cubicBezTo>
                    <a:pt x="4466" y="14647"/>
                    <a:pt x="4468" y="14621"/>
                    <a:pt x="4469" y="14596"/>
                  </a:cubicBezTo>
                  <a:cubicBezTo>
                    <a:pt x="4684" y="14509"/>
                    <a:pt x="4885" y="14389"/>
                    <a:pt x="5065" y="14239"/>
                  </a:cubicBezTo>
                  <a:cubicBezTo>
                    <a:pt x="5178" y="14145"/>
                    <a:pt x="5193" y="13977"/>
                    <a:pt x="5099" y="13864"/>
                  </a:cubicBezTo>
                  <a:cubicBezTo>
                    <a:pt x="5046" y="13802"/>
                    <a:pt x="4972" y="13771"/>
                    <a:pt x="4897" y="13771"/>
                  </a:cubicBezTo>
                  <a:cubicBezTo>
                    <a:pt x="4837" y="13771"/>
                    <a:pt x="4775" y="13791"/>
                    <a:pt x="4724" y="13831"/>
                  </a:cubicBezTo>
                  <a:cubicBezTo>
                    <a:pt x="4286" y="14176"/>
                    <a:pt x="3858" y="14232"/>
                    <a:pt x="3606" y="14232"/>
                  </a:cubicBezTo>
                  <a:cubicBezTo>
                    <a:pt x="3551" y="14232"/>
                    <a:pt x="3505" y="14230"/>
                    <a:pt x="3468" y="14227"/>
                  </a:cubicBezTo>
                  <a:cubicBezTo>
                    <a:pt x="3461" y="14226"/>
                    <a:pt x="3453" y="14226"/>
                    <a:pt x="3446" y="14226"/>
                  </a:cubicBezTo>
                  <a:cubicBezTo>
                    <a:pt x="3308" y="14226"/>
                    <a:pt x="3192" y="14331"/>
                    <a:pt x="3182" y="14469"/>
                  </a:cubicBezTo>
                  <a:cubicBezTo>
                    <a:pt x="3169" y="14616"/>
                    <a:pt x="3278" y="14744"/>
                    <a:pt x="3424" y="14756"/>
                  </a:cubicBezTo>
                  <a:cubicBezTo>
                    <a:pt x="3487" y="14761"/>
                    <a:pt x="3551" y="14764"/>
                    <a:pt x="3614" y="14764"/>
                  </a:cubicBezTo>
                  <a:cubicBezTo>
                    <a:pt x="3722" y="14764"/>
                    <a:pt x="3829" y="14757"/>
                    <a:pt x="3935" y="14741"/>
                  </a:cubicBezTo>
                  <a:cubicBezTo>
                    <a:pt x="3973" y="15949"/>
                    <a:pt x="4971" y="16919"/>
                    <a:pt x="6193" y="16919"/>
                  </a:cubicBezTo>
                  <a:cubicBezTo>
                    <a:pt x="6247" y="16919"/>
                    <a:pt x="6301" y="16917"/>
                    <a:pt x="6355" y="16913"/>
                  </a:cubicBezTo>
                  <a:cubicBezTo>
                    <a:pt x="6703" y="17660"/>
                    <a:pt x="7459" y="18149"/>
                    <a:pt x="8299" y="18149"/>
                  </a:cubicBezTo>
                  <a:cubicBezTo>
                    <a:pt x="9480" y="18149"/>
                    <a:pt x="10441" y="17193"/>
                    <a:pt x="10441" y="16016"/>
                  </a:cubicBezTo>
                  <a:lnTo>
                    <a:pt x="10441" y="15429"/>
                  </a:lnTo>
                  <a:lnTo>
                    <a:pt x="11850" y="15429"/>
                  </a:lnTo>
                  <a:cubicBezTo>
                    <a:pt x="11879" y="15430"/>
                    <a:pt x="11945" y="15457"/>
                    <a:pt x="11965" y="15476"/>
                  </a:cubicBezTo>
                  <a:lnTo>
                    <a:pt x="12600" y="16108"/>
                  </a:lnTo>
                  <a:cubicBezTo>
                    <a:pt x="12514" y="16245"/>
                    <a:pt x="12464" y="16407"/>
                    <a:pt x="12464" y="16582"/>
                  </a:cubicBezTo>
                  <a:cubicBezTo>
                    <a:pt x="12464" y="17080"/>
                    <a:pt x="12871" y="17485"/>
                    <a:pt x="13370" y="17485"/>
                  </a:cubicBezTo>
                  <a:cubicBezTo>
                    <a:pt x="13870" y="17485"/>
                    <a:pt x="14277" y="17080"/>
                    <a:pt x="14277" y="16582"/>
                  </a:cubicBezTo>
                  <a:cubicBezTo>
                    <a:pt x="14277" y="16084"/>
                    <a:pt x="13870" y="15678"/>
                    <a:pt x="13370" y="15678"/>
                  </a:cubicBezTo>
                  <a:cubicBezTo>
                    <a:pt x="13239" y="15678"/>
                    <a:pt x="13114" y="15707"/>
                    <a:pt x="13001" y="15758"/>
                  </a:cubicBezTo>
                  <a:lnTo>
                    <a:pt x="12340" y="15099"/>
                  </a:lnTo>
                  <a:cubicBezTo>
                    <a:pt x="12221" y="14980"/>
                    <a:pt x="12019" y="14897"/>
                    <a:pt x="11850" y="14897"/>
                  </a:cubicBezTo>
                  <a:lnTo>
                    <a:pt x="10442" y="14897"/>
                  </a:lnTo>
                  <a:lnTo>
                    <a:pt x="10442" y="13476"/>
                  </a:lnTo>
                  <a:lnTo>
                    <a:pt x="12753" y="13476"/>
                  </a:lnTo>
                  <a:cubicBezTo>
                    <a:pt x="12867" y="13845"/>
                    <a:pt x="13212" y="14114"/>
                    <a:pt x="13619" y="14114"/>
                  </a:cubicBezTo>
                  <a:cubicBezTo>
                    <a:pt x="14119" y="14114"/>
                    <a:pt x="14525" y="13708"/>
                    <a:pt x="14525" y="13210"/>
                  </a:cubicBezTo>
                  <a:cubicBezTo>
                    <a:pt x="14525" y="12712"/>
                    <a:pt x="14119" y="12308"/>
                    <a:pt x="13619" y="12308"/>
                  </a:cubicBezTo>
                  <a:cubicBezTo>
                    <a:pt x="13212" y="12308"/>
                    <a:pt x="12867" y="12576"/>
                    <a:pt x="12753" y="12944"/>
                  </a:cubicBezTo>
                  <a:lnTo>
                    <a:pt x="10442" y="12944"/>
                  </a:lnTo>
                  <a:lnTo>
                    <a:pt x="10442" y="11164"/>
                  </a:lnTo>
                  <a:lnTo>
                    <a:pt x="13207" y="11164"/>
                  </a:lnTo>
                  <a:cubicBezTo>
                    <a:pt x="13321" y="11532"/>
                    <a:pt x="13667" y="11801"/>
                    <a:pt x="14073" y="11801"/>
                  </a:cubicBezTo>
                  <a:cubicBezTo>
                    <a:pt x="14573" y="11801"/>
                    <a:pt x="14980" y="11396"/>
                    <a:pt x="14980" y="10898"/>
                  </a:cubicBezTo>
                  <a:cubicBezTo>
                    <a:pt x="14980" y="10400"/>
                    <a:pt x="14572" y="9994"/>
                    <a:pt x="14073" y="9994"/>
                  </a:cubicBezTo>
                  <a:cubicBezTo>
                    <a:pt x="13667" y="9994"/>
                    <a:pt x="13321" y="10263"/>
                    <a:pt x="13207" y="10632"/>
                  </a:cubicBezTo>
                  <a:lnTo>
                    <a:pt x="10442" y="10632"/>
                  </a:lnTo>
                  <a:lnTo>
                    <a:pt x="10442" y="8697"/>
                  </a:lnTo>
                  <a:lnTo>
                    <a:pt x="11100" y="8697"/>
                  </a:lnTo>
                  <a:cubicBezTo>
                    <a:pt x="11214" y="9065"/>
                    <a:pt x="11559" y="9334"/>
                    <a:pt x="11967" y="9334"/>
                  </a:cubicBezTo>
                  <a:cubicBezTo>
                    <a:pt x="12466" y="9334"/>
                    <a:pt x="12872" y="8929"/>
                    <a:pt x="12872" y="8431"/>
                  </a:cubicBezTo>
                  <a:cubicBezTo>
                    <a:pt x="12872" y="7933"/>
                    <a:pt x="12466" y="7528"/>
                    <a:pt x="11967" y="7528"/>
                  </a:cubicBezTo>
                  <a:cubicBezTo>
                    <a:pt x="11559" y="7528"/>
                    <a:pt x="11214" y="7796"/>
                    <a:pt x="11100" y="8165"/>
                  </a:cubicBezTo>
                  <a:lnTo>
                    <a:pt x="10442" y="8165"/>
                  </a:lnTo>
                  <a:lnTo>
                    <a:pt x="10442" y="6631"/>
                  </a:lnTo>
                  <a:lnTo>
                    <a:pt x="13338" y="6631"/>
                  </a:lnTo>
                  <a:cubicBezTo>
                    <a:pt x="13367" y="6632"/>
                    <a:pt x="13433" y="6659"/>
                    <a:pt x="13453" y="6679"/>
                  </a:cubicBezTo>
                  <a:lnTo>
                    <a:pt x="13999" y="7222"/>
                  </a:lnTo>
                  <a:cubicBezTo>
                    <a:pt x="14052" y="7274"/>
                    <a:pt x="14120" y="7299"/>
                    <a:pt x="14187" y="7299"/>
                  </a:cubicBezTo>
                  <a:cubicBezTo>
                    <a:pt x="14255" y="7299"/>
                    <a:pt x="14324" y="7274"/>
                    <a:pt x="14375" y="7221"/>
                  </a:cubicBezTo>
                  <a:cubicBezTo>
                    <a:pt x="14479" y="7117"/>
                    <a:pt x="14479" y="6949"/>
                    <a:pt x="14374" y="6845"/>
                  </a:cubicBezTo>
                  <a:lnTo>
                    <a:pt x="13828" y="6302"/>
                  </a:lnTo>
                  <a:cubicBezTo>
                    <a:pt x="13709" y="6182"/>
                    <a:pt x="13508" y="6099"/>
                    <a:pt x="13338" y="6099"/>
                  </a:cubicBezTo>
                  <a:lnTo>
                    <a:pt x="10442" y="6099"/>
                  </a:lnTo>
                  <a:lnTo>
                    <a:pt x="10442" y="4996"/>
                  </a:lnTo>
                  <a:lnTo>
                    <a:pt x="12636" y="4996"/>
                  </a:lnTo>
                  <a:cubicBezTo>
                    <a:pt x="12804" y="4996"/>
                    <a:pt x="13007" y="4913"/>
                    <a:pt x="13126" y="4794"/>
                  </a:cubicBezTo>
                  <a:lnTo>
                    <a:pt x="14153" y="3771"/>
                  </a:lnTo>
                  <a:cubicBezTo>
                    <a:pt x="14256" y="3812"/>
                    <a:pt x="14369" y="3835"/>
                    <a:pt x="14486" y="3835"/>
                  </a:cubicBezTo>
                  <a:cubicBezTo>
                    <a:pt x="14986" y="3835"/>
                    <a:pt x="15393" y="3429"/>
                    <a:pt x="15393" y="2931"/>
                  </a:cubicBezTo>
                  <a:cubicBezTo>
                    <a:pt x="15393" y="2433"/>
                    <a:pt x="14986" y="2029"/>
                    <a:pt x="14486" y="2029"/>
                  </a:cubicBezTo>
                  <a:cubicBezTo>
                    <a:pt x="13987" y="2029"/>
                    <a:pt x="13581" y="2433"/>
                    <a:pt x="13581" y="2931"/>
                  </a:cubicBezTo>
                  <a:cubicBezTo>
                    <a:pt x="13581" y="3119"/>
                    <a:pt x="13637" y="3293"/>
                    <a:pt x="13736" y="3438"/>
                  </a:cubicBezTo>
                  <a:lnTo>
                    <a:pt x="12751" y="4416"/>
                  </a:lnTo>
                  <a:cubicBezTo>
                    <a:pt x="12730" y="4437"/>
                    <a:pt x="12665" y="4464"/>
                    <a:pt x="12636" y="4464"/>
                  </a:cubicBezTo>
                  <a:lnTo>
                    <a:pt x="10442" y="4464"/>
                  </a:lnTo>
                  <a:lnTo>
                    <a:pt x="10442" y="2705"/>
                  </a:lnTo>
                  <a:lnTo>
                    <a:pt x="11059" y="2705"/>
                  </a:lnTo>
                  <a:cubicBezTo>
                    <a:pt x="11173" y="3073"/>
                    <a:pt x="11518" y="3342"/>
                    <a:pt x="11924" y="3342"/>
                  </a:cubicBezTo>
                  <a:cubicBezTo>
                    <a:pt x="12424" y="3342"/>
                    <a:pt x="12831" y="2937"/>
                    <a:pt x="12831" y="2439"/>
                  </a:cubicBezTo>
                  <a:cubicBezTo>
                    <a:pt x="12831" y="1941"/>
                    <a:pt x="12424" y="1535"/>
                    <a:pt x="11924" y="1535"/>
                  </a:cubicBezTo>
                  <a:cubicBezTo>
                    <a:pt x="11518" y="1535"/>
                    <a:pt x="11173" y="1804"/>
                    <a:pt x="11059" y="2173"/>
                  </a:cubicBezTo>
                  <a:lnTo>
                    <a:pt x="10441" y="2173"/>
                  </a:lnTo>
                  <a:lnTo>
                    <a:pt x="10441" y="2133"/>
                  </a:lnTo>
                  <a:cubicBezTo>
                    <a:pt x="10441" y="956"/>
                    <a:pt x="9481" y="0"/>
                    <a:pt x="82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4" name="Google Shape;1364;p39"/>
          <p:cNvGrpSpPr/>
          <p:nvPr/>
        </p:nvGrpSpPr>
        <p:grpSpPr>
          <a:xfrm>
            <a:off x="6825426" y="1737164"/>
            <a:ext cx="585440" cy="602023"/>
            <a:chOff x="1888890" y="3144712"/>
            <a:chExt cx="585440" cy="602023"/>
          </a:xfrm>
        </p:grpSpPr>
        <p:sp>
          <p:nvSpPr>
            <p:cNvPr id="1365" name="Google Shape;1365;p39"/>
            <p:cNvSpPr/>
            <p:nvPr/>
          </p:nvSpPr>
          <p:spPr>
            <a:xfrm>
              <a:off x="2170085" y="3159206"/>
              <a:ext cx="53532" cy="53499"/>
            </a:xfrm>
            <a:custGeom>
              <a:avLst/>
              <a:gdLst/>
              <a:ahLst/>
              <a:cxnLst/>
              <a:rect l="l" t="t" r="r" b="b"/>
              <a:pathLst>
                <a:path w="1614" h="1613" extrusionOk="0">
                  <a:moveTo>
                    <a:pt x="1082" y="532"/>
                  </a:moveTo>
                  <a:lnTo>
                    <a:pt x="1082" y="1081"/>
                  </a:lnTo>
                  <a:lnTo>
                    <a:pt x="533" y="1081"/>
                  </a:lnTo>
                  <a:lnTo>
                    <a:pt x="533" y="532"/>
                  </a:lnTo>
                  <a:close/>
                  <a:moveTo>
                    <a:pt x="373" y="1"/>
                  </a:moveTo>
                  <a:cubicBezTo>
                    <a:pt x="168" y="1"/>
                    <a:pt x="1" y="167"/>
                    <a:pt x="1" y="373"/>
                  </a:cubicBezTo>
                  <a:lnTo>
                    <a:pt x="1" y="1241"/>
                  </a:lnTo>
                  <a:cubicBezTo>
                    <a:pt x="1" y="1447"/>
                    <a:pt x="168" y="1613"/>
                    <a:pt x="373" y="1613"/>
                  </a:cubicBezTo>
                  <a:lnTo>
                    <a:pt x="1242" y="1613"/>
                  </a:lnTo>
                  <a:cubicBezTo>
                    <a:pt x="1447" y="1613"/>
                    <a:pt x="1614" y="1447"/>
                    <a:pt x="1614" y="1241"/>
                  </a:cubicBezTo>
                  <a:lnTo>
                    <a:pt x="1614" y="373"/>
                  </a:lnTo>
                  <a:cubicBezTo>
                    <a:pt x="1614" y="167"/>
                    <a:pt x="1447" y="1"/>
                    <a:pt x="12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39"/>
            <p:cNvSpPr/>
            <p:nvPr/>
          </p:nvSpPr>
          <p:spPr>
            <a:xfrm>
              <a:off x="1981726" y="3530782"/>
              <a:ext cx="53532" cy="53532"/>
            </a:xfrm>
            <a:custGeom>
              <a:avLst/>
              <a:gdLst/>
              <a:ahLst/>
              <a:cxnLst/>
              <a:rect l="l" t="t" r="r" b="b"/>
              <a:pathLst>
                <a:path w="1614" h="1614" extrusionOk="0">
                  <a:moveTo>
                    <a:pt x="1082" y="533"/>
                  </a:moveTo>
                  <a:lnTo>
                    <a:pt x="1082" y="1082"/>
                  </a:lnTo>
                  <a:lnTo>
                    <a:pt x="533" y="1082"/>
                  </a:lnTo>
                  <a:lnTo>
                    <a:pt x="533" y="533"/>
                  </a:lnTo>
                  <a:close/>
                  <a:moveTo>
                    <a:pt x="372" y="1"/>
                  </a:moveTo>
                  <a:cubicBezTo>
                    <a:pt x="167" y="1"/>
                    <a:pt x="1" y="167"/>
                    <a:pt x="1" y="372"/>
                  </a:cubicBezTo>
                  <a:lnTo>
                    <a:pt x="1" y="1241"/>
                  </a:lnTo>
                  <a:cubicBezTo>
                    <a:pt x="1" y="1446"/>
                    <a:pt x="167" y="1614"/>
                    <a:pt x="372" y="1614"/>
                  </a:cubicBezTo>
                  <a:lnTo>
                    <a:pt x="1241" y="1614"/>
                  </a:lnTo>
                  <a:cubicBezTo>
                    <a:pt x="1446" y="1614"/>
                    <a:pt x="1614" y="1446"/>
                    <a:pt x="1614" y="1241"/>
                  </a:cubicBezTo>
                  <a:lnTo>
                    <a:pt x="1614" y="372"/>
                  </a:lnTo>
                  <a:cubicBezTo>
                    <a:pt x="1614" y="167"/>
                    <a:pt x="1446" y="1"/>
                    <a:pt x="12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39"/>
            <p:cNvSpPr/>
            <p:nvPr/>
          </p:nvSpPr>
          <p:spPr>
            <a:xfrm>
              <a:off x="1915424" y="3185475"/>
              <a:ext cx="53532" cy="53532"/>
            </a:xfrm>
            <a:custGeom>
              <a:avLst/>
              <a:gdLst/>
              <a:ahLst/>
              <a:cxnLst/>
              <a:rect l="l" t="t" r="r" b="b"/>
              <a:pathLst>
                <a:path w="1614" h="1614" extrusionOk="0">
                  <a:moveTo>
                    <a:pt x="1082" y="532"/>
                  </a:moveTo>
                  <a:lnTo>
                    <a:pt x="1082" y="1082"/>
                  </a:lnTo>
                  <a:lnTo>
                    <a:pt x="532" y="1082"/>
                  </a:lnTo>
                  <a:lnTo>
                    <a:pt x="532" y="532"/>
                  </a:lnTo>
                  <a:close/>
                  <a:moveTo>
                    <a:pt x="372" y="1"/>
                  </a:moveTo>
                  <a:cubicBezTo>
                    <a:pt x="167" y="1"/>
                    <a:pt x="1" y="168"/>
                    <a:pt x="1" y="373"/>
                  </a:cubicBezTo>
                  <a:lnTo>
                    <a:pt x="1" y="1241"/>
                  </a:lnTo>
                  <a:cubicBezTo>
                    <a:pt x="1" y="1446"/>
                    <a:pt x="167" y="1614"/>
                    <a:pt x="372" y="1614"/>
                  </a:cubicBezTo>
                  <a:lnTo>
                    <a:pt x="1241" y="1614"/>
                  </a:lnTo>
                  <a:cubicBezTo>
                    <a:pt x="1446" y="1614"/>
                    <a:pt x="1614" y="1446"/>
                    <a:pt x="1614" y="1241"/>
                  </a:cubicBezTo>
                  <a:lnTo>
                    <a:pt x="1614" y="373"/>
                  </a:lnTo>
                  <a:cubicBezTo>
                    <a:pt x="1614" y="168"/>
                    <a:pt x="1446" y="1"/>
                    <a:pt x="12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39"/>
            <p:cNvSpPr/>
            <p:nvPr/>
          </p:nvSpPr>
          <p:spPr>
            <a:xfrm>
              <a:off x="1920565" y="3144712"/>
              <a:ext cx="553765" cy="602023"/>
            </a:xfrm>
            <a:custGeom>
              <a:avLst/>
              <a:gdLst/>
              <a:ahLst/>
              <a:cxnLst/>
              <a:rect l="l" t="t" r="r" b="b"/>
              <a:pathLst>
                <a:path w="16696" h="18151" extrusionOk="0">
                  <a:moveTo>
                    <a:pt x="4488" y="532"/>
                  </a:moveTo>
                  <a:cubicBezTo>
                    <a:pt x="4721" y="532"/>
                    <a:pt x="4911" y="722"/>
                    <a:pt x="4911" y="955"/>
                  </a:cubicBezTo>
                  <a:cubicBezTo>
                    <a:pt x="4911" y="1189"/>
                    <a:pt x="4721" y="1377"/>
                    <a:pt x="4488" y="1377"/>
                  </a:cubicBezTo>
                  <a:cubicBezTo>
                    <a:pt x="4255" y="1377"/>
                    <a:pt x="4065" y="1189"/>
                    <a:pt x="4065" y="955"/>
                  </a:cubicBezTo>
                  <a:cubicBezTo>
                    <a:pt x="4065" y="722"/>
                    <a:pt x="4255" y="532"/>
                    <a:pt x="4488" y="532"/>
                  </a:cubicBezTo>
                  <a:close/>
                  <a:moveTo>
                    <a:pt x="2800" y="3960"/>
                  </a:moveTo>
                  <a:lnTo>
                    <a:pt x="2800" y="4509"/>
                  </a:lnTo>
                  <a:lnTo>
                    <a:pt x="2249" y="4509"/>
                  </a:lnTo>
                  <a:lnTo>
                    <a:pt x="2249" y="3960"/>
                  </a:lnTo>
                  <a:close/>
                  <a:moveTo>
                    <a:pt x="2260" y="7641"/>
                  </a:moveTo>
                  <a:lnTo>
                    <a:pt x="2260" y="8190"/>
                  </a:lnTo>
                  <a:lnTo>
                    <a:pt x="1710" y="8190"/>
                  </a:lnTo>
                  <a:lnTo>
                    <a:pt x="1710" y="7641"/>
                  </a:lnTo>
                  <a:close/>
                  <a:moveTo>
                    <a:pt x="956" y="9840"/>
                  </a:moveTo>
                  <a:cubicBezTo>
                    <a:pt x="1189" y="9840"/>
                    <a:pt x="1379" y="10030"/>
                    <a:pt x="1379" y="10263"/>
                  </a:cubicBezTo>
                  <a:cubicBezTo>
                    <a:pt x="1379" y="10496"/>
                    <a:pt x="1189" y="10686"/>
                    <a:pt x="956" y="10686"/>
                  </a:cubicBezTo>
                  <a:cubicBezTo>
                    <a:pt x="723" y="10686"/>
                    <a:pt x="533" y="10496"/>
                    <a:pt x="533" y="10263"/>
                  </a:cubicBezTo>
                  <a:cubicBezTo>
                    <a:pt x="533" y="10030"/>
                    <a:pt x="723" y="9840"/>
                    <a:pt x="956" y="9840"/>
                  </a:cubicBezTo>
                  <a:close/>
                  <a:moveTo>
                    <a:pt x="10194" y="12157"/>
                  </a:moveTo>
                  <a:cubicBezTo>
                    <a:pt x="10497" y="12157"/>
                    <a:pt x="10744" y="12404"/>
                    <a:pt x="10744" y="12707"/>
                  </a:cubicBezTo>
                  <a:cubicBezTo>
                    <a:pt x="10744" y="13009"/>
                    <a:pt x="10497" y="13256"/>
                    <a:pt x="10194" y="13256"/>
                  </a:cubicBezTo>
                  <a:cubicBezTo>
                    <a:pt x="9891" y="13256"/>
                    <a:pt x="9645" y="13009"/>
                    <a:pt x="9645" y="12707"/>
                  </a:cubicBezTo>
                  <a:cubicBezTo>
                    <a:pt x="9645" y="12404"/>
                    <a:pt x="9891" y="12157"/>
                    <a:pt x="10194" y="12157"/>
                  </a:cubicBezTo>
                  <a:close/>
                  <a:moveTo>
                    <a:pt x="5975" y="10529"/>
                  </a:moveTo>
                  <a:cubicBezTo>
                    <a:pt x="6735" y="10529"/>
                    <a:pt x="7353" y="11147"/>
                    <a:pt x="7353" y="11907"/>
                  </a:cubicBezTo>
                  <a:cubicBezTo>
                    <a:pt x="7353" y="12666"/>
                    <a:pt x="6735" y="13285"/>
                    <a:pt x="5975" y="13285"/>
                  </a:cubicBezTo>
                  <a:cubicBezTo>
                    <a:pt x="5216" y="13285"/>
                    <a:pt x="4598" y="12666"/>
                    <a:pt x="4598" y="11907"/>
                  </a:cubicBezTo>
                  <a:cubicBezTo>
                    <a:pt x="4598" y="11147"/>
                    <a:pt x="5216" y="10529"/>
                    <a:pt x="5975" y="10529"/>
                  </a:cubicBezTo>
                  <a:close/>
                  <a:moveTo>
                    <a:pt x="7876" y="11723"/>
                  </a:moveTo>
                  <a:lnTo>
                    <a:pt x="7876" y="11723"/>
                  </a:lnTo>
                  <a:cubicBezTo>
                    <a:pt x="8372" y="11782"/>
                    <a:pt x="8836" y="11944"/>
                    <a:pt x="9248" y="12185"/>
                  </a:cubicBezTo>
                  <a:cubicBezTo>
                    <a:pt x="9161" y="12340"/>
                    <a:pt x="9113" y="12518"/>
                    <a:pt x="9113" y="12707"/>
                  </a:cubicBezTo>
                  <a:cubicBezTo>
                    <a:pt x="9113" y="13303"/>
                    <a:pt x="9598" y="13788"/>
                    <a:pt x="10194" y="13788"/>
                  </a:cubicBezTo>
                  <a:cubicBezTo>
                    <a:pt x="10358" y="13788"/>
                    <a:pt x="10513" y="13751"/>
                    <a:pt x="10652" y="13686"/>
                  </a:cubicBezTo>
                  <a:cubicBezTo>
                    <a:pt x="10891" y="14167"/>
                    <a:pt x="11027" y="14708"/>
                    <a:pt x="11027" y="15280"/>
                  </a:cubicBezTo>
                  <a:cubicBezTo>
                    <a:pt x="11027" y="15614"/>
                    <a:pt x="10981" y="15943"/>
                    <a:pt x="10890" y="16261"/>
                  </a:cubicBezTo>
                  <a:lnTo>
                    <a:pt x="10152" y="16261"/>
                  </a:lnTo>
                  <a:cubicBezTo>
                    <a:pt x="9711" y="16261"/>
                    <a:pt x="9351" y="15902"/>
                    <a:pt x="9351" y="15460"/>
                  </a:cubicBezTo>
                  <a:lnTo>
                    <a:pt x="9351" y="14651"/>
                  </a:lnTo>
                  <a:cubicBezTo>
                    <a:pt x="9351" y="14511"/>
                    <a:pt x="9241" y="14393"/>
                    <a:pt x="9101" y="14385"/>
                  </a:cubicBezTo>
                  <a:cubicBezTo>
                    <a:pt x="8260" y="14337"/>
                    <a:pt x="7440" y="14090"/>
                    <a:pt x="6714" y="13668"/>
                  </a:cubicBezTo>
                  <a:cubicBezTo>
                    <a:pt x="7402" y="13379"/>
                    <a:pt x="7885" y="12698"/>
                    <a:pt x="7885" y="11907"/>
                  </a:cubicBezTo>
                  <a:cubicBezTo>
                    <a:pt x="7885" y="11844"/>
                    <a:pt x="7882" y="11783"/>
                    <a:pt x="7876" y="11723"/>
                  </a:cubicBezTo>
                  <a:close/>
                  <a:moveTo>
                    <a:pt x="9951" y="3359"/>
                  </a:moveTo>
                  <a:cubicBezTo>
                    <a:pt x="10397" y="3454"/>
                    <a:pt x="10761" y="3779"/>
                    <a:pt x="10898" y="4230"/>
                  </a:cubicBezTo>
                  <a:cubicBezTo>
                    <a:pt x="10922" y="4312"/>
                    <a:pt x="10986" y="4378"/>
                    <a:pt x="11068" y="4404"/>
                  </a:cubicBezTo>
                  <a:cubicBezTo>
                    <a:pt x="11132" y="4426"/>
                    <a:pt x="11194" y="4448"/>
                    <a:pt x="11257" y="4472"/>
                  </a:cubicBezTo>
                  <a:lnTo>
                    <a:pt x="9508" y="6221"/>
                  </a:lnTo>
                  <a:lnTo>
                    <a:pt x="8019" y="6221"/>
                  </a:lnTo>
                  <a:cubicBezTo>
                    <a:pt x="7872" y="6221"/>
                    <a:pt x="7754" y="6340"/>
                    <a:pt x="7754" y="6487"/>
                  </a:cubicBezTo>
                  <a:cubicBezTo>
                    <a:pt x="7754" y="6633"/>
                    <a:pt x="7872" y="6752"/>
                    <a:pt x="8019" y="6752"/>
                  </a:cubicBezTo>
                  <a:lnTo>
                    <a:pt x="8977" y="6752"/>
                  </a:lnTo>
                  <a:lnTo>
                    <a:pt x="7912" y="7817"/>
                  </a:lnTo>
                  <a:cubicBezTo>
                    <a:pt x="7808" y="7921"/>
                    <a:pt x="7808" y="8089"/>
                    <a:pt x="7912" y="8193"/>
                  </a:cubicBezTo>
                  <a:cubicBezTo>
                    <a:pt x="7964" y="8245"/>
                    <a:pt x="8032" y="8271"/>
                    <a:pt x="8100" y="8271"/>
                  </a:cubicBezTo>
                  <a:cubicBezTo>
                    <a:pt x="8168" y="8271"/>
                    <a:pt x="8236" y="8245"/>
                    <a:pt x="8288" y="8193"/>
                  </a:cubicBezTo>
                  <a:lnTo>
                    <a:pt x="12144" y="4337"/>
                  </a:lnTo>
                  <a:cubicBezTo>
                    <a:pt x="12868" y="4761"/>
                    <a:pt x="13491" y="5356"/>
                    <a:pt x="13948" y="6059"/>
                  </a:cubicBezTo>
                  <a:cubicBezTo>
                    <a:pt x="14453" y="6837"/>
                    <a:pt x="14750" y="7738"/>
                    <a:pt x="14806" y="8661"/>
                  </a:cubicBezTo>
                  <a:lnTo>
                    <a:pt x="14806" y="9986"/>
                  </a:lnTo>
                  <a:cubicBezTo>
                    <a:pt x="14806" y="10032"/>
                    <a:pt x="14818" y="10076"/>
                    <a:pt x="14841" y="10116"/>
                  </a:cubicBezTo>
                  <a:lnTo>
                    <a:pt x="16080" y="12312"/>
                  </a:lnTo>
                  <a:cubicBezTo>
                    <a:pt x="16128" y="12396"/>
                    <a:pt x="16134" y="12461"/>
                    <a:pt x="16120" y="12486"/>
                  </a:cubicBezTo>
                  <a:cubicBezTo>
                    <a:pt x="16105" y="12510"/>
                    <a:pt x="16046" y="12536"/>
                    <a:pt x="15948" y="12536"/>
                  </a:cubicBezTo>
                  <a:lnTo>
                    <a:pt x="15072" y="12536"/>
                  </a:lnTo>
                  <a:cubicBezTo>
                    <a:pt x="14926" y="12536"/>
                    <a:pt x="14807" y="12655"/>
                    <a:pt x="14807" y="12802"/>
                  </a:cubicBezTo>
                  <a:lnTo>
                    <a:pt x="14807" y="13433"/>
                  </a:lnTo>
                  <a:lnTo>
                    <a:pt x="13349" y="13433"/>
                  </a:lnTo>
                  <a:cubicBezTo>
                    <a:pt x="13007" y="13433"/>
                    <a:pt x="12728" y="13712"/>
                    <a:pt x="12728" y="14054"/>
                  </a:cubicBezTo>
                  <a:lnTo>
                    <a:pt x="12728" y="16261"/>
                  </a:lnTo>
                  <a:lnTo>
                    <a:pt x="11440" y="16261"/>
                  </a:lnTo>
                  <a:cubicBezTo>
                    <a:pt x="11519" y="15941"/>
                    <a:pt x="11559" y="15612"/>
                    <a:pt x="11559" y="15280"/>
                  </a:cubicBezTo>
                  <a:cubicBezTo>
                    <a:pt x="11559" y="14577"/>
                    <a:pt x="11382" y="13917"/>
                    <a:pt x="11071" y="13338"/>
                  </a:cubicBezTo>
                  <a:cubicBezTo>
                    <a:pt x="11199" y="13160"/>
                    <a:pt x="11275" y="12942"/>
                    <a:pt x="11275" y="12707"/>
                  </a:cubicBezTo>
                  <a:cubicBezTo>
                    <a:pt x="11275" y="12110"/>
                    <a:pt x="10790" y="11625"/>
                    <a:pt x="10194" y="11625"/>
                  </a:cubicBezTo>
                  <a:cubicBezTo>
                    <a:pt x="9984" y="11625"/>
                    <a:pt x="9788" y="11686"/>
                    <a:pt x="9621" y="11790"/>
                  </a:cubicBezTo>
                  <a:cubicBezTo>
                    <a:pt x="9069" y="11444"/>
                    <a:pt x="8427" y="11225"/>
                    <a:pt x="7739" y="11176"/>
                  </a:cubicBezTo>
                  <a:cubicBezTo>
                    <a:pt x="7509" y="10620"/>
                    <a:pt x="7024" y="10197"/>
                    <a:pt x="6429" y="10051"/>
                  </a:cubicBezTo>
                  <a:lnTo>
                    <a:pt x="7083" y="9398"/>
                  </a:lnTo>
                  <a:cubicBezTo>
                    <a:pt x="7187" y="9295"/>
                    <a:pt x="7187" y="9126"/>
                    <a:pt x="7083" y="9023"/>
                  </a:cubicBezTo>
                  <a:cubicBezTo>
                    <a:pt x="7031" y="8970"/>
                    <a:pt x="6963" y="8944"/>
                    <a:pt x="6895" y="8944"/>
                  </a:cubicBezTo>
                  <a:cubicBezTo>
                    <a:pt x="6827" y="8944"/>
                    <a:pt x="6759" y="8970"/>
                    <a:pt x="6706" y="9023"/>
                  </a:cubicBezTo>
                  <a:lnTo>
                    <a:pt x="5714" y="10015"/>
                  </a:lnTo>
                  <a:cubicBezTo>
                    <a:pt x="5414" y="10057"/>
                    <a:pt x="5136" y="10167"/>
                    <a:pt x="4897" y="10332"/>
                  </a:cubicBezTo>
                  <a:cubicBezTo>
                    <a:pt x="4845" y="10149"/>
                    <a:pt x="4804" y="9964"/>
                    <a:pt x="4773" y="9775"/>
                  </a:cubicBezTo>
                  <a:lnTo>
                    <a:pt x="5265" y="9775"/>
                  </a:lnTo>
                  <a:cubicBezTo>
                    <a:pt x="5412" y="9775"/>
                    <a:pt x="5531" y="9656"/>
                    <a:pt x="5531" y="9509"/>
                  </a:cubicBezTo>
                  <a:cubicBezTo>
                    <a:pt x="5531" y="9362"/>
                    <a:pt x="5412" y="9243"/>
                    <a:pt x="5265" y="9243"/>
                  </a:cubicBezTo>
                  <a:lnTo>
                    <a:pt x="4557" y="9243"/>
                  </a:lnTo>
                  <a:cubicBezTo>
                    <a:pt x="4247" y="9004"/>
                    <a:pt x="4065" y="8634"/>
                    <a:pt x="4065" y="8241"/>
                  </a:cubicBezTo>
                  <a:cubicBezTo>
                    <a:pt x="4065" y="7782"/>
                    <a:pt x="4309" y="7366"/>
                    <a:pt x="4705" y="7141"/>
                  </a:cubicBezTo>
                  <a:lnTo>
                    <a:pt x="5354" y="7141"/>
                  </a:lnTo>
                  <a:lnTo>
                    <a:pt x="5354" y="8086"/>
                  </a:lnTo>
                  <a:cubicBezTo>
                    <a:pt x="5354" y="8232"/>
                    <a:pt x="5473" y="8351"/>
                    <a:pt x="5620" y="8351"/>
                  </a:cubicBezTo>
                  <a:cubicBezTo>
                    <a:pt x="5767" y="8351"/>
                    <a:pt x="5886" y="8232"/>
                    <a:pt x="5886" y="8086"/>
                  </a:cubicBezTo>
                  <a:lnTo>
                    <a:pt x="5886" y="7141"/>
                  </a:lnTo>
                  <a:lnTo>
                    <a:pt x="6598" y="7141"/>
                  </a:lnTo>
                  <a:cubicBezTo>
                    <a:pt x="6744" y="7141"/>
                    <a:pt x="6864" y="7021"/>
                    <a:pt x="6864" y="6875"/>
                  </a:cubicBezTo>
                  <a:cubicBezTo>
                    <a:pt x="6864" y="6728"/>
                    <a:pt x="6744" y="6610"/>
                    <a:pt x="6598" y="6610"/>
                  </a:cubicBezTo>
                  <a:lnTo>
                    <a:pt x="4787" y="6610"/>
                  </a:lnTo>
                  <a:cubicBezTo>
                    <a:pt x="4693" y="6428"/>
                    <a:pt x="4642" y="6228"/>
                    <a:pt x="4642" y="6020"/>
                  </a:cubicBezTo>
                  <a:cubicBezTo>
                    <a:pt x="4642" y="5321"/>
                    <a:pt x="5210" y="4753"/>
                    <a:pt x="5909" y="4753"/>
                  </a:cubicBezTo>
                  <a:cubicBezTo>
                    <a:pt x="5987" y="4753"/>
                    <a:pt x="6064" y="4761"/>
                    <a:pt x="6140" y="4775"/>
                  </a:cubicBezTo>
                  <a:lnTo>
                    <a:pt x="6140" y="5687"/>
                  </a:lnTo>
                  <a:cubicBezTo>
                    <a:pt x="6140" y="5834"/>
                    <a:pt x="6259" y="5953"/>
                    <a:pt x="6406" y="5953"/>
                  </a:cubicBezTo>
                  <a:cubicBezTo>
                    <a:pt x="6552" y="5953"/>
                    <a:pt x="6672" y="5834"/>
                    <a:pt x="6672" y="5687"/>
                  </a:cubicBezTo>
                  <a:lnTo>
                    <a:pt x="6672" y="5420"/>
                  </a:lnTo>
                  <a:lnTo>
                    <a:pt x="8108" y="5420"/>
                  </a:lnTo>
                  <a:cubicBezTo>
                    <a:pt x="8255" y="5420"/>
                    <a:pt x="8374" y="5301"/>
                    <a:pt x="8374" y="5154"/>
                  </a:cubicBezTo>
                  <a:cubicBezTo>
                    <a:pt x="8374" y="5007"/>
                    <a:pt x="8255" y="4888"/>
                    <a:pt x="8108" y="4888"/>
                  </a:cubicBezTo>
                  <a:lnTo>
                    <a:pt x="6672" y="4888"/>
                  </a:lnTo>
                  <a:lnTo>
                    <a:pt x="6672" y="4615"/>
                  </a:lnTo>
                  <a:cubicBezTo>
                    <a:pt x="6851" y="4112"/>
                    <a:pt x="7326" y="3776"/>
                    <a:pt x="7864" y="3776"/>
                  </a:cubicBezTo>
                  <a:cubicBezTo>
                    <a:pt x="8042" y="3776"/>
                    <a:pt x="8216" y="3813"/>
                    <a:pt x="8379" y="3886"/>
                  </a:cubicBezTo>
                  <a:cubicBezTo>
                    <a:pt x="8414" y="3901"/>
                    <a:pt x="8451" y="3909"/>
                    <a:pt x="8487" y="3909"/>
                  </a:cubicBezTo>
                  <a:cubicBezTo>
                    <a:pt x="8566" y="3909"/>
                    <a:pt x="8643" y="3873"/>
                    <a:pt x="8695" y="3809"/>
                  </a:cubicBezTo>
                  <a:cubicBezTo>
                    <a:pt x="8881" y="3577"/>
                    <a:pt x="9136" y="3421"/>
                    <a:pt x="9419" y="3360"/>
                  </a:cubicBezTo>
                  <a:lnTo>
                    <a:pt x="9419" y="4428"/>
                  </a:lnTo>
                  <a:cubicBezTo>
                    <a:pt x="9419" y="4575"/>
                    <a:pt x="9538" y="4694"/>
                    <a:pt x="9685" y="4694"/>
                  </a:cubicBezTo>
                  <a:cubicBezTo>
                    <a:pt x="9832" y="4694"/>
                    <a:pt x="9951" y="4575"/>
                    <a:pt x="9951" y="4428"/>
                  </a:cubicBezTo>
                  <a:lnTo>
                    <a:pt x="9951" y="3359"/>
                  </a:lnTo>
                  <a:close/>
                  <a:moveTo>
                    <a:pt x="14807" y="13965"/>
                  </a:moveTo>
                  <a:lnTo>
                    <a:pt x="14807" y="15460"/>
                  </a:lnTo>
                  <a:cubicBezTo>
                    <a:pt x="14807" y="15902"/>
                    <a:pt x="14452" y="16261"/>
                    <a:pt x="14017" y="16261"/>
                  </a:cubicBezTo>
                  <a:lnTo>
                    <a:pt x="13260" y="16261"/>
                  </a:lnTo>
                  <a:lnTo>
                    <a:pt x="13260" y="14054"/>
                  </a:lnTo>
                  <a:cubicBezTo>
                    <a:pt x="13260" y="14005"/>
                    <a:pt x="13301" y="13965"/>
                    <a:pt x="13349" y="13965"/>
                  </a:cubicBezTo>
                  <a:close/>
                  <a:moveTo>
                    <a:pt x="4487" y="1"/>
                  </a:moveTo>
                  <a:cubicBezTo>
                    <a:pt x="3961" y="1"/>
                    <a:pt x="3533" y="429"/>
                    <a:pt x="3533" y="955"/>
                  </a:cubicBezTo>
                  <a:cubicBezTo>
                    <a:pt x="3533" y="1397"/>
                    <a:pt x="3835" y="1770"/>
                    <a:pt x="4243" y="1877"/>
                  </a:cubicBezTo>
                  <a:lnTo>
                    <a:pt x="4243" y="2488"/>
                  </a:lnTo>
                  <a:cubicBezTo>
                    <a:pt x="4243" y="2733"/>
                    <a:pt x="4442" y="2932"/>
                    <a:pt x="4687" y="2932"/>
                  </a:cubicBezTo>
                  <a:lnTo>
                    <a:pt x="7220" y="2932"/>
                  </a:lnTo>
                  <a:lnTo>
                    <a:pt x="7220" y="3362"/>
                  </a:lnTo>
                  <a:cubicBezTo>
                    <a:pt x="6902" y="3483"/>
                    <a:pt x="6623" y="3694"/>
                    <a:pt x="6420" y="3969"/>
                  </a:cubicBezTo>
                  <a:lnTo>
                    <a:pt x="3331" y="3969"/>
                  </a:lnTo>
                  <a:lnTo>
                    <a:pt x="3331" y="3801"/>
                  </a:lnTo>
                  <a:cubicBezTo>
                    <a:pt x="3331" y="3595"/>
                    <a:pt x="3164" y="3428"/>
                    <a:pt x="2959" y="3428"/>
                  </a:cubicBezTo>
                  <a:lnTo>
                    <a:pt x="2090" y="3428"/>
                  </a:lnTo>
                  <a:cubicBezTo>
                    <a:pt x="1885" y="3428"/>
                    <a:pt x="1718" y="3595"/>
                    <a:pt x="1718" y="3801"/>
                  </a:cubicBezTo>
                  <a:lnTo>
                    <a:pt x="1718" y="4669"/>
                  </a:lnTo>
                  <a:cubicBezTo>
                    <a:pt x="1718" y="4875"/>
                    <a:pt x="1885" y="5041"/>
                    <a:pt x="2090" y="5041"/>
                  </a:cubicBezTo>
                  <a:lnTo>
                    <a:pt x="2959" y="5041"/>
                  </a:lnTo>
                  <a:cubicBezTo>
                    <a:pt x="3164" y="5041"/>
                    <a:pt x="3331" y="4875"/>
                    <a:pt x="3331" y="4669"/>
                  </a:cubicBezTo>
                  <a:lnTo>
                    <a:pt x="3331" y="4501"/>
                  </a:lnTo>
                  <a:lnTo>
                    <a:pt x="4948" y="4501"/>
                  </a:lnTo>
                  <a:cubicBezTo>
                    <a:pt x="4500" y="4785"/>
                    <a:pt x="4186" y="5262"/>
                    <a:pt x="4122" y="5813"/>
                  </a:cubicBezTo>
                  <a:lnTo>
                    <a:pt x="3066" y="5813"/>
                  </a:lnTo>
                  <a:cubicBezTo>
                    <a:pt x="2919" y="5813"/>
                    <a:pt x="2801" y="5932"/>
                    <a:pt x="2801" y="6079"/>
                  </a:cubicBezTo>
                  <a:cubicBezTo>
                    <a:pt x="2801" y="6226"/>
                    <a:pt x="2920" y="6345"/>
                    <a:pt x="3066" y="6345"/>
                  </a:cubicBezTo>
                  <a:lnTo>
                    <a:pt x="4140" y="6345"/>
                  </a:lnTo>
                  <a:cubicBezTo>
                    <a:pt x="4167" y="6496"/>
                    <a:pt x="4214" y="6643"/>
                    <a:pt x="4279" y="6782"/>
                  </a:cubicBezTo>
                  <a:cubicBezTo>
                    <a:pt x="3976" y="7000"/>
                    <a:pt x="3753" y="7303"/>
                    <a:pt x="3632" y="7650"/>
                  </a:cubicBezTo>
                  <a:lnTo>
                    <a:pt x="2790" y="7650"/>
                  </a:lnTo>
                  <a:lnTo>
                    <a:pt x="2790" y="7481"/>
                  </a:lnTo>
                  <a:cubicBezTo>
                    <a:pt x="2790" y="7276"/>
                    <a:pt x="2624" y="7109"/>
                    <a:pt x="2419" y="7109"/>
                  </a:cubicBezTo>
                  <a:lnTo>
                    <a:pt x="1550" y="7109"/>
                  </a:lnTo>
                  <a:cubicBezTo>
                    <a:pt x="1345" y="7109"/>
                    <a:pt x="1177" y="7276"/>
                    <a:pt x="1177" y="7481"/>
                  </a:cubicBezTo>
                  <a:lnTo>
                    <a:pt x="1177" y="8350"/>
                  </a:lnTo>
                  <a:cubicBezTo>
                    <a:pt x="1177" y="8555"/>
                    <a:pt x="1345" y="8723"/>
                    <a:pt x="1550" y="8723"/>
                  </a:cubicBezTo>
                  <a:lnTo>
                    <a:pt x="2419" y="8723"/>
                  </a:lnTo>
                  <a:cubicBezTo>
                    <a:pt x="2624" y="8723"/>
                    <a:pt x="2790" y="8555"/>
                    <a:pt x="2790" y="8350"/>
                  </a:cubicBezTo>
                  <a:lnTo>
                    <a:pt x="2790" y="8182"/>
                  </a:lnTo>
                  <a:lnTo>
                    <a:pt x="3534" y="8182"/>
                  </a:lnTo>
                  <a:cubicBezTo>
                    <a:pt x="3534" y="8201"/>
                    <a:pt x="3533" y="8222"/>
                    <a:pt x="3533" y="8241"/>
                  </a:cubicBezTo>
                  <a:cubicBezTo>
                    <a:pt x="3533" y="8778"/>
                    <a:pt x="3772" y="9282"/>
                    <a:pt x="4180" y="9622"/>
                  </a:cubicBezTo>
                  <a:cubicBezTo>
                    <a:pt x="4191" y="9647"/>
                    <a:pt x="4206" y="9669"/>
                    <a:pt x="4224" y="9689"/>
                  </a:cubicBezTo>
                  <a:cubicBezTo>
                    <a:pt x="4237" y="9793"/>
                    <a:pt x="4253" y="9895"/>
                    <a:pt x="4272" y="9997"/>
                  </a:cubicBezTo>
                  <a:lnTo>
                    <a:pt x="1872" y="9997"/>
                  </a:lnTo>
                  <a:cubicBezTo>
                    <a:pt x="1757" y="9600"/>
                    <a:pt x="1389" y="9309"/>
                    <a:pt x="955" y="9309"/>
                  </a:cubicBezTo>
                  <a:cubicBezTo>
                    <a:pt x="429" y="9309"/>
                    <a:pt x="1" y="9737"/>
                    <a:pt x="1" y="10263"/>
                  </a:cubicBezTo>
                  <a:cubicBezTo>
                    <a:pt x="1" y="10790"/>
                    <a:pt x="429" y="11218"/>
                    <a:pt x="955" y="11218"/>
                  </a:cubicBezTo>
                  <a:cubicBezTo>
                    <a:pt x="1389" y="11218"/>
                    <a:pt x="1757" y="10926"/>
                    <a:pt x="1872" y="10529"/>
                  </a:cubicBezTo>
                  <a:lnTo>
                    <a:pt x="4400" y="10529"/>
                  </a:lnTo>
                  <a:cubicBezTo>
                    <a:pt x="4421" y="10599"/>
                    <a:pt x="4444" y="10668"/>
                    <a:pt x="4467" y="10737"/>
                  </a:cubicBezTo>
                  <a:cubicBezTo>
                    <a:pt x="4216" y="11061"/>
                    <a:pt x="4066" y="11466"/>
                    <a:pt x="4066" y="11907"/>
                  </a:cubicBezTo>
                  <a:cubicBezTo>
                    <a:pt x="4066" y="12956"/>
                    <a:pt x="4917" y="13810"/>
                    <a:pt x="5964" y="13816"/>
                  </a:cubicBezTo>
                  <a:cubicBezTo>
                    <a:pt x="6040" y="13871"/>
                    <a:pt x="6117" y="13924"/>
                    <a:pt x="6195" y="13976"/>
                  </a:cubicBezTo>
                  <a:cubicBezTo>
                    <a:pt x="6533" y="14194"/>
                    <a:pt x="6891" y="14377"/>
                    <a:pt x="7264" y="14523"/>
                  </a:cubicBezTo>
                  <a:lnTo>
                    <a:pt x="7264" y="17708"/>
                  </a:lnTo>
                  <a:cubicBezTo>
                    <a:pt x="7264" y="17952"/>
                    <a:pt x="7463" y="18150"/>
                    <a:pt x="7708" y="18150"/>
                  </a:cubicBezTo>
                  <a:lnTo>
                    <a:pt x="9765" y="18150"/>
                  </a:lnTo>
                  <a:cubicBezTo>
                    <a:pt x="9913" y="18150"/>
                    <a:pt x="10031" y="18031"/>
                    <a:pt x="10031" y="17884"/>
                  </a:cubicBezTo>
                  <a:cubicBezTo>
                    <a:pt x="10031" y="17738"/>
                    <a:pt x="9912" y="17618"/>
                    <a:pt x="9765" y="17618"/>
                  </a:cubicBezTo>
                  <a:lnTo>
                    <a:pt x="7796" y="17618"/>
                  </a:lnTo>
                  <a:lnTo>
                    <a:pt x="7796" y="14701"/>
                  </a:lnTo>
                  <a:cubicBezTo>
                    <a:pt x="8130" y="14796"/>
                    <a:pt x="8472" y="14862"/>
                    <a:pt x="8819" y="14897"/>
                  </a:cubicBezTo>
                  <a:lnTo>
                    <a:pt x="8819" y="15461"/>
                  </a:lnTo>
                  <a:cubicBezTo>
                    <a:pt x="8819" y="16195"/>
                    <a:pt x="9417" y="16793"/>
                    <a:pt x="10151" y="16793"/>
                  </a:cubicBezTo>
                  <a:lnTo>
                    <a:pt x="12195" y="16793"/>
                  </a:lnTo>
                  <a:lnTo>
                    <a:pt x="12195" y="17618"/>
                  </a:lnTo>
                  <a:lnTo>
                    <a:pt x="11609" y="17618"/>
                  </a:lnTo>
                  <a:cubicBezTo>
                    <a:pt x="11462" y="17618"/>
                    <a:pt x="11343" y="17738"/>
                    <a:pt x="11343" y="17884"/>
                  </a:cubicBezTo>
                  <a:cubicBezTo>
                    <a:pt x="11343" y="18031"/>
                    <a:pt x="11462" y="18150"/>
                    <a:pt x="11609" y="18150"/>
                  </a:cubicBezTo>
                  <a:lnTo>
                    <a:pt x="12285" y="18150"/>
                  </a:lnTo>
                  <a:cubicBezTo>
                    <a:pt x="12529" y="18150"/>
                    <a:pt x="12727" y="17951"/>
                    <a:pt x="12727" y="17708"/>
                  </a:cubicBezTo>
                  <a:lnTo>
                    <a:pt x="12727" y="16793"/>
                  </a:lnTo>
                  <a:lnTo>
                    <a:pt x="14017" y="16793"/>
                  </a:lnTo>
                  <a:cubicBezTo>
                    <a:pt x="14745" y="16793"/>
                    <a:pt x="15338" y="16195"/>
                    <a:pt x="15338" y="15461"/>
                  </a:cubicBezTo>
                  <a:lnTo>
                    <a:pt x="15338" y="13068"/>
                  </a:lnTo>
                  <a:lnTo>
                    <a:pt x="15948" y="13068"/>
                  </a:lnTo>
                  <a:cubicBezTo>
                    <a:pt x="16232" y="13068"/>
                    <a:pt x="16462" y="12954"/>
                    <a:pt x="16579" y="12754"/>
                  </a:cubicBezTo>
                  <a:cubicBezTo>
                    <a:pt x="16696" y="12555"/>
                    <a:pt x="16682" y="12298"/>
                    <a:pt x="16543" y="12050"/>
                  </a:cubicBezTo>
                  <a:lnTo>
                    <a:pt x="15338" y="9916"/>
                  </a:lnTo>
                  <a:lnTo>
                    <a:pt x="15338" y="8661"/>
                  </a:lnTo>
                  <a:cubicBezTo>
                    <a:pt x="15338" y="8651"/>
                    <a:pt x="15338" y="8642"/>
                    <a:pt x="15337" y="8632"/>
                  </a:cubicBezTo>
                  <a:cubicBezTo>
                    <a:pt x="15276" y="7614"/>
                    <a:pt x="14950" y="6624"/>
                    <a:pt x="14395" y="5770"/>
                  </a:cubicBezTo>
                  <a:cubicBezTo>
                    <a:pt x="13886" y="4986"/>
                    <a:pt x="13190" y="4326"/>
                    <a:pt x="12382" y="3859"/>
                  </a:cubicBezTo>
                  <a:cubicBezTo>
                    <a:pt x="12308" y="3816"/>
                    <a:pt x="12223" y="3793"/>
                    <a:pt x="12138" y="3793"/>
                  </a:cubicBezTo>
                  <a:cubicBezTo>
                    <a:pt x="12008" y="3793"/>
                    <a:pt x="11885" y="3844"/>
                    <a:pt x="11793" y="3936"/>
                  </a:cubicBezTo>
                  <a:lnTo>
                    <a:pt x="11666" y="4062"/>
                  </a:lnTo>
                  <a:cubicBezTo>
                    <a:pt x="11566" y="4019"/>
                    <a:pt x="11463" y="3979"/>
                    <a:pt x="11361" y="3942"/>
                  </a:cubicBezTo>
                  <a:cubicBezTo>
                    <a:pt x="11093" y="3253"/>
                    <a:pt x="10437" y="2799"/>
                    <a:pt x="9685" y="2799"/>
                  </a:cubicBezTo>
                  <a:cubicBezTo>
                    <a:pt x="9201" y="2799"/>
                    <a:pt x="8748" y="2990"/>
                    <a:pt x="8411" y="3329"/>
                  </a:cubicBezTo>
                  <a:cubicBezTo>
                    <a:pt x="8235" y="3273"/>
                    <a:pt x="8051" y="3244"/>
                    <a:pt x="7864" y="3244"/>
                  </a:cubicBezTo>
                  <a:cubicBezTo>
                    <a:pt x="7827" y="3244"/>
                    <a:pt x="7789" y="3245"/>
                    <a:pt x="7752" y="3247"/>
                  </a:cubicBezTo>
                  <a:lnTo>
                    <a:pt x="7752" y="2843"/>
                  </a:lnTo>
                  <a:cubicBezTo>
                    <a:pt x="7752" y="2598"/>
                    <a:pt x="7554" y="2400"/>
                    <a:pt x="7309" y="2400"/>
                  </a:cubicBezTo>
                  <a:lnTo>
                    <a:pt x="4775" y="2400"/>
                  </a:lnTo>
                  <a:lnTo>
                    <a:pt x="4775" y="1865"/>
                  </a:lnTo>
                  <a:cubicBezTo>
                    <a:pt x="5161" y="1743"/>
                    <a:pt x="5441" y="1382"/>
                    <a:pt x="5441" y="955"/>
                  </a:cubicBezTo>
                  <a:cubicBezTo>
                    <a:pt x="5441" y="429"/>
                    <a:pt x="5013" y="1"/>
                    <a:pt x="44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39"/>
            <p:cNvSpPr/>
            <p:nvPr/>
          </p:nvSpPr>
          <p:spPr>
            <a:xfrm>
              <a:off x="2083584" y="3504447"/>
              <a:ext cx="70381" cy="70348"/>
            </a:xfrm>
            <a:custGeom>
              <a:avLst/>
              <a:gdLst/>
              <a:ahLst/>
              <a:cxnLst/>
              <a:rect l="l" t="t" r="r" b="b"/>
              <a:pathLst>
                <a:path w="2122" h="2121" extrusionOk="0">
                  <a:moveTo>
                    <a:pt x="1060" y="532"/>
                  </a:moveTo>
                  <a:cubicBezTo>
                    <a:pt x="1352" y="532"/>
                    <a:pt x="1589" y="769"/>
                    <a:pt x="1589" y="1061"/>
                  </a:cubicBezTo>
                  <a:cubicBezTo>
                    <a:pt x="1589" y="1352"/>
                    <a:pt x="1352" y="1588"/>
                    <a:pt x="1060" y="1588"/>
                  </a:cubicBezTo>
                  <a:cubicBezTo>
                    <a:pt x="770" y="1588"/>
                    <a:pt x="533" y="1352"/>
                    <a:pt x="533" y="1061"/>
                  </a:cubicBezTo>
                  <a:cubicBezTo>
                    <a:pt x="533" y="769"/>
                    <a:pt x="770" y="532"/>
                    <a:pt x="1060" y="532"/>
                  </a:cubicBezTo>
                  <a:close/>
                  <a:moveTo>
                    <a:pt x="1060" y="0"/>
                  </a:moveTo>
                  <a:cubicBezTo>
                    <a:pt x="476" y="0"/>
                    <a:pt x="1" y="475"/>
                    <a:pt x="1" y="1061"/>
                  </a:cubicBezTo>
                  <a:cubicBezTo>
                    <a:pt x="1" y="1645"/>
                    <a:pt x="476" y="2120"/>
                    <a:pt x="1060" y="2120"/>
                  </a:cubicBezTo>
                  <a:cubicBezTo>
                    <a:pt x="1646" y="2120"/>
                    <a:pt x="2121" y="1645"/>
                    <a:pt x="2121" y="1061"/>
                  </a:cubicBezTo>
                  <a:cubicBezTo>
                    <a:pt x="2121" y="475"/>
                    <a:pt x="1646" y="0"/>
                    <a:pt x="10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39"/>
            <p:cNvSpPr/>
            <p:nvPr/>
          </p:nvSpPr>
          <p:spPr>
            <a:xfrm>
              <a:off x="1888890" y="3314662"/>
              <a:ext cx="83449" cy="63350"/>
            </a:xfrm>
            <a:custGeom>
              <a:avLst/>
              <a:gdLst/>
              <a:ahLst/>
              <a:cxnLst/>
              <a:rect l="l" t="t" r="r" b="b"/>
              <a:pathLst>
                <a:path w="2516" h="1910" extrusionOk="0">
                  <a:moveTo>
                    <a:pt x="955" y="532"/>
                  </a:moveTo>
                  <a:cubicBezTo>
                    <a:pt x="1189" y="532"/>
                    <a:pt x="1378" y="722"/>
                    <a:pt x="1378" y="955"/>
                  </a:cubicBezTo>
                  <a:cubicBezTo>
                    <a:pt x="1378" y="1188"/>
                    <a:pt x="1189" y="1378"/>
                    <a:pt x="955" y="1378"/>
                  </a:cubicBezTo>
                  <a:cubicBezTo>
                    <a:pt x="722" y="1378"/>
                    <a:pt x="533" y="1188"/>
                    <a:pt x="533" y="955"/>
                  </a:cubicBezTo>
                  <a:cubicBezTo>
                    <a:pt x="533" y="722"/>
                    <a:pt x="722" y="532"/>
                    <a:pt x="955" y="532"/>
                  </a:cubicBezTo>
                  <a:close/>
                  <a:moveTo>
                    <a:pt x="955" y="0"/>
                  </a:moveTo>
                  <a:cubicBezTo>
                    <a:pt x="429" y="0"/>
                    <a:pt x="1" y="428"/>
                    <a:pt x="1" y="955"/>
                  </a:cubicBezTo>
                  <a:cubicBezTo>
                    <a:pt x="1" y="1482"/>
                    <a:pt x="429" y="1910"/>
                    <a:pt x="955" y="1910"/>
                  </a:cubicBezTo>
                  <a:cubicBezTo>
                    <a:pt x="1389" y="1910"/>
                    <a:pt x="1757" y="1618"/>
                    <a:pt x="1872" y="1221"/>
                  </a:cubicBezTo>
                  <a:lnTo>
                    <a:pt x="2249" y="1221"/>
                  </a:lnTo>
                  <a:cubicBezTo>
                    <a:pt x="2395" y="1221"/>
                    <a:pt x="2514" y="1102"/>
                    <a:pt x="2514" y="955"/>
                  </a:cubicBezTo>
                  <a:cubicBezTo>
                    <a:pt x="2515" y="808"/>
                    <a:pt x="2396" y="689"/>
                    <a:pt x="2249" y="689"/>
                  </a:cubicBezTo>
                  <a:lnTo>
                    <a:pt x="1872" y="689"/>
                  </a:lnTo>
                  <a:cubicBezTo>
                    <a:pt x="1757" y="292"/>
                    <a:pt x="1389" y="0"/>
                    <a:pt x="9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39"/>
            <p:cNvSpPr/>
            <p:nvPr/>
          </p:nvSpPr>
          <p:spPr>
            <a:xfrm>
              <a:off x="2293368" y="3432705"/>
              <a:ext cx="100896" cy="53035"/>
            </a:xfrm>
            <a:custGeom>
              <a:avLst/>
              <a:gdLst/>
              <a:ahLst/>
              <a:cxnLst/>
              <a:rect l="l" t="t" r="r" b="b"/>
              <a:pathLst>
                <a:path w="3042" h="1599" extrusionOk="0">
                  <a:moveTo>
                    <a:pt x="2511" y="532"/>
                  </a:moveTo>
                  <a:lnTo>
                    <a:pt x="2511" y="1067"/>
                  </a:lnTo>
                  <a:lnTo>
                    <a:pt x="531" y="1067"/>
                  </a:lnTo>
                  <a:lnTo>
                    <a:pt x="531" y="532"/>
                  </a:lnTo>
                  <a:close/>
                  <a:moveTo>
                    <a:pt x="443" y="1"/>
                  </a:moveTo>
                  <a:cubicBezTo>
                    <a:pt x="199" y="1"/>
                    <a:pt x="1" y="199"/>
                    <a:pt x="1" y="443"/>
                  </a:cubicBezTo>
                  <a:lnTo>
                    <a:pt x="1" y="1155"/>
                  </a:lnTo>
                  <a:cubicBezTo>
                    <a:pt x="1" y="1399"/>
                    <a:pt x="199" y="1598"/>
                    <a:pt x="443" y="1598"/>
                  </a:cubicBezTo>
                  <a:lnTo>
                    <a:pt x="2599" y="1598"/>
                  </a:lnTo>
                  <a:cubicBezTo>
                    <a:pt x="2844" y="1598"/>
                    <a:pt x="3042" y="1399"/>
                    <a:pt x="3042" y="1155"/>
                  </a:cubicBezTo>
                  <a:lnTo>
                    <a:pt x="3042" y="443"/>
                  </a:lnTo>
                  <a:cubicBezTo>
                    <a:pt x="3042" y="199"/>
                    <a:pt x="2844" y="1"/>
                    <a:pt x="25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2" name="Google Shape;1372;p39"/>
          <p:cNvGrpSpPr/>
          <p:nvPr/>
        </p:nvGrpSpPr>
        <p:grpSpPr>
          <a:xfrm>
            <a:off x="8168535" y="2038458"/>
            <a:ext cx="76825" cy="76800"/>
            <a:chOff x="3104875" y="1099400"/>
            <a:chExt cx="76825" cy="76800"/>
          </a:xfrm>
        </p:grpSpPr>
        <p:sp>
          <p:nvSpPr>
            <p:cNvPr id="1373" name="Google Shape;1373;p39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39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5" name="Google Shape;1375;p39"/>
          <p:cNvGrpSpPr/>
          <p:nvPr/>
        </p:nvGrpSpPr>
        <p:grpSpPr>
          <a:xfrm rot="1891135">
            <a:off x="2710930" y="4479370"/>
            <a:ext cx="76828" cy="76803"/>
            <a:chOff x="3104875" y="1099400"/>
            <a:chExt cx="76825" cy="76800"/>
          </a:xfrm>
        </p:grpSpPr>
        <p:sp>
          <p:nvSpPr>
            <p:cNvPr id="1376" name="Google Shape;1376;p39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39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8" name="Google Shape;1378;p39"/>
          <p:cNvGrpSpPr/>
          <p:nvPr/>
        </p:nvGrpSpPr>
        <p:grpSpPr>
          <a:xfrm>
            <a:off x="3163013" y="1270405"/>
            <a:ext cx="76825" cy="76800"/>
            <a:chOff x="3104875" y="1099400"/>
            <a:chExt cx="76825" cy="76800"/>
          </a:xfrm>
        </p:grpSpPr>
        <p:sp>
          <p:nvSpPr>
            <p:cNvPr id="1379" name="Google Shape;1379;p39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39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381" name="Google Shape;1381;p39"/>
          <p:cNvPicPr preferRelativeResize="0"/>
          <p:nvPr/>
        </p:nvPicPr>
        <p:blipFill rotWithShape="1">
          <a:blip r:embed="rId4">
            <a:alphaModFix/>
          </a:blip>
          <a:srcRect l="22010" r="18456"/>
          <a:stretch/>
        </p:blipFill>
        <p:spPr>
          <a:xfrm rot="1203247">
            <a:off x="8057009" y="4090866"/>
            <a:ext cx="903665" cy="85381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DEF946A-1E2F-3CEA-7FC6-A74FD8FE7610}"/>
              </a:ext>
            </a:extLst>
          </p:cNvPr>
          <p:cNvSpPr txBox="1"/>
          <p:nvPr/>
        </p:nvSpPr>
        <p:spPr>
          <a:xfrm>
            <a:off x="963013" y="2606402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l-G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p37"/>
          <p:cNvSpPr txBox="1">
            <a:spLocks noGrp="1"/>
          </p:cNvSpPr>
          <p:nvPr>
            <p:ph type="title"/>
          </p:nvPr>
        </p:nvSpPr>
        <p:spPr>
          <a:xfrm>
            <a:off x="720000" y="22146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Study Overview</a:t>
            </a:r>
            <a:endParaRPr dirty="0"/>
          </a:p>
        </p:txBody>
      </p:sp>
      <p:sp>
        <p:nvSpPr>
          <p:cNvPr id="1277" name="Google Shape;1277;p37"/>
          <p:cNvSpPr txBox="1">
            <a:spLocks noGrp="1"/>
          </p:cNvSpPr>
          <p:nvPr>
            <p:ph type="subTitle" idx="1"/>
          </p:nvPr>
        </p:nvSpPr>
        <p:spPr>
          <a:xfrm>
            <a:off x="282928" y="1330119"/>
            <a:ext cx="3821316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Adults with primary bioprosthetic SAVR or TAVR into native anatomy, with a baseline reference echo at 30–90 days and ≥1 later echo.</a:t>
            </a:r>
            <a:endParaRPr sz="1200" dirty="0"/>
          </a:p>
        </p:txBody>
      </p:sp>
      <p:sp>
        <p:nvSpPr>
          <p:cNvPr id="1279" name="Google Shape;1279;p37"/>
          <p:cNvSpPr txBox="1">
            <a:spLocks noGrp="1"/>
          </p:cNvSpPr>
          <p:nvPr>
            <p:ph type="subTitle" idx="3"/>
          </p:nvPr>
        </p:nvSpPr>
        <p:spPr>
          <a:xfrm>
            <a:off x="282928" y="859390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Target Population</a:t>
            </a:r>
            <a:endParaRPr sz="1600" dirty="0"/>
          </a:p>
        </p:txBody>
      </p:sp>
      <p:sp>
        <p:nvSpPr>
          <p:cNvPr id="1282" name="Google Shape;1282;p37"/>
          <p:cNvSpPr txBox="1">
            <a:spLocks noGrp="1"/>
          </p:cNvSpPr>
          <p:nvPr>
            <p:ph type="subTitle" idx="6"/>
          </p:nvPr>
        </p:nvSpPr>
        <p:spPr>
          <a:xfrm>
            <a:off x="282928" y="1800240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Exclusion</a:t>
            </a:r>
            <a:endParaRPr sz="2000" dirty="0"/>
          </a:p>
        </p:txBody>
      </p:sp>
      <p:sp>
        <p:nvSpPr>
          <p:cNvPr id="1283" name="Google Shape;1283;p37"/>
          <p:cNvSpPr txBox="1">
            <a:spLocks noGrp="1"/>
          </p:cNvSpPr>
          <p:nvPr>
            <p:ph type="subTitle" idx="7"/>
          </p:nvPr>
        </p:nvSpPr>
        <p:spPr>
          <a:xfrm>
            <a:off x="136207" y="2652550"/>
            <a:ext cx="4435793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de-DE" sz="1100" dirty="0" err="1"/>
              <a:t>mechanical</a:t>
            </a:r>
            <a:r>
              <a:rPr lang="de-DE" sz="1100" dirty="0"/>
              <a:t> </a:t>
            </a:r>
            <a:r>
              <a:rPr lang="de-DE" sz="1100" dirty="0" err="1"/>
              <a:t>valve</a:t>
            </a:r>
            <a:r>
              <a:rPr lang="de-DE" sz="1100" dirty="0"/>
              <a:t> · </a:t>
            </a:r>
            <a:r>
              <a:rPr lang="de-DE" sz="1100" dirty="0" err="1"/>
              <a:t>valve</a:t>
            </a:r>
            <a:r>
              <a:rPr lang="de-DE" sz="1100" dirty="0"/>
              <a:t>-in-</a:t>
            </a:r>
            <a:r>
              <a:rPr lang="de-DE" sz="1100" dirty="0" err="1"/>
              <a:t>valve</a:t>
            </a:r>
            <a:r>
              <a:rPr lang="de-DE" sz="1100" dirty="0"/>
              <a:t> as </a:t>
            </a:r>
            <a:r>
              <a:rPr lang="de-DE" sz="1100" dirty="0" err="1"/>
              <a:t>index</a:t>
            </a:r>
            <a:r>
              <a:rPr lang="de-DE" sz="1100" dirty="0"/>
              <a:t> </a:t>
            </a:r>
            <a:r>
              <a:rPr lang="de-DE" sz="1100" dirty="0" err="1"/>
              <a:t>procedure</a:t>
            </a:r>
            <a:endParaRPr lang="de-DE" sz="1100" dirty="0"/>
          </a:p>
          <a:p>
            <a:r>
              <a:rPr lang="de-DE" sz="1100" dirty="0" err="1"/>
              <a:t>concomitant</a:t>
            </a:r>
            <a:r>
              <a:rPr lang="de-DE" sz="1100" dirty="0"/>
              <a:t> mitral/</a:t>
            </a:r>
            <a:r>
              <a:rPr lang="de-DE" sz="1100" dirty="0" err="1"/>
              <a:t>tricuspid</a:t>
            </a:r>
            <a:r>
              <a:rPr lang="de-DE" sz="1100" dirty="0"/>
              <a:t> </a:t>
            </a:r>
            <a:r>
              <a:rPr lang="de-DE" sz="1100" dirty="0" err="1"/>
              <a:t>replacement</a:t>
            </a:r>
            <a:r>
              <a:rPr lang="de-DE" sz="1100" dirty="0"/>
              <a:t> · </a:t>
            </a:r>
            <a:r>
              <a:rPr lang="de-DE" sz="1100" dirty="0" err="1"/>
              <a:t>active</a:t>
            </a:r>
            <a:endParaRPr lang="de-DE" sz="1100" dirty="0"/>
          </a:p>
          <a:p>
            <a:r>
              <a:rPr lang="de-DE" sz="1100" dirty="0" err="1"/>
              <a:t>endocarditis</a:t>
            </a:r>
            <a:r>
              <a:rPr lang="de-DE" sz="1100" dirty="0"/>
              <a:t> at the </a:t>
            </a:r>
            <a:r>
              <a:rPr lang="de-DE" sz="1100" dirty="0" err="1"/>
              <a:t>index</a:t>
            </a:r>
            <a:r>
              <a:rPr lang="de-DE" sz="1100" dirty="0"/>
              <a:t> </a:t>
            </a:r>
            <a:r>
              <a:rPr lang="de-DE" sz="1100" dirty="0" err="1"/>
              <a:t>operation</a:t>
            </a:r>
            <a:r>
              <a:rPr lang="de-DE" sz="1100" dirty="0"/>
              <a:t> · </a:t>
            </a:r>
            <a:r>
              <a:rPr lang="de-DE" sz="1100" dirty="0" err="1"/>
              <a:t>no</a:t>
            </a:r>
            <a:r>
              <a:rPr lang="de-DE" sz="1100" dirty="0"/>
              <a:t> </a:t>
            </a:r>
            <a:r>
              <a:rPr lang="de-DE" sz="1100" dirty="0" err="1"/>
              <a:t>baseline</a:t>
            </a:r>
            <a:r>
              <a:rPr lang="de-DE" sz="1100" dirty="0"/>
              <a:t> echo</a:t>
            </a:r>
            <a:r>
              <a:rPr lang="en-US" sz="1100" dirty="0"/>
              <a:t>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i="1" dirty="0"/>
              <a:t>E</a:t>
            </a:r>
            <a:r>
              <a:rPr lang="el-GR" sz="1100" i="1" dirty="0" err="1"/>
              <a:t>vent-free</a:t>
            </a:r>
            <a:r>
              <a:rPr lang="el-GR" sz="1100" i="1" dirty="0"/>
              <a:t> </a:t>
            </a:r>
            <a:r>
              <a:rPr lang="el-GR" sz="1100" i="1" dirty="0" err="1"/>
              <a:t>follow-up</a:t>
            </a:r>
            <a:r>
              <a:rPr lang="en-US" sz="1100" i="1" dirty="0"/>
              <a:t> of patients who develop</a:t>
            </a:r>
          </a:p>
          <a:p>
            <a:r>
              <a:rPr lang="en-US" sz="1100" i="1" dirty="0"/>
              <a:t>endocarditis, paravalvular leak/thrombosis, NSVD after</a:t>
            </a:r>
          </a:p>
          <a:p>
            <a:r>
              <a:rPr lang="en-US" sz="1100" i="1" dirty="0"/>
              <a:t>implantation</a:t>
            </a:r>
            <a:r>
              <a:rPr lang="el-GR" sz="1100" i="1" dirty="0"/>
              <a:t> </a:t>
            </a:r>
            <a:r>
              <a:rPr lang="el-GR" sz="1100" i="1" dirty="0" err="1"/>
              <a:t>still</a:t>
            </a:r>
            <a:r>
              <a:rPr lang="el-GR" sz="1100" i="1" dirty="0"/>
              <a:t> </a:t>
            </a:r>
            <a:r>
              <a:rPr lang="el-GR" sz="1100" i="1" dirty="0" err="1"/>
              <a:t>contributes</a:t>
            </a:r>
            <a:r>
              <a:rPr lang="el-GR" sz="1100" i="1" dirty="0"/>
              <a:t> </a:t>
            </a:r>
            <a:r>
              <a:rPr lang="el-GR" sz="1100" i="1" dirty="0" err="1"/>
              <a:t>to</a:t>
            </a:r>
            <a:r>
              <a:rPr lang="el-GR" sz="1100" i="1" dirty="0"/>
              <a:t> the </a:t>
            </a:r>
            <a:r>
              <a:rPr lang="el-GR" sz="1100" i="1" dirty="0" err="1"/>
              <a:t>model</a:t>
            </a:r>
            <a:r>
              <a:rPr lang="el-GR" sz="1100" i="1" dirty="0"/>
              <a:t>.</a:t>
            </a:r>
          </a:p>
          <a:p>
            <a:br>
              <a:rPr lang="el-GR" sz="1200" dirty="0"/>
            </a:br>
            <a:endParaRPr sz="1200" dirty="0"/>
          </a:p>
        </p:txBody>
      </p:sp>
      <p:sp>
        <p:nvSpPr>
          <p:cNvPr id="1285" name="Google Shape;1285;p37"/>
          <p:cNvSpPr txBox="1">
            <a:spLocks noGrp="1"/>
          </p:cNvSpPr>
          <p:nvPr>
            <p:ph type="subTitle" idx="9"/>
          </p:nvPr>
        </p:nvSpPr>
        <p:spPr>
          <a:xfrm>
            <a:off x="282928" y="3188502"/>
            <a:ext cx="37428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Endpoints</a:t>
            </a:r>
            <a:endParaRPr sz="2000" dirty="0"/>
          </a:p>
        </p:txBody>
      </p:sp>
      <p:sp>
        <p:nvSpPr>
          <p:cNvPr id="1286" name="Google Shape;1286;p37"/>
          <p:cNvSpPr txBox="1">
            <a:spLocks noGrp="1"/>
          </p:cNvSpPr>
          <p:nvPr>
            <p:ph type="subTitle" idx="13"/>
          </p:nvPr>
        </p:nvSpPr>
        <p:spPr>
          <a:xfrm>
            <a:off x="282928" y="3995412"/>
            <a:ext cx="4522752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Primary</a:t>
            </a:r>
            <a:r>
              <a:rPr lang="en-US" sz="1200" b="1" dirty="0"/>
              <a:t>: the functional course of the valve and the transitions along it — normal → moderate → severe deterioration or failure-SVD (inc. SVD-related reintervention, SVD-related death</a:t>
            </a:r>
            <a:r>
              <a:rPr lang="en-US" sz="1200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Secondary: all-cause reintervention · clinically expressive failure · paravalvular leak progression · non-structural failure · all-cause mortality = competing risk</a:t>
            </a:r>
            <a:endParaRPr sz="1300" dirty="0"/>
          </a:p>
        </p:txBody>
      </p:sp>
      <p:grpSp>
        <p:nvGrpSpPr>
          <p:cNvPr id="1292" name="Google Shape;1292;p37"/>
          <p:cNvGrpSpPr/>
          <p:nvPr/>
        </p:nvGrpSpPr>
        <p:grpSpPr>
          <a:xfrm>
            <a:off x="7429225" y="1024425"/>
            <a:ext cx="76825" cy="76800"/>
            <a:chOff x="3104875" y="1099400"/>
            <a:chExt cx="76825" cy="76800"/>
          </a:xfrm>
        </p:grpSpPr>
        <p:sp>
          <p:nvSpPr>
            <p:cNvPr id="1293" name="Google Shape;1293;p3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3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5" name="Google Shape;1295;p37"/>
          <p:cNvGrpSpPr/>
          <p:nvPr/>
        </p:nvGrpSpPr>
        <p:grpSpPr>
          <a:xfrm>
            <a:off x="1469800" y="605875"/>
            <a:ext cx="76825" cy="76800"/>
            <a:chOff x="3104875" y="1099400"/>
            <a:chExt cx="76825" cy="76800"/>
          </a:xfrm>
        </p:grpSpPr>
        <p:sp>
          <p:nvSpPr>
            <p:cNvPr id="1296" name="Google Shape;1296;p3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3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298" name="Google Shape;1298;p37"/>
          <p:cNvPicPr preferRelativeResize="0"/>
          <p:nvPr/>
        </p:nvPicPr>
        <p:blipFill rotWithShape="1">
          <a:blip r:embed="rId3">
            <a:alphaModFix/>
          </a:blip>
          <a:srcRect l="18647" t="7960" r="8852" b="8337"/>
          <a:stretch/>
        </p:blipFill>
        <p:spPr>
          <a:xfrm rot="-9296825">
            <a:off x="7261373" y="109212"/>
            <a:ext cx="1647828" cy="107015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D6C8795A-018D-DA82-4F25-A11DEB4207E7}"/>
              </a:ext>
            </a:extLst>
          </p:cNvPr>
          <p:cNvSpPr txBox="1"/>
          <p:nvPr/>
        </p:nvSpPr>
        <p:spPr>
          <a:xfrm>
            <a:off x="4712766" y="1151891"/>
            <a:ext cx="414830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77D6"/>
              </a:buClr>
              <a:buSzPts val="1400"/>
              <a:buFont typeface="Montserrat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sym typeface="Montserrat"/>
              </a:rPr>
              <a:t>Every criterion is change from the patient's own baseline echo</a:t>
            </a:r>
            <a:r>
              <a:rPr lang="en-US" sz="1200" dirty="0">
                <a:solidFill>
                  <a:srgbClr val="FFFFFF"/>
                </a:solidFill>
                <a:latin typeface="Montserrat"/>
                <a:sym typeface="Montserrat"/>
              </a:rPr>
              <a:t>. Adhering to VARC-3.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sym typeface="Montserrat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77D6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sym typeface="Montserrat"/>
              </a:rPr>
              <a:t>Stenosis: gradient rise AND a concomitant fall in valve area or Doppler velocity index · Moderate Δ≥10 → ≥20 mmHg · Severe Δ≥20 → ≥30 mmHg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77D6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sym typeface="Montserrat"/>
              </a:rPr>
              <a:t>Regurgitation: new or worsening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sym typeface="Montserrat"/>
              </a:rPr>
              <a:t>intraprosthetic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sym typeface="Montserrat"/>
              </a:rPr>
              <a:t> AR —· Moderate ≥1 grade → ≥moderate · Severe ≥2 grades → severe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77D6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sym typeface="Montserrat"/>
              </a:rPr>
              <a:t>A gradient that rises with no fall in area or velocity index is usually more flow, not a failing valve.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77D6"/>
              </a:buClr>
              <a:buSzPts val="1400"/>
              <a:buFont typeface="Montserrat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sym typeface="Montserrat"/>
              </a:rPr>
              <a:t>Confirmed, not single-shot: repeat echo ≥4 weeks later, or CT/TEE, or reintervention/death within 6 months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77D6"/>
              </a:buClr>
              <a:buSzPts val="1400"/>
              <a:buFont typeface="Montserrat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sym typeface="Montserrat"/>
              </a:rPr>
              <a:t>Evidence hierarchy: explant pathology &gt; reintervention for a structural cause &gt; serial echo..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77D6"/>
              </a:buClr>
              <a:buSzPts val="1400"/>
              <a:buFont typeface="Montserrat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sym typeface="Montserrat"/>
              </a:rPr>
              <a:t>All candidate events are adjudicated by an </a:t>
            </a: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sym typeface="Montserrat"/>
              </a:rPr>
              <a:t>independent clinical events committee,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sym typeface="Montserrat"/>
              </a:rPr>
              <a:t> blinded to model output — together with a random sample of records the algorithm called negative, so that missed events are detectable.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sym typeface="Montserrat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ADB3182-0DD9-D134-9FF8-DF27E3045CE5}"/>
              </a:ext>
            </a:extLst>
          </p:cNvPr>
          <p:cNvSpPr txBox="1"/>
          <p:nvPr/>
        </p:nvSpPr>
        <p:spPr>
          <a:xfrm>
            <a:off x="4431235" y="882651"/>
            <a:ext cx="49865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77D6"/>
              </a:buClr>
              <a:buSzPts val="2400"/>
              <a:buFont typeface="Bebas Neue"/>
              <a:buNone/>
              <a:tabLst/>
              <a:defRPr/>
            </a:pPr>
            <a:r>
              <a:rPr kumimoji="0" lang="en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lack"/>
                <a:sym typeface="Montserrat Black"/>
              </a:rPr>
              <a:t>Ground Truth Definition for</a:t>
            </a:r>
            <a:r>
              <a:rPr kumimoji="0" lang="el-GR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sym typeface="Montserrat Black"/>
              </a:rPr>
              <a:t>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Black"/>
                <a:sym typeface="Montserrat Black"/>
              </a:rPr>
              <a:t>SVD Y=1 </a:t>
            </a:r>
            <a:endParaRPr lang="el-GR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3">
          <a:extLst>
            <a:ext uri="{FF2B5EF4-FFF2-40B4-BE49-F238E27FC236}">
              <a16:creationId xmlns:a16="http://schemas.microsoft.com/office/drawing/2014/main" id="{55D8E769-445E-29D8-AA68-1B0CDB470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p39">
            <a:extLst>
              <a:ext uri="{FF2B5EF4-FFF2-40B4-BE49-F238E27FC236}">
                <a16:creationId xmlns:a16="http://schemas.microsoft.com/office/drawing/2014/main" id="{786DECD0-FEB0-A4D2-AD68-45986BAA233F}"/>
              </a:ext>
            </a:extLst>
          </p:cNvPr>
          <p:cNvSpPr/>
          <p:nvPr/>
        </p:nvSpPr>
        <p:spPr>
          <a:xfrm rot="5400000">
            <a:off x="1323487" y="1254786"/>
            <a:ext cx="956100" cy="828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733C9B">
              <a:alpha val="3302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5" name="Google Shape;1325;p39">
            <a:extLst>
              <a:ext uri="{FF2B5EF4-FFF2-40B4-BE49-F238E27FC236}">
                <a16:creationId xmlns:a16="http://schemas.microsoft.com/office/drawing/2014/main" id="{DD91997D-307A-C80D-2B8C-F36F7803659A}"/>
              </a:ext>
            </a:extLst>
          </p:cNvPr>
          <p:cNvSpPr/>
          <p:nvPr/>
        </p:nvSpPr>
        <p:spPr>
          <a:xfrm rot="5400000">
            <a:off x="3988160" y="1294272"/>
            <a:ext cx="956100" cy="828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733C9B">
              <a:alpha val="3302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26" name="Google Shape;1326;p39">
            <a:extLst>
              <a:ext uri="{FF2B5EF4-FFF2-40B4-BE49-F238E27FC236}">
                <a16:creationId xmlns:a16="http://schemas.microsoft.com/office/drawing/2014/main" id="{B360509F-E548-BA2F-7E8E-1E17C7D15114}"/>
              </a:ext>
            </a:extLst>
          </p:cNvPr>
          <p:cNvSpPr/>
          <p:nvPr/>
        </p:nvSpPr>
        <p:spPr>
          <a:xfrm rot="5400000">
            <a:off x="6802806" y="1294272"/>
            <a:ext cx="956100" cy="8286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733C9B">
              <a:alpha val="3302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7" name="Google Shape;1327;p39">
            <a:extLst>
              <a:ext uri="{FF2B5EF4-FFF2-40B4-BE49-F238E27FC236}">
                <a16:creationId xmlns:a16="http://schemas.microsoft.com/office/drawing/2014/main" id="{D50581A9-E6B5-F4F4-F743-A6AE7D52E2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Why ValveGuard matters</a:t>
            </a:r>
            <a:endParaRPr dirty="0"/>
          </a:p>
        </p:txBody>
      </p:sp>
      <p:sp>
        <p:nvSpPr>
          <p:cNvPr id="1328" name="Google Shape;1328;p39">
            <a:extLst>
              <a:ext uri="{FF2B5EF4-FFF2-40B4-BE49-F238E27FC236}">
                <a16:creationId xmlns:a16="http://schemas.microsoft.com/office/drawing/2014/main" id="{EE4098CB-0C3E-B405-1FE6-4DA8B1BF763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68417" y="2925882"/>
            <a:ext cx="2668265" cy="89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sz="1300" dirty="0"/>
              <a:t>Arbitrary &amp; annual </a:t>
            </a:r>
            <a:r>
              <a:rPr lang="en-US" sz="1300" dirty="0">
                <a:sym typeface="Wingdings" panose="05000000000000000000" pitchFamily="2" charset="2"/>
              </a:rPr>
              <a:t> </a:t>
            </a:r>
          </a:p>
          <a:p>
            <a:pPr marL="0" indent="0"/>
            <a:r>
              <a:rPr lang="en-US" sz="1300" b="1" dirty="0"/>
              <a:t>risk-adapted follow-up intervals. </a:t>
            </a:r>
            <a:r>
              <a:rPr lang="en-US" sz="1300" dirty="0"/>
              <a:t>(e.g. 3-6 months - high-risk vs 18-24 - stable low risk). Emergencies </a:t>
            </a:r>
            <a:r>
              <a:rPr lang="en-US" sz="1300" dirty="0">
                <a:sym typeface="Wingdings" panose="05000000000000000000" pitchFamily="2" charset="2"/>
              </a:rPr>
              <a:t> </a:t>
            </a:r>
            <a:r>
              <a:rPr lang="en-US" sz="1300" dirty="0"/>
              <a:t>scheduled re-do operations.</a:t>
            </a:r>
          </a:p>
          <a:p>
            <a:pPr marL="0" indent="0"/>
            <a:r>
              <a:rPr lang="en-US" sz="1300" dirty="0"/>
              <a:t> Medical system relieved, </a:t>
            </a:r>
            <a:r>
              <a:rPr lang="en-US" sz="1300" b="1" dirty="0"/>
              <a:t>shifting slots toward patients who need them.</a:t>
            </a:r>
          </a:p>
          <a:p>
            <a:pPr marL="0" indent="0"/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29" name="Google Shape;1329;p39">
            <a:extLst>
              <a:ext uri="{FF2B5EF4-FFF2-40B4-BE49-F238E27FC236}">
                <a16:creationId xmlns:a16="http://schemas.microsoft.com/office/drawing/2014/main" id="{60517F96-435B-8373-99EB-7F05584D4A96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119467" y="2980918"/>
            <a:ext cx="2773911" cy="89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300" dirty="0"/>
              <a:t>Deteriorating valves can sometimes hide behind normal gradients, as stroke volume falls. ValveGuard uses metrics such as </a:t>
            </a:r>
            <a:r>
              <a:rPr lang="el-GR" sz="1300" b="1" dirty="0" err="1"/>
              <a:t>Doppler</a:t>
            </a:r>
            <a:r>
              <a:rPr lang="el-GR" sz="1300" b="1" dirty="0"/>
              <a:t> </a:t>
            </a:r>
            <a:r>
              <a:rPr lang="en-US" sz="1300" b="1" dirty="0"/>
              <a:t>V</a:t>
            </a:r>
            <a:r>
              <a:rPr lang="el-GR" sz="1300" b="1" dirty="0" err="1"/>
              <a:t>elocity</a:t>
            </a:r>
            <a:r>
              <a:rPr lang="el-GR" sz="1300" b="1" dirty="0"/>
              <a:t> </a:t>
            </a:r>
            <a:r>
              <a:rPr lang="en-US" sz="1300" b="1" dirty="0"/>
              <a:t>I</a:t>
            </a:r>
            <a:r>
              <a:rPr lang="el-GR" sz="1300" b="1" dirty="0" err="1"/>
              <a:t>ndex</a:t>
            </a:r>
            <a:r>
              <a:rPr lang="el-GR" sz="1300" b="1" dirty="0"/>
              <a:t> </a:t>
            </a:r>
            <a:r>
              <a:rPr lang="el-GR" sz="1300" dirty="0"/>
              <a:t>and</a:t>
            </a:r>
            <a:r>
              <a:rPr lang="el-GR" sz="1300" b="1" dirty="0"/>
              <a:t> </a:t>
            </a:r>
            <a:r>
              <a:rPr lang="en-US" sz="1300" b="1" dirty="0"/>
              <a:t>Effective Orifice Area</a:t>
            </a:r>
            <a:r>
              <a:rPr lang="en-US" sz="1300" dirty="0"/>
              <a:t>, uncovering masked deterioration.</a:t>
            </a:r>
            <a:endParaRPr sz="1300" dirty="0"/>
          </a:p>
        </p:txBody>
      </p:sp>
      <p:sp>
        <p:nvSpPr>
          <p:cNvPr id="1330" name="Google Shape;1330;p39">
            <a:extLst>
              <a:ext uri="{FF2B5EF4-FFF2-40B4-BE49-F238E27FC236}">
                <a16:creationId xmlns:a16="http://schemas.microsoft.com/office/drawing/2014/main" id="{B8192624-703E-A681-0F15-D4F85AC32CDC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5804241" y="2929116"/>
            <a:ext cx="2963917" cy="89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300" dirty="0"/>
              <a:t>Predicts what the next echocardiogram will show — </a:t>
            </a:r>
            <a:r>
              <a:rPr lang="en-US" sz="1300" b="1" dirty="0"/>
              <a:t>graded on it at the next visit. </a:t>
            </a:r>
            <a:r>
              <a:rPr lang="en-US" sz="1300" dirty="0"/>
              <a:t>A</a:t>
            </a:r>
            <a:r>
              <a:rPr lang="el-GR" sz="1300" dirty="0" err="1"/>
              <a:t>ccumulated</a:t>
            </a:r>
            <a:r>
              <a:rPr lang="el-GR" sz="1300" dirty="0"/>
              <a:t> </a:t>
            </a:r>
            <a:r>
              <a:rPr lang="el-GR" sz="1300" dirty="0" err="1"/>
              <a:t>forecast</a:t>
            </a:r>
            <a:r>
              <a:rPr lang="el-GR" sz="1300" dirty="0"/>
              <a:t> </a:t>
            </a:r>
            <a:r>
              <a:rPr lang="el-GR" sz="1300" dirty="0" err="1"/>
              <a:t>accuracy</a:t>
            </a:r>
            <a:r>
              <a:rPr lang="el-GR" sz="1300" dirty="0"/>
              <a:t> </a:t>
            </a:r>
            <a:r>
              <a:rPr lang="el-GR" sz="1300" dirty="0" err="1"/>
              <a:t>becomes</a:t>
            </a:r>
            <a:r>
              <a:rPr lang="el-GR" sz="1300" dirty="0"/>
              <a:t>  </a:t>
            </a:r>
            <a:r>
              <a:rPr lang="el-GR" sz="1300" dirty="0" err="1"/>
              <a:t>running</a:t>
            </a:r>
            <a:r>
              <a:rPr lang="el-GR" sz="1300" dirty="0"/>
              <a:t> </a:t>
            </a:r>
            <a:r>
              <a:rPr lang="el-GR" sz="1300" dirty="0" err="1"/>
              <a:t>prospective</a:t>
            </a:r>
            <a:r>
              <a:rPr lang="el-GR" sz="1300" dirty="0"/>
              <a:t> </a:t>
            </a:r>
            <a:r>
              <a:rPr lang="el-GR" sz="1300" dirty="0" err="1"/>
              <a:t>validation</a:t>
            </a:r>
            <a:r>
              <a:rPr lang="el-GR" sz="1300" dirty="0"/>
              <a:t> </a:t>
            </a:r>
            <a:r>
              <a:rPr lang="el-GR" sz="1300" b="1" dirty="0" err="1"/>
              <a:t>at</a:t>
            </a:r>
            <a:r>
              <a:rPr lang="el-GR" sz="1300" b="1" dirty="0"/>
              <a:t> </a:t>
            </a:r>
            <a:r>
              <a:rPr lang="el-GR" sz="1300" b="1" dirty="0" err="1"/>
              <a:t>zero</a:t>
            </a:r>
            <a:r>
              <a:rPr lang="el-GR" sz="1300" b="1" dirty="0"/>
              <a:t> </a:t>
            </a:r>
            <a:r>
              <a:rPr lang="el-GR" sz="1300" b="1" dirty="0" err="1"/>
              <a:t>extra</a:t>
            </a:r>
            <a:r>
              <a:rPr lang="el-GR" sz="1300" b="1" dirty="0"/>
              <a:t> </a:t>
            </a:r>
            <a:r>
              <a:rPr lang="el-GR" sz="1300" b="1" dirty="0" err="1"/>
              <a:t>data</a:t>
            </a:r>
            <a:r>
              <a:rPr lang="el-GR" sz="1300" b="1" dirty="0"/>
              <a:t> </a:t>
            </a:r>
            <a:r>
              <a:rPr lang="el-GR" sz="1300" b="1" dirty="0" err="1"/>
              <a:t>cost</a:t>
            </a:r>
            <a:r>
              <a:rPr lang="el-GR" sz="1300" dirty="0"/>
              <a:t>.</a:t>
            </a:r>
            <a:endParaRPr sz="1300" dirty="0"/>
          </a:p>
        </p:txBody>
      </p:sp>
      <p:sp>
        <p:nvSpPr>
          <p:cNvPr id="1331" name="Google Shape;1331;p39">
            <a:extLst>
              <a:ext uri="{FF2B5EF4-FFF2-40B4-BE49-F238E27FC236}">
                <a16:creationId xmlns:a16="http://schemas.microsoft.com/office/drawing/2014/main" id="{B740469D-AD65-4B4E-4B34-6B1ABED23453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720000" y="2510229"/>
            <a:ext cx="2128498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Ideal Next Follow-Up Date</a:t>
            </a:r>
            <a:endParaRPr sz="1800" dirty="0"/>
          </a:p>
        </p:txBody>
      </p:sp>
      <p:sp>
        <p:nvSpPr>
          <p:cNvPr id="1332" name="Google Shape;1332;p39">
            <a:extLst>
              <a:ext uri="{FF2B5EF4-FFF2-40B4-BE49-F238E27FC236}">
                <a16:creationId xmlns:a16="http://schemas.microsoft.com/office/drawing/2014/main" id="{A54F48FF-8BF6-65EE-5811-EF7532D2A44F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3430675" y="2570067"/>
            <a:ext cx="2095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Recognizing a Blind Spot</a:t>
            </a:r>
            <a:endParaRPr sz="1800" dirty="0"/>
          </a:p>
        </p:txBody>
      </p:sp>
      <p:sp>
        <p:nvSpPr>
          <p:cNvPr id="1333" name="Google Shape;1333;p39">
            <a:extLst>
              <a:ext uri="{FF2B5EF4-FFF2-40B4-BE49-F238E27FC236}">
                <a16:creationId xmlns:a16="http://schemas.microsoft.com/office/drawing/2014/main" id="{31AEC4E3-27D4-C3B8-8933-D6753FAA8F4C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6275263" y="2615743"/>
            <a:ext cx="2095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A Self-Auditing Model</a:t>
            </a:r>
            <a:endParaRPr sz="1800" dirty="0"/>
          </a:p>
        </p:txBody>
      </p:sp>
      <p:grpSp>
        <p:nvGrpSpPr>
          <p:cNvPr id="1372" name="Google Shape;1372;p39">
            <a:extLst>
              <a:ext uri="{FF2B5EF4-FFF2-40B4-BE49-F238E27FC236}">
                <a16:creationId xmlns:a16="http://schemas.microsoft.com/office/drawing/2014/main" id="{9F28AADF-AC56-B22E-739A-64807AED01D7}"/>
              </a:ext>
            </a:extLst>
          </p:cNvPr>
          <p:cNvGrpSpPr/>
          <p:nvPr/>
        </p:nvGrpSpPr>
        <p:grpSpPr>
          <a:xfrm>
            <a:off x="8049377" y="1836194"/>
            <a:ext cx="76825" cy="76800"/>
            <a:chOff x="3104875" y="1099400"/>
            <a:chExt cx="76825" cy="76800"/>
          </a:xfrm>
        </p:grpSpPr>
        <p:sp>
          <p:nvSpPr>
            <p:cNvPr id="1373" name="Google Shape;1373;p39">
              <a:extLst>
                <a:ext uri="{FF2B5EF4-FFF2-40B4-BE49-F238E27FC236}">
                  <a16:creationId xmlns:a16="http://schemas.microsoft.com/office/drawing/2014/main" id="{EC763CBC-58A8-D1C0-3477-21746C759EC3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39">
              <a:extLst>
                <a:ext uri="{FF2B5EF4-FFF2-40B4-BE49-F238E27FC236}">
                  <a16:creationId xmlns:a16="http://schemas.microsoft.com/office/drawing/2014/main" id="{D8E7C4D3-0E9C-8F34-0FF4-2422719B2CB0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5" name="Google Shape;1375;p39">
            <a:extLst>
              <a:ext uri="{FF2B5EF4-FFF2-40B4-BE49-F238E27FC236}">
                <a16:creationId xmlns:a16="http://schemas.microsoft.com/office/drawing/2014/main" id="{43DB2E8D-C314-B391-A571-8457C126D777}"/>
              </a:ext>
            </a:extLst>
          </p:cNvPr>
          <p:cNvGrpSpPr/>
          <p:nvPr/>
        </p:nvGrpSpPr>
        <p:grpSpPr>
          <a:xfrm rot="16724473">
            <a:off x="3092773" y="4640407"/>
            <a:ext cx="76828" cy="76803"/>
            <a:chOff x="3104875" y="1099400"/>
            <a:chExt cx="76825" cy="76800"/>
          </a:xfrm>
        </p:grpSpPr>
        <p:sp>
          <p:nvSpPr>
            <p:cNvPr id="1376" name="Google Shape;1376;p39">
              <a:extLst>
                <a:ext uri="{FF2B5EF4-FFF2-40B4-BE49-F238E27FC236}">
                  <a16:creationId xmlns:a16="http://schemas.microsoft.com/office/drawing/2014/main" id="{5CE58C42-713C-2A2C-CCF4-EAB63B836E14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39">
              <a:extLst>
                <a:ext uri="{FF2B5EF4-FFF2-40B4-BE49-F238E27FC236}">
                  <a16:creationId xmlns:a16="http://schemas.microsoft.com/office/drawing/2014/main" id="{56E1358B-FA5D-C7F3-DA54-39DD0CE50669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378" name="Google Shape;1378;p39">
            <a:extLst>
              <a:ext uri="{FF2B5EF4-FFF2-40B4-BE49-F238E27FC236}">
                <a16:creationId xmlns:a16="http://schemas.microsoft.com/office/drawing/2014/main" id="{A057AAD7-B8B4-233C-0F21-550B079C5FF2}"/>
              </a:ext>
            </a:extLst>
          </p:cNvPr>
          <p:cNvGrpSpPr/>
          <p:nvPr/>
        </p:nvGrpSpPr>
        <p:grpSpPr>
          <a:xfrm>
            <a:off x="3184011" y="1292395"/>
            <a:ext cx="76825" cy="76800"/>
            <a:chOff x="3104875" y="1099400"/>
            <a:chExt cx="76825" cy="76800"/>
          </a:xfrm>
        </p:grpSpPr>
        <p:sp>
          <p:nvSpPr>
            <p:cNvPr id="1379" name="Google Shape;1379;p39">
              <a:extLst>
                <a:ext uri="{FF2B5EF4-FFF2-40B4-BE49-F238E27FC236}">
                  <a16:creationId xmlns:a16="http://schemas.microsoft.com/office/drawing/2014/main" id="{17473507-7BF5-DF3F-BBE4-B84DAF6F5687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39">
              <a:extLst>
                <a:ext uri="{FF2B5EF4-FFF2-40B4-BE49-F238E27FC236}">
                  <a16:creationId xmlns:a16="http://schemas.microsoft.com/office/drawing/2014/main" id="{619DFFAD-27CE-3EF2-80A7-45278A08BBE2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381" name="Google Shape;1381;p39">
            <a:extLst>
              <a:ext uri="{FF2B5EF4-FFF2-40B4-BE49-F238E27FC236}">
                <a16:creationId xmlns:a16="http://schemas.microsoft.com/office/drawing/2014/main" id="{0827B9EC-CE00-6231-DFC2-91904474BDE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2010" r="18456"/>
          <a:stretch/>
        </p:blipFill>
        <p:spPr>
          <a:xfrm rot="1203247">
            <a:off x="7773019" y="919458"/>
            <a:ext cx="903665" cy="85381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82B7C44-FEBE-CE82-7817-84D1AD342C24}"/>
              </a:ext>
            </a:extLst>
          </p:cNvPr>
          <p:cNvSpPr txBox="1"/>
          <p:nvPr/>
        </p:nvSpPr>
        <p:spPr>
          <a:xfrm>
            <a:off x="658213" y="2517684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l-GR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3A542F0-8789-CDEA-D40C-7E580322A5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0848" y="1445078"/>
            <a:ext cx="451143" cy="53649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FBD107E-6B0B-C777-9870-E83FE4EE25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0876" y="1449591"/>
            <a:ext cx="474798" cy="51796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E2FE510-2ADA-12F3-FC18-88E64308C8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5110" y="1386999"/>
            <a:ext cx="530754" cy="530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241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Google Shape;1618;p47"/>
          <p:cNvSpPr txBox="1">
            <a:spLocks noGrp="1"/>
          </p:cNvSpPr>
          <p:nvPr>
            <p:ph type="title"/>
          </p:nvPr>
        </p:nvSpPr>
        <p:spPr>
          <a:xfrm>
            <a:off x="713213" y="670225"/>
            <a:ext cx="46968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l-GR" sz="1800" i="1" dirty="0" err="1"/>
              <a:t>What</a:t>
            </a:r>
            <a:r>
              <a:rPr lang="el-GR" sz="1800" i="1" dirty="0"/>
              <a:t> </a:t>
            </a:r>
            <a:r>
              <a:rPr lang="el-GR" sz="1800" i="1" dirty="0" err="1"/>
              <a:t>validation</a:t>
            </a:r>
            <a:r>
              <a:rPr lang="el-GR" sz="1800" i="1" dirty="0"/>
              <a:t> </a:t>
            </a:r>
            <a:r>
              <a:rPr lang="el-GR" sz="1800" i="1" dirty="0" err="1"/>
              <a:t>needs</a:t>
            </a:r>
            <a:endParaRPr sz="600" dirty="0"/>
          </a:p>
        </p:txBody>
      </p:sp>
      <p:sp>
        <p:nvSpPr>
          <p:cNvPr id="1619" name="Google Shape;1619;p47"/>
          <p:cNvSpPr txBox="1">
            <a:spLocks noGrp="1"/>
          </p:cNvSpPr>
          <p:nvPr>
            <p:ph type="subTitle" idx="1"/>
          </p:nvPr>
        </p:nvSpPr>
        <p:spPr>
          <a:xfrm>
            <a:off x="713213" y="1073425"/>
            <a:ext cx="4696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l-GR" i="1" dirty="0" err="1"/>
              <a:t>Pilot</a:t>
            </a:r>
            <a:r>
              <a:rPr lang="el-GR" i="1" dirty="0"/>
              <a:t> </a:t>
            </a:r>
            <a:r>
              <a:rPr lang="el-GR" i="1" dirty="0" err="1"/>
              <a:t>extraction</a:t>
            </a:r>
            <a:r>
              <a:rPr lang="el-GR" i="1" dirty="0"/>
              <a:t>, ~100 </a:t>
            </a:r>
            <a:r>
              <a:rPr lang="el-GR" i="1" dirty="0" err="1"/>
              <a:t>reports</a:t>
            </a:r>
            <a:r>
              <a:rPr lang="el-GR" i="1" dirty="0"/>
              <a:t> · </a:t>
            </a:r>
            <a:r>
              <a:rPr lang="en-US" i="1" dirty="0"/>
              <a:t>Multi-Center Testing: </a:t>
            </a:r>
            <a:r>
              <a:rPr lang="el-GR" i="1" dirty="0"/>
              <a:t>3,000–3,500 </a:t>
            </a:r>
            <a:r>
              <a:rPr lang="el-GR" i="1" dirty="0" err="1"/>
              <a:t>patients</a:t>
            </a:r>
            <a:r>
              <a:rPr lang="el-GR" i="1" dirty="0"/>
              <a:t> · ≥4.5 </a:t>
            </a:r>
            <a:r>
              <a:rPr lang="el-GR" i="1" dirty="0" err="1"/>
              <a:t>yr</a:t>
            </a:r>
            <a:r>
              <a:rPr lang="el-GR" i="1" dirty="0"/>
              <a:t> </a:t>
            </a:r>
            <a:r>
              <a:rPr lang="el-GR" i="1" dirty="0" err="1"/>
              <a:t>follow-up</a:t>
            </a:r>
            <a:r>
              <a:rPr lang="el-GR" i="1" dirty="0"/>
              <a:t> · </a:t>
            </a:r>
            <a:r>
              <a:rPr lang="el-GR" i="1" dirty="0" err="1"/>
              <a:t>Blinded</a:t>
            </a:r>
            <a:r>
              <a:rPr lang="el-GR" i="1" dirty="0"/>
              <a:t> </a:t>
            </a:r>
            <a:r>
              <a:rPr lang="el-GR" i="1" dirty="0" err="1"/>
              <a:t>committee</a:t>
            </a:r>
            <a:r>
              <a:rPr lang="el-GR" i="1" dirty="0"/>
              <a:t>, </a:t>
            </a:r>
            <a:r>
              <a:rPr lang="el-GR" i="1" dirty="0" err="1"/>
              <a:t>incl</a:t>
            </a:r>
            <a:r>
              <a:rPr lang="el-GR" i="1" dirty="0"/>
              <a:t>. </a:t>
            </a:r>
            <a:r>
              <a:rPr lang="el-GR" i="1" dirty="0" err="1"/>
              <a:t>random</a:t>
            </a:r>
            <a:r>
              <a:rPr lang="el-GR" i="1" dirty="0"/>
              <a:t> </a:t>
            </a:r>
            <a:r>
              <a:rPr lang="el-GR" i="1" dirty="0" err="1"/>
              <a:t>negatives</a:t>
            </a:r>
            <a:r>
              <a:rPr lang="el-GR" i="1" dirty="0"/>
              <a:t> · </a:t>
            </a:r>
            <a:r>
              <a:rPr lang="el-GR" i="1" dirty="0" err="1"/>
              <a:t>Registry</a:t>
            </a:r>
            <a:r>
              <a:rPr lang="el-GR" i="1" dirty="0"/>
              <a:t> </a:t>
            </a:r>
            <a:r>
              <a:rPr lang="el-GR" i="1" dirty="0" err="1"/>
              <a:t>linkage</a:t>
            </a:r>
            <a:r>
              <a:rPr lang="el-GR" i="1" dirty="0"/>
              <a:t> for </a:t>
            </a:r>
            <a:r>
              <a:rPr lang="el-GR" i="1" dirty="0" err="1"/>
              <a:t>mortality</a:t>
            </a:r>
            <a:r>
              <a:rPr lang="el-GR" i="1" dirty="0"/>
              <a:t> &amp; </a:t>
            </a:r>
            <a:r>
              <a:rPr lang="el-GR" i="1" dirty="0" err="1"/>
              <a:t>reintervention</a:t>
            </a:r>
            <a:r>
              <a:rPr lang="el-GR" i="1" dirty="0"/>
              <a:t> · </a:t>
            </a:r>
            <a:r>
              <a:rPr lang="el-GR" i="1" dirty="0" err="1"/>
              <a:t>Leave-one-centre-out</a:t>
            </a:r>
            <a:r>
              <a:rPr lang="el-GR" i="1" dirty="0"/>
              <a:t> + </a:t>
            </a:r>
            <a:r>
              <a:rPr lang="el-GR" i="1" dirty="0" err="1"/>
              <a:t>temporal</a:t>
            </a:r>
            <a:r>
              <a:rPr lang="el-GR" i="1" dirty="0"/>
              <a:t> </a:t>
            </a:r>
            <a:r>
              <a:rPr lang="el-GR" i="1" dirty="0" err="1"/>
              <a:t>validation</a:t>
            </a:r>
            <a:r>
              <a:rPr lang="el-GR" i="1" dirty="0"/>
              <a:t> · </a:t>
            </a:r>
            <a:r>
              <a:rPr lang="el-GR" i="1" dirty="0" err="1"/>
              <a:t>Ethics</a:t>
            </a:r>
            <a:r>
              <a:rPr lang="el-GR" i="1" dirty="0"/>
              <a:t>, </a:t>
            </a:r>
            <a:r>
              <a:rPr lang="el-GR" i="1" dirty="0" err="1"/>
              <a:t>joint</a:t>
            </a:r>
            <a:r>
              <a:rPr lang="el-GR" i="1" dirty="0"/>
              <a:t> </a:t>
            </a:r>
            <a:r>
              <a:rPr lang="el-GR" i="1" dirty="0" err="1"/>
              <a:t>controllership</a:t>
            </a:r>
            <a:r>
              <a:rPr lang="el-GR" i="1" dirty="0"/>
              <a:t>, DPIA</a:t>
            </a:r>
            <a:endParaRPr dirty="0"/>
          </a:p>
        </p:txBody>
      </p:sp>
      <p:sp>
        <p:nvSpPr>
          <p:cNvPr id="1620" name="Google Shape;1620;p47"/>
          <p:cNvSpPr txBox="1">
            <a:spLocks noGrp="1"/>
          </p:cNvSpPr>
          <p:nvPr>
            <p:ph type="title" idx="2"/>
          </p:nvPr>
        </p:nvSpPr>
        <p:spPr>
          <a:xfrm>
            <a:off x="4699163" y="2120655"/>
            <a:ext cx="46968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i="1" dirty="0"/>
              <a:t>Next 3 months</a:t>
            </a:r>
            <a:endParaRPr sz="2000" i="1" dirty="0"/>
          </a:p>
        </p:txBody>
      </p:sp>
      <p:sp>
        <p:nvSpPr>
          <p:cNvPr id="1621" name="Google Shape;1621;p47"/>
          <p:cNvSpPr txBox="1">
            <a:spLocks noGrp="1"/>
          </p:cNvSpPr>
          <p:nvPr>
            <p:ph type="subTitle" idx="3"/>
          </p:nvPr>
        </p:nvSpPr>
        <p:spPr>
          <a:xfrm>
            <a:off x="4116602" y="2558026"/>
            <a:ext cx="4696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l-GR" i="1" dirty="0" err="1"/>
              <a:t>Run</a:t>
            </a:r>
            <a:r>
              <a:rPr lang="el-GR" i="1" dirty="0"/>
              <a:t> the </a:t>
            </a:r>
            <a:r>
              <a:rPr lang="el-GR" i="1" dirty="0" err="1"/>
              <a:t>pilot</a:t>
            </a:r>
            <a:r>
              <a:rPr lang="el-GR" i="1" dirty="0"/>
              <a:t> </a:t>
            </a:r>
            <a:r>
              <a:rPr lang="el-GR" i="1" dirty="0" err="1"/>
              <a:t>extraction</a:t>
            </a:r>
            <a:r>
              <a:rPr lang="el-GR" i="1" dirty="0"/>
              <a:t>, </a:t>
            </a:r>
            <a:r>
              <a:rPr lang="el-GR" i="1" dirty="0" err="1"/>
              <a:t>publish</a:t>
            </a:r>
            <a:r>
              <a:rPr lang="el-GR" i="1" dirty="0"/>
              <a:t> the </a:t>
            </a:r>
            <a:r>
              <a:rPr lang="el-GR" i="1" dirty="0" err="1"/>
              <a:t>numbers</a:t>
            </a:r>
            <a:r>
              <a:rPr lang="el-GR" i="1" dirty="0"/>
              <a:t> · </a:t>
            </a:r>
            <a:r>
              <a:rPr lang="el-GR" i="1" dirty="0" err="1"/>
              <a:t>Freeze</a:t>
            </a:r>
            <a:r>
              <a:rPr lang="el-GR" i="1" dirty="0"/>
              <a:t> the </a:t>
            </a:r>
            <a:r>
              <a:rPr lang="el-GR" i="1" dirty="0" err="1"/>
              <a:t>label</a:t>
            </a:r>
            <a:r>
              <a:rPr lang="el-GR" i="1" dirty="0"/>
              <a:t> </a:t>
            </a:r>
            <a:r>
              <a:rPr lang="el-GR" i="1" dirty="0" err="1"/>
              <a:t>spec</a:t>
            </a:r>
            <a:r>
              <a:rPr lang="el-GR" i="1" dirty="0"/>
              <a:t>, </a:t>
            </a:r>
            <a:r>
              <a:rPr lang="el-GR" i="1" dirty="0" err="1"/>
              <a:t>build</a:t>
            </a:r>
            <a:r>
              <a:rPr lang="el-GR" i="1" dirty="0"/>
              <a:t> the </a:t>
            </a:r>
            <a:r>
              <a:rPr lang="el-GR" i="1" dirty="0" err="1"/>
              <a:t>pipeline</a:t>
            </a:r>
            <a:r>
              <a:rPr lang="el-GR" i="1" dirty="0"/>
              <a:t> · </a:t>
            </a:r>
            <a:r>
              <a:rPr lang="el-GR" i="1" dirty="0" err="1"/>
              <a:t>Fit</a:t>
            </a:r>
            <a:r>
              <a:rPr lang="el-GR" i="1" dirty="0"/>
              <a:t> the </a:t>
            </a:r>
            <a:r>
              <a:rPr lang="el-GR" i="1" dirty="0" err="1"/>
              <a:t>multi-state</a:t>
            </a:r>
            <a:r>
              <a:rPr lang="el-GR" i="1" dirty="0"/>
              <a:t> </a:t>
            </a:r>
            <a:r>
              <a:rPr lang="el-GR" i="1" dirty="0" err="1"/>
              <a:t>baseline</a:t>
            </a:r>
            <a:r>
              <a:rPr lang="el-GR" i="1" dirty="0"/>
              <a:t>, </a:t>
            </a:r>
            <a:r>
              <a:rPr lang="el-GR" i="1" dirty="0" err="1"/>
              <a:t>one</a:t>
            </a:r>
            <a:r>
              <a:rPr lang="el-GR" i="1" dirty="0"/>
              <a:t> </a:t>
            </a:r>
            <a:r>
              <a:rPr lang="el-GR" i="1" dirty="0" err="1"/>
              <a:t>centre</a:t>
            </a:r>
            <a:r>
              <a:rPr lang="el-GR" i="1" dirty="0"/>
              <a:t> · </a:t>
            </a:r>
            <a:r>
              <a:rPr lang="el-GR" i="1" dirty="0" err="1"/>
              <a:t>Submit</a:t>
            </a:r>
            <a:r>
              <a:rPr lang="el-GR" i="1" dirty="0"/>
              <a:t> </a:t>
            </a:r>
            <a:r>
              <a:rPr lang="el-GR" i="1" dirty="0" err="1"/>
              <a:t>to</a:t>
            </a:r>
            <a:r>
              <a:rPr lang="el-GR" i="1" dirty="0"/>
              <a:t> </a:t>
            </a:r>
            <a:r>
              <a:rPr lang="el-GR" i="1" dirty="0" err="1"/>
              <a:t>ethics</a:t>
            </a:r>
            <a:r>
              <a:rPr lang="el-GR" i="1" dirty="0"/>
              <a:t> in </a:t>
            </a:r>
            <a:r>
              <a:rPr lang="el-GR" i="1" dirty="0" err="1"/>
              <a:t>parallel</a:t>
            </a:r>
            <a:r>
              <a:rPr lang="en-US" i="1" dirty="0"/>
              <a:t> </a:t>
            </a:r>
            <a:r>
              <a:rPr lang="el-GR" dirty="0" err="1"/>
              <a:t>Train</a:t>
            </a:r>
            <a:r>
              <a:rPr lang="el-GR" dirty="0"/>
              <a:t> </a:t>
            </a:r>
            <a:r>
              <a:rPr lang="el-GR" dirty="0" err="1"/>
              <a:t>dynamic</a:t>
            </a:r>
            <a:r>
              <a:rPr lang="el-GR" dirty="0"/>
              <a:t> </a:t>
            </a:r>
            <a:r>
              <a:rPr lang="el-GR" dirty="0" err="1"/>
              <a:t>survival</a:t>
            </a:r>
            <a:r>
              <a:rPr lang="el-GR" dirty="0"/>
              <a:t> </a:t>
            </a:r>
            <a:r>
              <a:rPr lang="el-GR" dirty="0" err="1"/>
              <a:t>models</a:t>
            </a:r>
            <a:r>
              <a:rPr lang="el-GR" dirty="0"/>
              <a:t> (</a:t>
            </a:r>
            <a:r>
              <a:rPr lang="el-GR" dirty="0" err="1"/>
              <a:t>landmarking</a:t>
            </a:r>
            <a:r>
              <a:rPr lang="el-GR" dirty="0"/>
              <a:t>/</a:t>
            </a:r>
            <a:r>
              <a:rPr lang="el-GR" dirty="0" err="1"/>
              <a:t>joint</a:t>
            </a:r>
            <a:r>
              <a:rPr lang="el-GR" dirty="0"/>
              <a:t> </a:t>
            </a:r>
            <a:r>
              <a:rPr lang="el-GR" dirty="0" err="1"/>
              <a:t>modeling</a:t>
            </a:r>
            <a:r>
              <a:rPr lang="el-GR" dirty="0"/>
              <a:t>), </a:t>
            </a:r>
            <a:r>
              <a:rPr lang="el-GR" dirty="0" err="1"/>
              <a:t>validate</a:t>
            </a:r>
            <a:r>
              <a:rPr lang="el-GR" dirty="0"/>
              <a:t> </a:t>
            </a:r>
            <a:r>
              <a:rPr lang="el-GR" dirty="0" err="1"/>
              <a:t>across</a:t>
            </a:r>
            <a:r>
              <a:rPr lang="el-GR" dirty="0"/>
              <a:t> TAVR </a:t>
            </a:r>
            <a:r>
              <a:rPr lang="el-GR" dirty="0" err="1"/>
              <a:t>vs</a:t>
            </a:r>
            <a:r>
              <a:rPr lang="el-GR" dirty="0"/>
              <a:t>. SAVR </a:t>
            </a:r>
            <a:r>
              <a:rPr lang="el-GR" dirty="0" err="1"/>
              <a:t>subgroups</a:t>
            </a:r>
            <a:r>
              <a:rPr lang="el-GR" dirty="0"/>
              <a:t>, and </a:t>
            </a:r>
            <a:r>
              <a:rPr lang="el-GR" dirty="0" err="1"/>
              <a:t>run</a:t>
            </a:r>
            <a:r>
              <a:rPr lang="el-GR" dirty="0"/>
              <a:t> </a:t>
            </a:r>
            <a:r>
              <a:rPr lang="el-GR" dirty="0" err="1"/>
              <a:t>Decision</a:t>
            </a:r>
            <a:r>
              <a:rPr lang="el-GR" dirty="0"/>
              <a:t> </a:t>
            </a:r>
            <a:r>
              <a:rPr lang="el-GR" dirty="0" err="1"/>
              <a:t>Curve</a:t>
            </a:r>
            <a:r>
              <a:rPr lang="el-GR" dirty="0"/>
              <a:t> </a:t>
            </a:r>
            <a:r>
              <a:rPr lang="el-GR" dirty="0" err="1"/>
              <a:t>Analysis</a:t>
            </a:r>
            <a:r>
              <a:rPr lang="el-GR" dirty="0"/>
              <a:t> (DCA).</a:t>
            </a:r>
            <a:endParaRPr dirty="0"/>
          </a:p>
        </p:txBody>
      </p:sp>
      <p:sp>
        <p:nvSpPr>
          <p:cNvPr id="1622" name="Google Shape;1622;p47"/>
          <p:cNvSpPr txBox="1">
            <a:spLocks noGrp="1"/>
          </p:cNvSpPr>
          <p:nvPr>
            <p:ph type="title" idx="4"/>
          </p:nvPr>
        </p:nvSpPr>
        <p:spPr>
          <a:xfrm>
            <a:off x="534010" y="3301175"/>
            <a:ext cx="4696800" cy="7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i="1" dirty="0"/>
              <a:t>Readiness</a:t>
            </a:r>
            <a:endParaRPr sz="2000" i="1" dirty="0"/>
          </a:p>
        </p:txBody>
      </p:sp>
      <p:sp>
        <p:nvSpPr>
          <p:cNvPr id="1623" name="Google Shape;1623;p47"/>
          <p:cNvSpPr txBox="1">
            <a:spLocks noGrp="1"/>
          </p:cNvSpPr>
          <p:nvPr>
            <p:ph type="subTitle" idx="5"/>
          </p:nvPr>
        </p:nvSpPr>
        <p:spPr>
          <a:xfrm>
            <a:off x="713213" y="3724225"/>
            <a:ext cx="4696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l-GR" i="1" dirty="0"/>
              <a:t>Research </a:t>
            </a:r>
            <a:r>
              <a:rPr lang="el-GR" i="1" dirty="0" err="1"/>
              <a:t>software</a:t>
            </a:r>
            <a:r>
              <a:rPr lang="el-GR" i="1" dirty="0"/>
              <a:t>, </a:t>
            </a:r>
            <a:r>
              <a:rPr lang="el-GR" i="1" dirty="0" err="1"/>
              <a:t>not</a:t>
            </a:r>
            <a:r>
              <a:rPr lang="el-GR" i="1" dirty="0"/>
              <a:t> a </a:t>
            </a:r>
            <a:r>
              <a:rPr lang="el-GR" i="1" dirty="0" err="1"/>
              <a:t>medical</a:t>
            </a:r>
            <a:r>
              <a:rPr lang="el-GR" i="1" dirty="0"/>
              <a:t> </a:t>
            </a:r>
            <a:r>
              <a:rPr lang="el-GR" i="1" dirty="0" err="1"/>
              <a:t>device</a:t>
            </a:r>
            <a:r>
              <a:rPr lang="el-GR" i="1" dirty="0"/>
              <a:t> — </a:t>
            </a:r>
            <a:r>
              <a:rPr lang="el-GR" i="1" dirty="0" err="1"/>
              <a:t>no</a:t>
            </a:r>
            <a:r>
              <a:rPr lang="el-GR" i="1" dirty="0"/>
              <a:t> </a:t>
            </a:r>
            <a:r>
              <a:rPr lang="el-GR" i="1" dirty="0" err="1"/>
              <a:t>patient</a:t>
            </a:r>
            <a:r>
              <a:rPr lang="el-GR" i="1" dirty="0"/>
              <a:t> </a:t>
            </a:r>
            <a:r>
              <a:rPr lang="el-GR" i="1" dirty="0" err="1"/>
              <a:t>data</a:t>
            </a:r>
            <a:r>
              <a:rPr lang="el-GR" i="1" dirty="0"/>
              <a:t> </a:t>
            </a:r>
            <a:r>
              <a:rPr lang="el-GR" i="1" dirty="0" err="1"/>
              <a:t>yet</a:t>
            </a:r>
            <a:r>
              <a:rPr lang="el-GR" i="1" dirty="0"/>
              <a:t>, </a:t>
            </a:r>
            <a:r>
              <a:rPr lang="el-GR" i="1" dirty="0" err="1"/>
              <a:t>one</a:t>
            </a:r>
            <a:r>
              <a:rPr lang="el-GR" i="1" dirty="0"/>
              <a:t> </a:t>
            </a:r>
            <a:r>
              <a:rPr lang="el-GR" i="1" dirty="0" err="1"/>
              <a:t>unverified</a:t>
            </a:r>
            <a:r>
              <a:rPr lang="el-GR" i="1" dirty="0"/>
              <a:t> </a:t>
            </a:r>
            <a:r>
              <a:rPr lang="el-GR" i="1" dirty="0" err="1"/>
              <a:t>assumption</a:t>
            </a:r>
            <a:r>
              <a:rPr lang="el-GR" i="1" dirty="0"/>
              <a:t>, </a:t>
            </a:r>
            <a:r>
              <a:rPr lang="el-GR" i="1" dirty="0" err="1"/>
              <a:t>regulatory</a:t>
            </a:r>
            <a:r>
              <a:rPr lang="el-GR" i="1" dirty="0"/>
              <a:t> </a:t>
            </a:r>
            <a:r>
              <a:rPr lang="el-GR" i="1" dirty="0" err="1"/>
              <a:t>approval</a:t>
            </a:r>
            <a:r>
              <a:rPr lang="el-GR" i="1" dirty="0"/>
              <a:t> </a:t>
            </a:r>
            <a:r>
              <a:rPr lang="el-GR" i="1" dirty="0" err="1"/>
              <a:t>required</a:t>
            </a:r>
            <a:r>
              <a:rPr lang="el-GR" i="1" dirty="0"/>
              <a:t> </a:t>
            </a:r>
            <a:r>
              <a:rPr lang="el-GR" i="1" dirty="0" err="1"/>
              <a:t>before</a:t>
            </a:r>
            <a:r>
              <a:rPr lang="el-GR" i="1" dirty="0"/>
              <a:t> </a:t>
            </a:r>
            <a:r>
              <a:rPr lang="el-GR" i="1" dirty="0" err="1"/>
              <a:t>clinical</a:t>
            </a:r>
            <a:r>
              <a:rPr lang="el-GR" i="1" dirty="0"/>
              <a:t> </a:t>
            </a:r>
            <a:r>
              <a:rPr lang="el-GR" i="1" dirty="0" err="1"/>
              <a:t>use</a:t>
            </a:r>
            <a:r>
              <a:rPr lang="en-US" i="1" dirty="0"/>
              <a:t> </a:t>
            </a:r>
            <a:r>
              <a:rPr lang="el-GR" dirty="0"/>
              <a:t>The </a:t>
            </a:r>
            <a:r>
              <a:rPr lang="el-GR" dirty="0" err="1"/>
              <a:t>framework</a:t>
            </a:r>
            <a:r>
              <a:rPr lang="el-GR" dirty="0"/>
              <a:t> </a:t>
            </a:r>
            <a:r>
              <a:rPr lang="el-GR" dirty="0" err="1"/>
              <a:t>is</a:t>
            </a:r>
            <a:r>
              <a:rPr lang="el-GR" dirty="0"/>
              <a:t> </a:t>
            </a:r>
            <a:r>
              <a:rPr lang="el-GR" dirty="0" err="1"/>
              <a:t>fully</a:t>
            </a:r>
            <a:r>
              <a:rPr lang="el-GR" dirty="0"/>
              <a:t> </a:t>
            </a:r>
            <a:r>
              <a:rPr lang="el-GR" dirty="0" err="1"/>
              <a:t>compliant</a:t>
            </a:r>
            <a:r>
              <a:rPr lang="el-GR" dirty="0"/>
              <a:t> </a:t>
            </a:r>
            <a:r>
              <a:rPr lang="el-GR" dirty="0" err="1"/>
              <a:t>with</a:t>
            </a:r>
            <a:r>
              <a:rPr lang="el-GR" dirty="0"/>
              <a:t> VARC-3 </a:t>
            </a:r>
            <a:r>
              <a:rPr lang="el-GR" dirty="0" err="1"/>
              <a:t>consensus</a:t>
            </a:r>
            <a:r>
              <a:rPr lang="el-GR" dirty="0"/>
              <a:t> </a:t>
            </a:r>
            <a:r>
              <a:rPr lang="el-GR" dirty="0" err="1"/>
              <a:t>definitions</a:t>
            </a:r>
            <a:r>
              <a:rPr lang="el-GR" dirty="0"/>
              <a:t> and </a:t>
            </a:r>
            <a:r>
              <a:rPr lang="el-GR" dirty="0" err="1"/>
              <a:t>ready</a:t>
            </a:r>
            <a:r>
              <a:rPr lang="el-GR" dirty="0"/>
              <a:t> for </a:t>
            </a:r>
            <a:r>
              <a:rPr lang="el-GR" dirty="0" err="1"/>
              <a:t>retrospective</a:t>
            </a:r>
            <a:r>
              <a:rPr lang="el-GR" dirty="0"/>
              <a:t> </a:t>
            </a:r>
            <a:r>
              <a:rPr lang="el-GR" dirty="0" err="1"/>
              <a:t>multi-center</a:t>
            </a:r>
            <a:r>
              <a:rPr lang="el-GR" dirty="0"/>
              <a:t> </a:t>
            </a:r>
            <a:r>
              <a:rPr lang="el-GR" dirty="0" err="1"/>
              <a:t>registry</a:t>
            </a:r>
            <a:r>
              <a:rPr lang="el-GR" dirty="0"/>
              <a:t> </a:t>
            </a:r>
            <a:r>
              <a:rPr lang="el-GR" dirty="0" err="1"/>
              <a:t>validation</a:t>
            </a:r>
            <a:r>
              <a:rPr lang="el-GR" dirty="0"/>
              <a:t> </a:t>
            </a:r>
            <a:r>
              <a:rPr lang="el-GR" dirty="0" err="1"/>
              <a:t>prior</a:t>
            </a:r>
            <a:r>
              <a:rPr lang="el-GR" dirty="0"/>
              <a:t> </a:t>
            </a:r>
            <a:r>
              <a:rPr lang="el-GR" dirty="0" err="1"/>
              <a:t>to</a:t>
            </a:r>
            <a:r>
              <a:rPr lang="el-GR" dirty="0"/>
              <a:t> </a:t>
            </a:r>
            <a:r>
              <a:rPr lang="el-GR" dirty="0" err="1"/>
              <a:t>clinical</a:t>
            </a:r>
            <a:r>
              <a:rPr lang="el-GR" dirty="0"/>
              <a:t> </a:t>
            </a:r>
            <a:r>
              <a:rPr lang="el-GR" dirty="0" err="1"/>
              <a:t>deployment</a:t>
            </a:r>
            <a:r>
              <a:rPr lang="el-GR" dirty="0"/>
              <a:t>.</a:t>
            </a:r>
            <a:endParaRPr dirty="0"/>
          </a:p>
        </p:txBody>
      </p:sp>
      <p:grpSp>
        <p:nvGrpSpPr>
          <p:cNvPr id="1624" name="Google Shape;1624;p47"/>
          <p:cNvGrpSpPr/>
          <p:nvPr/>
        </p:nvGrpSpPr>
        <p:grpSpPr>
          <a:xfrm>
            <a:off x="1370750" y="2466425"/>
            <a:ext cx="76825" cy="76800"/>
            <a:chOff x="3104875" y="1099400"/>
            <a:chExt cx="76825" cy="76800"/>
          </a:xfrm>
        </p:grpSpPr>
        <p:sp>
          <p:nvSpPr>
            <p:cNvPr id="1625" name="Google Shape;1625;p4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4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7" name="Google Shape;1627;p47"/>
          <p:cNvGrpSpPr/>
          <p:nvPr/>
        </p:nvGrpSpPr>
        <p:grpSpPr>
          <a:xfrm>
            <a:off x="6199150" y="861750"/>
            <a:ext cx="76825" cy="76800"/>
            <a:chOff x="3104875" y="1099400"/>
            <a:chExt cx="76825" cy="76800"/>
          </a:xfrm>
        </p:grpSpPr>
        <p:sp>
          <p:nvSpPr>
            <p:cNvPr id="1628" name="Google Shape;1628;p4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4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30" name="Google Shape;1630;p47"/>
          <p:cNvGrpSpPr/>
          <p:nvPr/>
        </p:nvGrpSpPr>
        <p:grpSpPr>
          <a:xfrm>
            <a:off x="7823013" y="3685825"/>
            <a:ext cx="76825" cy="76800"/>
            <a:chOff x="3104875" y="1099400"/>
            <a:chExt cx="76825" cy="76800"/>
          </a:xfrm>
        </p:grpSpPr>
        <p:sp>
          <p:nvSpPr>
            <p:cNvPr id="1631" name="Google Shape;1631;p4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47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633" name="Google Shape;1633;p47"/>
          <p:cNvPicPr preferRelativeResize="0"/>
          <p:nvPr/>
        </p:nvPicPr>
        <p:blipFill rotWithShape="1">
          <a:blip r:embed="rId3">
            <a:alphaModFix/>
          </a:blip>
          <a:srcRect l="24332" t="5722" r="23343" b="4592"/>
          <a:stretch/>
        </p:blipFill>
        <p:spPr>
          <a:xfrm rot="2268302">
            <a:off x="6932737" y="4799"/>
            <a:ext cx="1857374" cy="1790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4" name="Google Shape;1634;p47"/>
          <p:cNvPicPr preferRelativeResize="0"/>
          <p:nvPr/>
        </p:nvPicPr>
        <p:blipFill rotWithShape="1">
          <a:blip r:embed="rId4">
            <a:alphaModFix/>
          </a:blip>
          <a:srcRect l="15237" r="10475"/>
          <a:stretch/>
        </p:blipFill>
        <p:spPr>
          <a:xfrm rot="-6939186">
            <a:off x="6623786" y="554667"/>
            <a:ext cx="1320683" cy="11831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5" name="Google Shape;1635;p47"/>
          <p:cNvPicPr preferRelativeResize="0"/>
          <p:nvPr/>
        </p:nvPicPr>
        <p:blipFill rotWithShape="1">
          <a:blip r:embed="rId5">
            <a:alphaModFix/>
          </a:blip>
          <a:srcRect l="22010" r="18456"/>
          <a:stretch/>
        </p:blipFill>
        <p:spPr>
          <a:xfrm rot="1203247">
            <a:off x="518959" y="2579395"/>
            <a:ext cx="903665" cy="853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6" name="Google Shape;1636;p47"/>
          <p:cNvPicPr preferRelativeResize="0"/>
          <p:nvPr/>
        </p:nvPicPr>
        <p:blipFill rotWithShape="1">
          <a:blip r:embed="rId6">
            <a:alphaModFix/>
          </a:blip>
          <a:srcRect l="18647" t="7960" r="8852" b="8337"/>
          <a:stretch/>
        </p:blipFill>
        <p:spPr>
          <a:xfrm rot="-1406513">
            <a:off x="5611532" y="3926493"/>
            <a:ext cx="1175233" cy="7632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6">
          <a:extLst>
            <a:ext uri="{FF2B5EF4-FFF2-40B4-BE49-F238E27FC236}">
              <a16:creationId xmlns:a16="http://schemas.microsoft.com/office/drawing/2014/main" id="{84DD136F-FA5F-722B-E75D-E3E8DF480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7" name="Google Shape;1837;p52">
            <a:extLst>
              <a:ext uri="{FF2B5EF4-FFF2-40B4-BE49-F238E27FC236}">
                <a16:creationId xmlns:a16="http://schemas.microsoft.com/office/drawing/2014/main" id="{C22C9C58-A3BD-32D9-4BAD-556A9E9D0D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The Next Step – Exploratory Objective</a:t>
            </a:r>
            <a:endParaRPr sz="2000" dirty="0"/>
          </a:p>
        </p:txBody>
      </p:sp>
      <p:grpSp>
        <p:nvGrpSpPr>
          <p:cNvPr id="1839" name="Google Shape;1839;p52">
            <a:extLst>
              <a:ext uri="{FF2B5EF4-FFF2-40B4-BE49-F238E27FC236}">
                <a16:creationId xmlns:a16="http://schemas.microsoft.com/office/drawing/2014/main" id="{79D09A42-6ED5-708A-8839-35393DC16BF9}"/>
              </a:ext>
            </a:extLst>
          </p:cNvPr>
          <p:cNvGrpSpPr/>
          <p:nvPr/>
        </p:nvGrpSpPr>
        <p:grpSpPr>
          <a:xfrm>
            <a:off x="7560775" y="787450"/>
            <a:ext cx="76825" cy="76800"/>
            <a:chOff x="3104875" y="1099400"/>
            <a:chExt cx="76825" cy="76800"/>
          </a:xfrm>
        </p:grpSpPr>
        <p:sp>
          <p:nvSpPr>
            <p:cNvPr id="1840" name="Google Shape;1840;p52">
              <a:extLst>
                <a:ext uri="{FF2B5EF4-FFF2-40B4-BE49-F238E27FC236}">
                  <a16:creationId xmlns:a16="http://schemas.microsoft.com/office/drawing/2014/main" id="{92075FBA-4079-E210-C9B0-64C7356E2CE0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52">
              <a:extLst>
                <a:ext uri="{FF2B5EF4-FFF2-40B4-BE49-F238E27FC236}">
                  <a16:creationId xmlns:a16="http://schemas.microsoft.com/office/drawing/2014/main" id="{ECCA8538-263E-42E3-CBD5-74CA4B467B39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42" name="Google Shape;1842;p52">
            <a:extLst>
              <a:ext uri="{FF2B5EF4-FFF2-40B4-BE49-F238E27FC236}">
                <a16:creationId xmlns:a16="http://schemas.microsoft.com/office/drawing/2014/main" id="{DB75C248-629C-E656-0142-88B1FF116FFB}"/>
              </a:ext>
            </a:extLst>
          </p:cNvPr>
          <p:cNvGrpSpPr/>
          <p:nvPr/>
        </p:nvGrpSpPr>
        <p:grpSpPr>
          <a:xfrm>
            <a:off x="713225" y="1728988"/>
            <a:ext cx="76825" cy="76800"/>
            <a:chOff x="3104875" y="1099400"/>
            <a:chExt cx="76825" cy="76800"/>
          </a:xfrm>
        </p:grpSpPr>
        <p:sp>
          <p:nvSpPr>
            <p:cNvPr id="1843" name="Google Shape;1843;p52">
              <a:extLst>
                <a:ext uri="{FF2B5EF4-FFF2-40B4-BE49-F238E27FC236}">
                  <a16:creationId xmlns:a16="http://schemas.microsoft.com/office/drawing/2014/main" id="{CC5DD784-3F4D-C0B0-0A7B-56670314F005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52">
              <a:extLst>
                <a:ext uri="{FF2B5EF4-FFF2-40B4-BE49-F238E27FC236}">
                  <a16:creationId xmlns:a16="http://schemas.microsoft.com/office/drawing/2014/main" id="{21438017-1EA1-5997-BB95-770AE96D5490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47" name="Google Shape;1847;p52">
            <a:extLst>
              <a:ext uri="{FF2B5EF4-FFF2-40B4-BE49-F238E27FC236}">
                <a16:creationId xmlns:a16="http://schemas.microsoft.com/office/drawing/2014/main" id="{E4BCF5DA-D250-C69F-28E0-4252ECE820A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014661" y="4161682"/>
            <a:ext cx="5505912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r"/>
            <a:r>
              <a:rPr lang="el-GR" sz="24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The </a:t>
            </a:r>
            <a:r>
              <a:rPr lang="el-GR" sz="2400" dirty="0" err="1">
                <a:solidFill>
                  <a:schemeClr val="bg2">
                    <a:lumMod val="40000"/>
                    <a:lumOff val="60000"/>
                  </a:schemeClr>
                </a:solidFill>
              </a:rPr>
              <a:t>clinically</a:t>
            </a:r>
            <a:r>
              <a:rPr lang="el-GR" sz="24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 </a:t>
            </a:r>
            <a:r>
              <a:rPr lang="el-GR" sz="2400" dirty="0" err="1">
                <a:solidFill>
                  <a:schemeClr val="bg2">
                    <a:lumMod val="40000"/>
                    <a:lumOff val="60000"/>
                  </a:schemeClr>
                </a:solidFill>
              </a:rPr>
              <a:t>useful</a:t>
            </a:r>
            <a:r>
              <a:rPr lang="el-GR" sz="24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 </a:t>
            </a:r>
            <a:r>
              <a:rPr lang="el-GR" sz="2400" dirty="0" err="1">
                <a:solidFill>
                  <a:schemeClr val="bg2">
                    <a:lumMod val="40000"/>
                    <a:lumOff val="60000"/>
                  </a:schemeClr>
                </a:solidFill>
              </a:rPr>
              <a:t>output</a:t>
            </a:r>
            <a:r>
              <a:rPr lang="el-GR" sz="24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 </a:t>
            </a:r>
            <a:r>
              <a:rPr lang="el-GR" sz="2400" dirty="0" err="1">
                <a:solidFill>
                  <a:schemeClr val="bg2">
                    <a:lumMod val="40000"/>
                    <a:lumOff val="60000"/>
                  </a:schemeClr>
                </a:solidFill>
              </a:rPr>
              <a:t>is</a:t>
            </a:r>
            <a:r>
              <a:rPr lang="el-GR" sz="2400" dirty="0">
                <a:solidFill>
                  <a:schemeClr val="bg2">
                    <a:lumMod val="40000"/>
                    <a:lumOff val="60000"/>
                  </a:schemeClr>
                </a:solidFill>
              </a:rPr>
              <a:t> </a:t>
            </a:r>
            <a:r>
              <a:rPr lang="el-GR" sz="2400" i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where</a:t>
            </a:r>
            <a:r>
              <a:rPr lang="el-GR" sz="2400" i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l-GR" sz="2400" i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they</a:t>
            </a:r>
            <a:r>
              <a:rPr lang="el-GR" sz="2400" i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l-GR" sz="2400" i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cross</a:t>
            </a:r>
            <a:r>
              <a:rPr lang="en-US" sz="2400" i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.</a:t>
            </a:r>
            <a:endParaRPr sz="2400" i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848" name="Google Shape;1848;p52">
            <a:extLst>
              <a:ext uri="{FF2B5EF4-FFF2-40B4-BE49-F238E27FC236}">
                <a16:creationId xmlns:a16="http://schemas.microsoft.com/office/drawing/2014/main" id="{BE065495-CDBD-0200-56F4-95B7F0620B75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38447" y="1304166"/>
            <a:ext cx="4234768" cy="3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The </a:t>
            </a:r>
            <a:r>
              <a:rPr lang="el-GR" dirty="0" err="1"/>
              <a:t>Heart</a:t>
            </a:r>
            <a:r>
              <a:rPr lang="el-GR" dirty="0"/>
              <a:t> </a:t>
            </a:r>
            <a:r>
              <a:rPr lang="el-GR" dirty="0" err="1"/>
              <a:t>Team's</a:t>
            </a:r>
            <a:r>
              <a:rPr lang="el-GR" dirty="0"/>
              <a:t> </a:t>
            </a:r>
            <a:r>
              <a:rPr lang="el-GR" dirty="0" err="1"/>
              <a:t>real</a:t>
            </a:r>
            <a:r>
              <a:rPr lang="el-GR" dirty="0"/>
              <a:t> </a:t>
            </a:r>
            <a:r>
              <a:rPr lang="el-GR" dirty="0" err="1"/>
              <a:t>decision</a:t>
            </a:r>
            <a:r>
              <a:rPr lang="en-US" dirty="0"/>
              <a:t>: </a:t>
            </a:r>
            <a:r>
              <a:rPr lang="el-GR" dirty="0" err="1"/>
              <a:t>reintervene</a:t>
            </a:r>
            <a:r>
              <a:rPr lang="el-GR" dirty="0"/>
              <a:t> </a:t>
            </a:r>
            <a:r>
              <a:rPr lang="el-GR" dirty="0" err="1"/>
              <a:t>electively</a:t>
            </a:r>
            <a:r>
              <a:rPr lang="el-GR" dirty="0"/>
              <a:t> </a:t>
            </a:r>
            <a:r>
              <a:rPr lang="el-GR" i="1" dirty="0" err="1"/>
              <a:t>now</a:t>
            </a:r>
            <a:r>
              <a:rPr lang="el-GR" dirty="0"/>
              <a:t>, </a:t>
            </a:r>
            <a:r>
              <a:rPr lang="el-GR" dirty="0" err="1"/>
              <a:t>while</a:t>
            </a:r>
            <a:r>
              <a:rPr lang="el-GR" dirty="0"/>
              <a:t> the </a:t>
            </a:r>
            <a:r>
              <a:rPr lang="el-GR" dirty="0" err="1"/>
              <a:t>patient</a:t>
            </a:r>
            <a:r>
              <a:rPr lang="el-GR" dirty="0"/>
              <a:t> </a:t>
            </a:r>
            <a:r>
              <a:rPr lang="el-GR" dirty="0" err="1"/>
              <a:t>is</a:t>
            </a:r>
            <a:r>
              <a:rPr lang="el-GR" dirty="0"/>
              <a:t> </a:t>
            </a:r>
            <a:r>
              <a:rPr lang="el-GR" dirty="0" err="1"/>
              <a:t>still</a:t>
            </a:r>
            <a:r>
              <a:rPr lang="el-GR" dirty="0"/>
              <a:t> a </a:t>
            </a:r>
            <a:r>
              <a:rPr lang="el-GR" dirty="0" err="1"/>
              <a:t>good</a:t>
            </a:r>
            <a:r>
              <a:rPr lang="el-GR" dirty="0"/>
              <a:t> </a:t>
            </a:r>
            <a:r>
              <a:rPr lang="el-GR" dirty="0" err="1"/>
              <a:t>candidate</a:t>
            </a:r>
            <a:r>
              <a:rPr lang="el-GR" dirty="0"/>
              <a:t>, </a:t>
            </a:r>
            <a:r>
              <a:rPr lang="el-GR" dirty="0" err="1"/>
              <a:t>or</a:t>
            </a:r>
            <a:r>
              <a:rPr lang="el-GR" dirty="0"/>
              <a:t> </a:t>
            </a:r>
            <a:r>
              <a:rPr lang="el-GR" dirty="0" err="1"/>
              <a:t>wait</a:t>
            </a:r>
            <a:r>
              <a:rPr lang="el-GR" dirty="0"/>
              <a:t> and </a:t>
            </a:r>
            <a:r>
              <a:rPr lang="el-GR" dirty="0" err="1"/>
              <a:t>risk</a:t>
            </a:r>
            <a:r>
              <a:rPr lang="el-GR" dirty="0"/>
              <a:t> </a:t>
            </a:r>
            <a:r>
              <a:rPr lang="el-GR" dirty="0" err="1"/>
              <a:t>operati</a:t>
            </a:r>
            <a:r>
              <a:rPr lang="en-US" dirty="0"/>
              <a:t>ng</a:t>
            </a:r>
            <a:r>
              <a:rPr lang="el-GR" dirty="0"/>
              <a:t> </a:t>
            </a:r>
            <a:r>
              <a:rPr lang="el-GR" i="1" dirty="0"/>
              <a:t>on a </a:t>
            </a:r>
            <a:r>
              <a:rPr lang="el-GR" i="1" dirty="0" err="1"/>
              <a:t>patient</a:t>
            </a:r>
            <a:r>
              <a:rPr lang="el-GR" i="1" dirty="0"/>
              <a:t> </a:t>
            </a:r>
            <a:r>
              <a:rPr lang="el-GR" i="1" dirty="0" err="1"/>
              <a:t>who</a:t>
            </a:r>
            <a:r>
              <a:rPr lang="el-GR" i="1" dirty="0"/>
              <a:t> </a:t>
            </a:r>
            <a:r>
              <a:rPr lang="el-GR" i="1" dirty="0" err="1"/>
              <a:t>has</a:t>
            </a:r>
            <a:r>
              <a:rPr lang="el-GR" i="1" dirty="0"/>
              <a:t> </a:t>
            </a:r>
            <a:r>
              <a:rPr lang="el-GR" i="1" dirty="0" err="1"/>
              <a:t>meanwhile</a:t>
            </a:r>
            <a:r>
              <a:rPr lang="el-GR" i="1" dirty="0"/>
              <a:t> </a:t>
            </a:r>
            <a:r>
              <a:rPr lang="el-GR" i="1" dirty="0" err="1"/>
              <a:t>become</a:t>
            </a:r>
            <a:r>
              <a:rPr lang="el-GR" i="1" dirty="0"/>
              <a:t> a </a:t>
            </a:r>
            <a:r>
              <a:rPr lang="el-GR" i="1" dirty="0" err="1"/>
              <a:t>worse</a:t>
            </a:r>
            <a:r>
              <a:rPr lang="el-GR" i="1" dirty="0"/>
              <a:t> </a:t>
            </a:r>
            <a:r>
              <a:rPr lang="el-GR" i="1" dirty="0" err="1"/>
              <a:t>one</a:t>
            </a:r>
            <a:r>
              <a:rPr lang="en-US" dirty="0"/>
              <a:t>?</a:t>
            </a:r>
          </a:p>
          <a:p>
            <a:pPr lvl="0"/>
            <a:endParaRPr lang="en-US" dirty="0"/>
          </a:p>
          <a:p>
            <a:pPr lvl="0"/>
            <a:r>
              <a:rPr lang="el-GR" i="1" dirty="0" err="1"/>
              <a:t>Two</a:t>
            </a:r>
            <a:r>
              <a:rPr lang="el-GR" i="1" dirty="0"/>
              <a:t> </a:t>
            </a:r>
            <a:r>
              <a:rPr lang="el-GR" i="1" dirty="0" err="1"/>
              <a:t>curves</a:t>
            </a:r>
            <a:r>
              <a:rPr lang="el-GR" i="1" dirty="0"/>
              <a:t>, </a:t>
            </a:r>
            <a:r>
              <a:rPr lang="el-GR" i="1" dirty="0" err="1"/>
              <a:t>opposite</a:t>
            </a:r>
            <a:r>
              <a:rPr lang="el-GR" i="1" dirty="0"/>
              <a:t> </a:t>
            </a:r>
            <a:r>
              <a:rPr lang="el-GR" i="1" dirty="0" err="1"/>
              <a:t>directions</a:t>
            </a:r>
            <a:r>
              <a:rPr lang="el-GR" i="1" dirty="0"/>
              <a:t> — </a:t>
            </a:r>
            <a:r>
              <a:rPr lang="el-GR" i="1" dirty="0" err="1"/>
              <a:t>failure</a:t>
            </a:r>
            <a:r>
              <a:rPr lang="el-GR" i="1" dirty="0"/>
              <a:t> </a:t>
            </a:r>
            <a:r>
              <a:rPr lang="el-GR" i="1" dirty="0" err="1"/>
              <a:t>risk</a:t>
            </a:r>
            <a:r>
              <a:rPr lang="el-GR" i="1" dirty="0"/>
              <a:t> </a:t>
            </a:r>
            <a:r>
              <a:rPr lang="el-GR" i="1" dirty="0" err="1"/>
              <a:t>rises</a:t>
            </a:r>
            <a:r>
              <a:rPr lang="el-GR" i="1" dirty="0"/>
              <a:t>, </a:t>
            </a:r>
            <a:r>
              <a:rPr lang="el-GR" b="1" i="1" dirty="0" err="1"/>
              <a:t>operability</a:t>
            </a:r>
            <a:r>
              <a:rPr lang="el-GR" i="1" dirty="0"/>
              <a:t> </a:t>
            </a:r>
            <a:r>
              <a:rPr lang="el-GR" i="1" dirty="0" err="1"/>
              <a:t>falls</a:t>
            </a:r>
            <a:r>
              <a:rPr lang="el-GR" i="1" dirty="0"/>
              <a:t> · </a:t>
            </a:r>
            <a:endParaRPr lang="en-US" i="1" dirty="0"/>
          </a:p>
          <a:p>
            <a:pPr marL="139700" lvl="0" indent="0">
              <a:buNone/>
            </a:pPr>
            <a:r>
              <a:rPr lang="en-US" i="1" dirty="0"/>
              <a:t>	</a:t>
            </a:r>
          </a:p>
        </p:txBody>
      </p:sp>
      <p:grpSp>
        <p:nvGrpSpPr>
          <p:cNvPr id="1862" name="Google Shape;1862;p52">
            <a:extLst>
              <a:ext uri="{FF2B5EF4-FFF2-40B4-BE49-F238E27FC236}">
                <a16:creationId xmlns:a16="http://schemas.microsoft.com/office/drawing/2014/main" id="{483B5C7E-F3A2-0C0D-E579-3DBEA62DC51E}"/>
              </a:ext>
            </a:extLst>
          </p:cNvPr>
          <p:cNvGrpSpPr/>
          <p:nvPr/>
        </p:nvGrpSpPr>
        <p:grpSpPr>
          <a:xfrm>
            <a:off x="3773313" y="3963263"/>
            <a:ext cx="76825" cy="76800"/>
            <a:chOff x="3104875" y="1099400"/>
            <a:chExt cx="76825" cy="76800"/>
          </a:xfrm>
        </p:grpSpPr>
        <p:sp>
          <p:nvSpPr>
            <p:cNvPr id="1863" name="Google Shape;1863;p52">
              <a:extLst>
                <a:ext uri="{FF2B5EF4-FFF2-40B4-BE49-F238E27FC236}">
                  <a16:creationId xmlns:a16="http://schemas.microsoft.com/office/drawing/2014/main" id="{D19D874D-D470-815C-C34F-716E2F05D726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52">
              <a:extLst>
                <a:ext uri="{FF2B5EF4-FFF2-40B4-BE49-F238E27FC236}">
                  <a16:creationId xmlns:a16="http://schemas.microsoft.com/office/drawing/2014/main" id="{E5CE0785-ACC8-F740-6AD4-ED8E37B2CAD1}"/>
                </a:ext>
              </a:extLst>
            </p:cNvPr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865" name="Google Shape;1865;p52">
            <a:extLst>
              <a:ext uri="{FF2B5EF4-FFF2-40B4-BE49-F238E27FC236}">
                <a16:creationId xmlns:a16="http://schemas.microsoft.com/office/drawing/2014/main" id="{939D4EDE-A458-D7A3-4A79-AFD3E481F3B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8647" t="7960" r="8852" b="8337"/>
          <a:stretch/>
        </p:blipFill>
        <p:spPr>
          <a:xfrm rot="9135405">
            <a:off x="314978" y="424759"/>
            <a:ext cx="1068923" cy="725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7" name="Google Shape;1867;p52">
            <a:extLst>
              <a:ext uri="{FF2B5EF4-FFF2-40B4-BE49-F238E27FC236}">
                <a16:creationId xmlns:a16="http://schemas.microsoft.com/office/drawing/2014/main" id="{A13BD34E-C6A1-D54E-D1BA-3BF36E22653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2010" r="18456"/>
          <a:stretch/>
        </p:blipFill>
        <p:spPr>
          <a:xfrm rot="1913055">
            <a:off x="7914175" y="422487"/>
            <a:ext cx="652201" cy="616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B18C30-24E9-5E08-B0E9-A82A7F3964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2189" y="1112200"/>
            <a:ext cx="3958536" cy="29490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4341D1-77E3-D567-0189-B78C7B94D5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4772" y="2641000"/>
            <a:ext cx="317444" cy="31744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BF9337D7-8F53-39F1-5BBE-14B4A2ABA073}"/>
              </a:ext>
            </a:extLst>
          </p:cNvPr>
          <p:cNvSpPr/>
          <p:nvPr/>
        </p:nvSpPr>
        <p:spPr>
          <a:xfrm>
            <a:off x="5059680" y="1493520"/>
            <a:ext cx="1876425" cy="2255520"/>
          </a:xfrm>
          <a:prstGeom prst="rect">
            <a:avLst/>
          </a:prstGeom>
          <a:solidFill>
            <a:schemeClr val="tx2">
              <a:lumMod val="20000"/>
              <a:lumOff val="80000"/>
              <a:alpha val="8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60914EF-5903-21E3-2328-C4ED8E96789E}"/>
              </a:ext>
            </a:extLst>
          </p:cNvPr>
          <p:cNvSpPr txBox="1"/>
          <p:nvPr/>
        </p:nvSpPr>
        <p:spPr>
          <a:xfrm>
            <a:off x="6059717" y="1513544"/>
            <a:ext cx="2034193" cy="21544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spcAft>
                <a:spcPts val="0"/>
              </a:spcAft>
              <a:buNone/>
            </a:pPr>
            <a:r>
              <a:rPr lang="en-US" sz="900" b="0" i="1">
                <a:solidFill>
                  <a:srgbClr val="CBB6E4"/>
                </a:solidFill>
                <a:latin typeface="Montserrat"/>
                <a:ea typeface="Montserrat"/>
                <a:cs typeface="Montserrat"/>
                <a:sym typeface="Montserrat"/>
              </a:rPr>
              <a:t>exploratory figure  —  not a PulseAI output</a:t>
            </a:r>
            <a:endParaRPr lang="el-GR" sz="8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868" name="Rounded Rectangle 1867"/>
          <p:cNvSpPr/>
          <p:nvPr/>
        </p:nvSpPr>
        <p:spPr>
          <a:xfrm>
            <a:off x="201168" y="2907792"/>
            <a:ext cx="2724912" cy="1938528"/>
          </a:xfrm>
          <a:prstGeom prst="roundRect">
            <a:avLst>
              <a:gd name="adj" fmla="val 10000"/>
            </a:avLst>
          </a:prstGeom>
          <a:solidFill>
            <a:srgbClr val="331F4A"/>
          </a:solidFill>
          <a:ln w="11430">
            <a:solidFill>
              <a:srgbClr val="76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9" name="TextBox 1868"/>
          <p:cNvSpPr txBox="1"/>
          <p:nvPr/>
        </p:nvSpPr>
        <p:spPr>
          <a:xfrm>
            <a:off x="274320" y="2980944"/>
            <a:ext cx="2578608" cy="1792224"/>
          </a:xfrm>
          <a:prstGeom prst="rect">
            <a:avLst/>
          </a:prstGeom>
          <a:noFill/>
        </p:spPr>
        <p:txBody>
          <a:bodyPr wrap="square" lIns="70000" tIns="40000" rIns="70000" bIns="40000" anchor="t"/>
          <a:lstStyle/>
          <a:p>
            <a:pPr algn="l">
              <a:spcAft>
                <a:spcPts val="500"/>
              </a:spcAft>
              <a:buNone/>
            </a:pPr>
            <a:r>
              <a:rPr lang="en-US" sz="1100" b="1" i="0">
                <a:solidFill>
                  <a:srgbClr val="76F3FB"/>
                </a:solidFill>
                <a:latin typeface="Montserrat"/>
                <a:ea typeface="Montserrat"/>
                <a:cs typeface="Montserrat"/>
                <a:sym typeface="Montserrat"/>
              </a:rPr>
              <a:t>Data this engine actually uses</a:t>
            </a:r>
          </a:p>
          <a:p>
            <a:pPr algn="l">
              <a:spcAft>
                <a:spcPts val="500"/>
              </a:spcAft>
              <a:buNone/>
            </a:pPr>
            <a:r>
              <a:rPr lang="en-US" sz="1000" b="0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Age, sex, BMI, SAVR vs TAVR, valve size; serial TTE (gradient, EOA, DVI, Vmax, EOAi, LVEF, AR); thrombosis / endocarditis / NSVD flags.</a:t>
            </a:r>
          </a:p>
          <a:p>
            <a:pPr algn="l">
              <a:spcAft>
                <a:spcPts val="600"/>
              </a:spcAft>
              <a:buNone/>
            </a:pPr>
            <a:r>
              <a:rPr lang="en-US" sz="1000" b="0" i="0">
                <a:solidFill>
                  <a:srgbClr val="CBB6E4"/>
                </a:solidFill>
                <a:latin typeface="Montserrat"/>
                <a:ea typeface="Montserrat"/>
                <a:cs typeface="Montserrat"/>
                <a:sym typeface="Montserrat"/>
              </a:rPr>
              <a:t>Not trained as operability: EuroSCORE II, STS-PROM, renal trend, PA pressures, Hb, albumin, prior HF admissions.</a:t>
            </a:r>
          </a:p>
          <a:p>
            <a:pPr algn="l">
              <a:spcAft>
                <a:spcPts val="0"/>
              </a:spcAft>
              <a:buNone/>
            </a:pPr>
            <a:r>
              <a:rPr lang="en-US" sz="900" b="0" i="1">
                <a:solidFill>
                  <a:srgbClr val="76F3FB"/>
                </a:solidFill>
                <a:latin typeface="Montserrat"/>
                <a:ea typeface="Montserrat"/>
                <a:cs typeface="Montserrat"/>
                <a:sym typeface="Montserrat"/>
              </a:rPr>
              <a:t>Surveillance only. Intervention recommendation is always null.</a:t>
            </a:r>
          </a:p>
        </p:txBody>
      </p:sp>
    </p:spTree>
    <p:extLst>
      <p:ext uri="{BB962C8B-B14F-4D97-AF65-F5344CB8AC3E}">
        <p14:creationId xmlns:p14="http://schemas.microsoft.com/office/powerpoint/2010/main" val="4090622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3" name="Google Shape;1303;p38"/>
          <p:cNvPicPr preferRelativeResize="0"/>
          <p:nvPr/>
        </p:nvPicPr>
        <p:blipFill rotWithShape="1">
          <a:blip r:embed="rId3">
            <a:alphaModFix/>
          </a:blip>
          <a:srcRect l="26807" t="7660" r="25401" b="5391"/>
          <a:stretch/>
        </p:blipFill>
        <p:spPr>
          <a:xfrm>
            <a:off x="484075" y="2724275"/>
            <a:ext cx="1739952" cy="1780604"/>
          </a:xfrm>
          <a:prstGeom prst="rect">
            <a:avLst/>
          </a:prstGeom>
          <a:noFill/>
          <a:ln>
            <a:noFill/>
          </a:ln>
        </p:spPr>
      </p:pic>
      <p:sp>
        <p:nvSpPr>
          <p:cNvPr id="1304" name="Google Shape;1304;p38"/>
          <p:cNvSpPr txBox="1">
            <a:spLocks noGrp="1"/>
          </p:cNvSpPr>
          <p:nvPr>
            <p:ph type="title"/>
          </p:nvPr>
        </p:nvSpPr>
        <p:spPr>
          <a:xfrm>
            <a:off x="4135975" y="1757900"/>
            <a:ext cx="4294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/>
          <a:p>
            <a:r>
              <a:rPr lang="en-US" sz="2800" b="1" dirty="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TIME FOR ENGINEERING...</a:t>
            </a:r>
            <a:endParaRPr lang="en-US" sz="2800" b="1" i="0" dirty="0">
              <a:solidFill>
                <a:srgbClr val="FFFFFF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1305" name="Google Shape;1305;p38"/>
          <p:cNvSpPr txBox="1">
            <a:spLocks noGrp="1"/>
          </p:cNvSpPr>
          <p:nvPr>
            <p:ph type="subTitle" idx="1"/>
          </p:nvPr>
        </p:nvSpPr>
        <p:spPr>
          <a:xfrm>
            <a:off x="4135975" y="2330600"/>
            <a:ext cx="91440" cy="9144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/>
          <a:p>
            <a:pPr algn="l">
              <a:buNone/>
            </a:pPr>
            <a:r>
              <a:rPr lang="en-US" sz="100" b="0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lang="en-US" dirty="0"/>
          </a:p>
        </p:txBody>
      </p:sp>
      <p:pic>
        <p:nvPicPr>
          <p:cNvPr id="1306" name="Google Shape;1306;p38"/>
          <p:cNvPicPr preferRelativeResize="0"/>
          <p:nvPr/>
        </p:nvPicPr>
        <p:blipFill rotWithShape="1">
          <a:blip r:embed="rId4">
            <a:alphaModFix/>
          </a:blip>
          <a:srcRect l="25538" t="7152" r="23468" b="5838"/>
          <a:stretch/>
        </p:blipFill>
        <p:spPr>
          <a:xfrm>
            <a:off x="1491599" y="333475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7" name="Google Shape;1307;p38"/>
          <p:cNvPicPr preferRelativeResize="0"/>
          <p:nvPr/>
        </p:nvPicPr>
        <p:blipFill rotWithShape="1">
          <a:blip r:embed="rId5">
            <a:alphaModFix/>
          </a:blip>
          <a:srcRect l="22010" r="18456"/>
          <a:stretch/>
        </p:blipFill>
        <p:spPr>
          <a:xfrm rot="-1020103">
            <a:off x="5083338" y="473539"/>
            <a:ext cx="652201" cy="616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8" name="Google Shape;1308;p38"/>
          <p:cNvPicPr preferRelativeResize="0"/>
          <p:nvPr/>
        </p:nvPicPr>
        <p:blipFill rotWithShape="1">
          <a:blip r:embed="rId6">
            <a:alphaModFix/>
          </a:blip>
          <a:srcRect l="18647" t="7960" r="8852" b="8337"/>
          <a:stretch/>
        </p:blipFill>
        <p:spPr>
          <a:xfrm rot="-1152297">
            <a:off x="2228325" y="1412887"/>
            <a:ext cx="1647827" cy="107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9" name="Google Shape;1309;p38"/>
          <p:cNvPicPr preferRelativeResize="0"/>
          <p:nvPr/>
        </p:nvPicPr>
        <p:blipFill rotWithShape="1">
          <a:blip r:embed="rId7">
            <a:alphaModFix/>
          </a:blip>
          <a:srcRect l="15237" r="10475"/>
          <a:stretch/>
        </p:blipFill>
        <p:spPr>
          <a:xfrm rot="1220421">
            <a:off x="1665699" y="2919147"/>
            <a:ext cx="1552575" cy="1390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0" name="Google Shape;1310;p38"/>
          <p:cNvPicPr preferRelativeResize="0"/>
          <p:nvPr/>
        </p:nvPicPr>
        <p:blipFill rotWithShape="1">
          <a:blip r:embed="rId5">
            <a:alphaModFix/>
          </a:blip>
          <a:srcRect l="22010" r="18456"/>
          <a:stretch/>
        </p:blipFill>
        <p:spPr>
          <a:xfrm rot="3321565">
            <a:off x="3843063" y="3766862"/>
            <a:ext cx="652200" cy="6162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11" name="Google Shape;1311;p38"/>
          <p:cNvGrpSpPr/>
          <p:nvPr/>
        </p:nvGrpSpPr>
        <p:grpSpPr>
          <a:xfrm>
            <a:off x="1003700" y="2099400"/>
            <a:ext cx="76825" cy="76800"/>
            <a:chOff x="3104875" y="1099400"/>
            <a:chExt cx="76825" cy="76800"/>
          </a:xfrm>
        </p:grpSpPr>
        <p:sp>
          <p:nvSpPr>
            <p:cNvPr id="1312" name="Google Shape;1312;p38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38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4" name="Google Shape;1314;p38"/>
          <p:cNvGrpSpPr/>
          <p:nvPr/>
        </p:nvGrpSpPr>
        <p:grpSpPr>
          <a:xfrm>
            <a:off x="3765550" y="1029325"/>
            <a:ext cx="76825" cy="76800"/>
            <a:chOff x="3104875" y="1099400"/>
            <a:chExt cx="76825" cy="76800"/>
          </a:xfrm>
        </p:grpSpPr>
        <p:sp>
          <p:nvSpPr>
            <p:cNvPr id="1315" name="Google Shape;1315;p38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38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7" name="Google Shape;1317;p38"/>
          <p:cNvGrpSpPr/>
          <p:nvPr/>
        </p:nvGrpSpPr>
        <p:grpSpPr>
          <a:xfrm>
            <a:off x="4870450" y="4197150"/>
            <a:ext cx="76825" cy="76800"/>
            <a:chOff x="3104875" y="1099400"/>
            <a:chExt cx="76825" cy="76800"/>
          </a:xfrm>
        </p:grpSpPr>
        <p:sp>
          <p:nvSpPr>
            <p:cNvPr id="1318" name="Google Shape;1318;p38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38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20" name="Rounded Rectangle 1319"/>
          <p:cNvSpPr/>
          <p:nvPr/>
        </p:nvSpPr>
        <p:spPr>
          <a:xfrm>
            <a:off x="4096512" y="2212848"/>
            <a:ext cx="4434840" cy="713232"/>
          </a:xfrm>
          <a:prstGeom prst="roundRect">
            <a:avLst>
              <a:gd name="adj" fmla="val 12000"/>
            </a:avLst>
          </a:prstGeom>
          <a:solidFill>
            <a:srgbClr val="331F4A"/>
          </a:solidFill>
          <a:ln w="9525">
            <a:solidFill>
              <a:srgbClr val="AE7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1" name="Rectangle 1320"/>
          <p:cNvSpPr/>
          <p:nvPr/>
        </p:nvSpPr>
        <p:spPr>
          <a:xfrm>
            <a:off x="4096512" y="2212848"/>
            <a:ext cx="73152" cy="713232"/>
          </a:xfrm>
          <a:prstGeom prst="rect">
            <a:avLst/>
          </a:prstGeom>
          <a:solidFill>
            <a:srgbClr val="76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2" name="TextBox 1321"/>
          <p:cNvSpPr txBox="1"/>
          <p:nvPr/>
        </p:nvSpPr>
        <p:spPr>
          <a:xfrm>
            <a:off x="4242816" y="2249424"/>
            <a:ext cx="4233672" cy="658368"/>
          </a:xfrm>
          <a:prstGeom prst="rect">
            <a:avLst/>
          </a:prstGeom>
          <a:noFill/>
        </p:spPr>
        <p:txBody>
          <a:bodyPr wrap="square" lIns="70000" tIns="40000" rIns="70000" bIns="40000" anchor="t"/>
          <a:lstStyle/>
          <a:p>
            <a:pPr algn="l">
              <a:spcAft>
                <a:spcPts val="200"/>
              </a:spcAft>
              <a:buNone/>
            </a:pPr>
            <a:r>
              <a:rPr lang="en-US" sz="1300" b="1" i="0" dirty="0">
                <a:solidFill>
                  <a:srgbClr val="76F3FB"/>
                </a:solidFill>
                <a:latin typeface="Bebas Neue"/>
                <a:ea typeface="Bebas Neue"/>
                <a:cs typeface="Bebas Neue"/>
                <a:sym typeface="Bebas Neue"/>
              </a:rPr>
              <a:t>01  Medical</a:t>
            </a:r>
          </a:p>
          <a:p>
            <a:pPr>
              <a:spcAft>
                <a:spcPts val="200"/>
              </a:spcAft>
            </a:pPr>
            <a:r>
              <a:rPr lang="en-US" sz="10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Protocol, adjudication rules, and clinical constraints.</a:t>
            </a:r>
            <a:endParaRPr lang="en-US" sz="1000" b="0" i="0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  <a:p>
            <a:pPr algn="l">
              <a:spcAft>
                <a:spcPts val="0"/>
              </a:spcAft>
              <a:buNone/>
            </a:pPr>
            <a:endParaRPr lang="en-US" sz="900" b="0" i="1" dirty="0">
              <a:solidFill>
                <a:srgbClr val="CBB6E4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323" name="Rounded Rectangle 1322"/>
          <p:cNvSpPr/>
          <p:nvPr/>
        </p:nvSpPr>
        <p:spPr>
          <a:xfrm>
            <a:off x="4096512" y="2999232"/>
            <a:ext cx="4434840" cy="713232"/>
          </a:xfrm>
          <a:prstGeom prst="roundRect">
            <a:avLst>
              <a:gd name="adj" fmla="val 12000"/>
            </a:avLst>
          </a:prstGeom>
          <a:solidFill>
            <a:srgbClr val="331F4A"/>
          </a:solidFill>
          <a:ln w="9525">
            <a:solidFill>
              <a:srgbClr val="AE7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4" name="Rectangle 1323"/>
          <p:cNvSpPr/>
          <p:nvPr/>
        </p:nvSpPr>
        <p:spPr>
          <a:xfrm>
            <a:off x="4096512" y="2999232"/>
            <a:ext cx="73152" cy="713232"/>
          </a:xfrm>
          <a:prstGeom prst="rect">
            <a:avLst/>
          </a:prstGeom>
          <a:solidFill>
            <a:srgbClr val="AE7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5" name="TextBox 1324"/>
          <p:cNvSpPr txBox="1"/>
          <p:nvPr/>
        </p:nvSpPr>
        <p:spPr>
          <a:xfrm>
            <a:off x="4242816" y="3035808"/>
            <a:ext cx="4233672" cy="658368"/>
          </a:xfrm>
          <a:prstGeom prst="rect">
            <a:avLst/>
          </a:prstGeom>
          <a:noFill/>
        </p:spPr>
        <p:txBody>
          <a:bodyPr wrap="square" lIns="70000" tIns="40000" rIns="70000" bIns="40000" anchor="t"/>
          <a:lstStyle/>
          <a:p>
            <a:pPr algn="l">
              <a:spcAft>
                <a:spcPts val="200"/>
              </a:spcAft>
              <a:buNone/>
            </a:pPr>
            <a:r>
              <a:rPr lang="en-US" sz="1300" b="1" i="0" dirty="0">
                <a:solidFill>
                  <a:srgbClr val="76F3FB"/>
                </a:solidFill>
                <a:latin typeface="Bebas Neue"/>
                <a:ea typeface="Bebas Neue"/>
                <a:cs typeface="Bebas Neue"/>
                <a:sym typeface="Bebas Neue"/>
              </a:rPr>
              <a:t>02  Machine learning</a:t>
            </a:r>
          </a:p>
          <a:p>
            <a:pPr>
              <a:spcAft>
                <a:spcPts val="200"/>
              </a:spcAft>
            </a:pPr>
            <a:r>
              <a:rPr lang="en-US" sz="10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Five-layer </a:t>
            </a:r>
            <a:r>
              <a:rPr lang="en-US" sz="1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ML engine implementation </a:t>
            </a:r>
            <a:endParaRPr lang="en-US" sz="1000" b="0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326" name="Rounded Rectangle 1325"/>
          <p:cNvSpPr/>
          <p:nvPr/>
        </p:nvSpPr>
        <p:spPr>
          <a:xfrm>
            <a:off x="4096512" y="3785616"/>
            <a:ext cx="4434840" cy="713232"/>
          </a:xfrm>
          <a:prstGeom prst="roundRect">
            <a:avLst>
              <a:gd name="adj" fmla="val 12000"/>
            </a:avLst>
          </a:prstGeom>
          <a:solidFill>
            <a:srgbClr val="331F4A"/>
          </a:solidFill>
          <a:ln w="9525">
            <a:solidFill>
              <a:srgbClr val="AE7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7" name="Rectangle 1326"/>
          <p:cNvSpPr/>
          <p:nvPr/>
        </p:nvSpPr>
        <p:spPr>
          <a:xfrm>
            <a:off x="4096512" y="3785616"/>
            <a:ext cx="73152" cy="713232"/>
          </a:xfrm>
          <a:prstGeom prst="rect">
            <a:avLst/>
          </a:prstGeom>
          <a:solidFill>
            <a:srgbClr val="76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8" name="TextBox 1327"/>
          <p:cNvSpPr txBox="1"/>
          <p:nvPr/>
        </p:nvSpPr>
        <p:spPr>
          <a:xfrm>
            <a:off x="4242816" y="3822192"/>
            <a:ext cx="4233672" cy="658368"/>
          </a:xfrm>
          <a:prstGeom prst="rect">
            <a:avLst/>
          </a:prstGeom>
          <a:noFill/>
        </p:spPr>
        <p:txBody>
          <a:bodyPr wrap="square" lIns="70000" tIns="40000" rIns="70000" bIns="40000" anchor="t"/>
          <a:lstStyle/>
          <a:p>
            <a:pPr algn="l">
              <a:spcAft>
                <a:spcPts val="200"/>
              </a:spcAft>
              <a:buNone/>
            </a:pPr>
            <a:r>
              <a:rPr lang="en-US" sz="1300" b="1" i="0" dirty="0">
                <a:solidFill>
                  <a:srgbClr val="76F3FB"/>
                </a:solidFill>
                <a:latin typeface="Bebas Neue"/>
                <a:ea typeface="Bebas Neue"/>
                <a:cs typeface="Bebas Neue"/>
                <a:sym typeface="Bebas Neue"/>
              </a:rPr>
              <a:t>03  Software</a:t>
            </a:r>
          </a:p>
          <a:p>
            <a:pPr algn="l">
              <a:spcAft>
                <a:spcPts val="200"/>
              </a:spcAft>
              <a:buNone/>
            </a:pPr>
            <a:r>
              <a:rPr lang="en-US" sz="10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Thin web client, loopback inference </a:t>
            </a:r>
            <a:r>
              <a:rPr lang="en-US" sz="1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APi,</a:t>
            </a:r>
            <a:r>
              <a:rPr lang="en-US" sz="10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safety.</a:t>
            </a:r>
            <a:endParaRPr lang="en-US" sz="1000" b="0" i="0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  <a:p>
            <a:pPr algn="l">
              <a:spcAft>
                <a:spcPts val="0"/>
              </a:spcAft>
              <a:buNone/>
            </a:pPr>
            <a:r>
              <a:rPr lang="en-US" sz="900" b="0" i="1" dirty="0">
                <a:solidFill>
                  <a:srgbClr val="CBB6E4"/>
                </a:solidFill>
                <a:latin typeface="Montserrat"/>
                <a:ea typeface="Montserrat"/>
                <a:cs typeface="Montserrat"/>
                <a:sym typeface="Montserrat"/>
              </a:rPr>
              <a:t>Live with the demo</a:t>
            </a:r>
            <a:endParaRPr lang="en-US" sz="900" b="0" i="1" dirty="0">
              <a:solidFill>
                <a:srgbClr val="CBB6E4"/>
              </a:solidFill>
              <a:latin typeface="Montserrat"/>
              <a:ea typeface="Montserrat"/>
              <a:cs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3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1" name="Google Shape;3131;p68"/>
          <p:cNvSpPr txBox="1">
            <a:spLocks noGrp="1"/>
          </p:cNvSpPr>
          <p:nvPr>
            <p:ph type="title"/>
          </p:nvPr>
        </p:nvSpPr>
        <p:spPr>
          <a:xfrm>
            <a:off x="716775" y="510900"/>
            <a:ext cx="7710600" cy="48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/>
          <a:p>
            <a:pPr algn="l"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 five-layer engine</a:t>
            </a:r>
            <a:endParaRPr lang="en-US" dirty="0"/>
          </a:p>
        </p:txBody>
      </p:sp>
      <p:sp>
        <p:nvSpPr>
          <p:cNvPr id="3132" name="TextBox 3131"/>
          <p:cNvSpPr txBox="1"/>
          <p:nvPr/>
        </p:nvSpPr>
        <p:spPr>
          <a:xfrm>
            <a:off x="658368" y="1078992"/>
            <a:ext cx="7863840" cy="640080"/>
          </a:xfrm>
          <a:prstGeom prst="rect">
            <a:avLst/>
          </a:prstGeom>
          <a:noFill/>
        </p:spPr>
        <p:txBody>
          <a:bodyPr wrap="square" lIns="70000" tIns="40000" rIns="70000" bIns="40000" anchor="t"/>
          <a:lstStyle/>
          <a:p>
            <a:r>
              <a:rPr lang="en-US" sz="1400" b="0" i="0" dirty="0">
                <a:solidFill>
                  <a:srgbClr val="CBB6E4"/>
                </a:solidFill>
                <a:latin typeface="Montserrat"/>
                <a:ea typeface="Montserrat"/>
                <a:cs typeface="Montserrat"/>
                <a:sym typeface="Montserrat"/>
              </a:rPr>
              <a:t>The medical team </a:t>
            </a:r>
            <a:r>
              <a:rPr lang="en-US" dirty="0">
                <a:solidFill>
                  <a:srgbClr val="CBB6E4"/>
                </a:solidFill>
                <a:latin typeface="Montserrat"/>
                <a:ea typeface="Montserrat"/>
                <a:cs typeface="Montserrat"/>
                <a:sym typeface="Montserrat"/>
              </a:rPr>
              <a:t>hands us the</a:t>
            </a:r>
            <a:r>
              <a:rPr lang="en-US" sz="1400" b="0" i="0" dirty="0">
                <a:solidFill>
                  <a:srgbClr val="CBB6E4"/>
                </a:solidFill>
                <a:latin typeface="Montserrat"/>
                <a:ea typeface="Montserrat"/>
                <a:cs typeface="Montserrat"/>
                <a:sym typeface="Montserrat"/>
              </a:rPr>
              <a:t> protocol. We compile it into five frozen layers: rules first, probability only when the case is eligible, action last and clinician-owned.</a:t>
            </a:r>
          </a:p>
        </p:txBody>
      </p:sp>
      <p:sp>
        <p:nvSpPr>
          <p:cNvPr id="3133" name="Rounded Rectangle 3132"/>
          <p:cNvSpPr/>
          <p:nvPr/>
        </p:nvSpPr>
        <p:spPr>
          <a:xfrm>
            <a:off x="658368" y="1874519"/>
            <a:ext cx="1353312" cy="1234440"/>
          </a:xfrm>
          <a:prstGeom prst="roundRect">
            <a:avLst>
              <a:gd name="adj" fmla="val 14000"/>
            </a:avLst>
          </a:prstGeom>
          <a:solidFill>
            <a:srgbClr val="331F4A"/>
          </a:solidFill>
          <a:ln w="14604">
            <a:solidFill>
              <a:srgbClr val="76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4" name="TextBox 3133"/>
          <p:cNvSpPr txBox="1"/>
          <p:nvPr/>
        </p:nvSpPr>
        <p:spPr>
          <a:xfrm>
            <a:off x="658368" y="1984247"/>
            <a:ext cx="1353312" cy="1088136"/>
          </a:xfrm>
          <a:prstGeom prst="rect">
            <a:avLst/>
          </a:prstGeom>
          <a:noFill/>
        </p:spPr>
        <p:txBody>
          <a:bodyPr wrap="square" lIns="70000" tIns="40000" rIns="70000" bIns="40000" anchor="ctr"/>
          <a:lstStyle/>
          <a:p>
            <a:pPr algn="ctr">
              <a:spcAft>
                <a:spcPts val="600"/>
              </a:spcAft>
              <a:buNone/>
            </a:pPr>
            <a:r>
              <a:rPr lang="en-US" sz="1800" b="1" i="0">
                <a:solidFill>
                  <a:srgbClr val="76F3FB"/>
                </a:solidFill>
                <a:latin typeface="Bebas Neue"/>
                <a:ea typeface="Bebas Neue"/>
                <a:cs typeface="Bebas Neue"/>
                <a:sym typeface="Bebas Neue"/>
              </a:rPr>
              <a:t>1</a:t>
            </a:r>
          </a:p>
          <a:p>
            <a:pPr algn="ctr">
              <a:spcAft>
                <a:spcPts val="0"/>
              </a:spcAft>
              <a:buNone/>
            </a:pPr>
            <a:r>
              <a:rPr lang="en-US" sz="1100" b="1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VARC-3 rules</a:t>
            </a:r>
          </a:p>
        </p:txBody>
      </p:sp>
      <p:sp>
        <p:nvSpPr>
          <p:cNvPr id="3135" name="Rounded Rectangle 3134"/>
          <p:cNvSpPr/>
          <p:nvPr/>
        </p:nvSpPr>
        <p:spPr>
          <a:xfrm>
            <a:off x="2139696" y="1874519"/>
            <a:ext cx="1353312" cy="1234440"/>
          </a:xfrm>
          <a:prstGeom prst="roundRect">
            <a:avLst>
              <a:gd name="adj" fmla="val 14000"/>
            </a:avLst>
          </a:prstGeom>
          <a:solidFill>
            <a:srgbClr val="331F4A"/>
          </a:solidFill>
          <a:ln w="14604">
            <a:solidFill>
              <a:srgbClr val="AE7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6" name="TextBox 3135"/>
          <p:cNvSpPr txBox="1"/>
          <p:nvPr/>
        </p:nvSpPr>
        <p:spPr>
          <a:xfrm>
            <a:off x="2139696" y="1984247"/>
            <a:ext cx="1353312" cy="1088136"/>
          </a:xfrm>
          <a:prstGeom prst="rect">
            <a:avLst/>
          </a:prstGeom>
          <a:noFill/>
        </p:spPr>
        <p:txBody>
          <a:bodyPr wrap="square" lIns="70000" tIns="40000" rIns="70000" bIns="40000" anchor="ctr"/>
          <a:lstStyle/>
          <a:p>
            <a:pPr algn="ctr">
              <a:spcAft>
                <a:spcPts val="600"/>
              </a:spcAft>
              <a:buNone/>
            </a:pPr>
            <a:r>
              <a:rPr lang="en-US" sz="1800" b="1" i="0">
                <a:solidFill>
                  <a:srgbClr val="76F3FB"/>
                </a:solidFill>
                <a:latin typeface="Bebas Neue"/>
                <a:ea typeface="Bebas Neue"/>
                <a:cs typeface="Bebas Neue"/>
                <a:sym typeface="Bebas Neue"/>
              </a:rPr>
              <a:t>2</a:t>
            </a:r>
          </a:p>
          <a:p>
            <a:pPr algn="ctr">
              <a:spcAft>
                <a:spcPts val="0"/>
              </a:spcAft>
              <a:buNone/>
            </a:pPr>
            <a:r>
              <a:rPr lang="en-US" sz="1100" b="1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Competing-risk CIF</a:t>
            </a:r>
          </a:p>
        </p:txBody>
      </p:sp>
      <p:sp>
        <p:nvSpPr>
          <p:cNvPr id="3137" name="Rounded Rectangle 3136"/>
          <p:cNvSpPr/>
          <p:nvPr/>
        </p:nvSpPr>
        <p:spPr>
          <a:xfrm>
            <a:off x="3621024" y="1874519"/>
            <a:ext cx="1353312" cy="1234440"/>
          </a:xfrm>
          <a:prstGeom prst="roundRect">
            <a:avLst>
              <a:gd name="adj" fmla="val 14000"/>
            </a:avLst>
          </a:prstGeom>
          <a:solidFill>
            <a:srgbClr val="331F4A"/>
          </a:solidFill>
          <a:ln w="14604">
            <a:solidFill>
              <a:srgbClr val="76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8" name="TextBox 3137"/>
          <p:cNvSpPr txBox="1"/>
          <p:nvPr/>
        </p:nvSpPr>
        <p:spPr>
          <a:xfrm>
            <a:off x="3621024" y="1984247"/>
            <a:ext cx="1353312" cy="1088136"/>
          </a:xfrm>
          <a:prstGeom prst="rect">
            <a:avLst/>
          </a:prstGeom>
          <a:noFill/>
        </p:spPr>
        <p:txBody>
          <a:bodyPr wrap="square" lIns="70000" tIns="40000" rIns="70000" bIns="40000" anchor="ctr"/>
          <a:lstStyle/>
          <a:p>
            <a:pPr algn="ctr">
              <a:spcAft>
                <a:spcPts val="600"/>
              </a:spcAft>
              <a:buNone/>
            </a:pPr>
            <a:r>
              <a:rPr lang="en-US" sz="1800" b="1" i="0">
                <a:solidFill>
                  <a:srgbClr val="76F3FB"/>
                </a:solidFill>
                <a:latin typeface="Bebas Neue"/>
                <a:ea typeface="Bebas Neue"/>
                <a:cs typeface="Bebas Neue"/>
                <a:sym typeface="Bebas Neue"/>
              </a:rPr>
              <a:t>3</a:t>
            </a:r>
          </a:p>
          <a:p>
            <a:pPr algn="ctr">
              <a:spcAft>
                <a:spcPts val="0"/>
              </a:spcAft>
              <a:buNone/>
            </a:pPr>
            <a:r>
              <a:rPr lang="en-US" sz="1100" b="1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Echo trajectory</a:t>
            </a:r>
          </a:p>
        </p:txBody>
      </p:sp>
      <p:sp>
        <p:nvSpPr>
          <p:cNvPr id="3139" name="Rounded Rectangle 3138"/>
          <p:cNvSpPr/>
          <p:nvPr/>
        </p:nvSpPr>
        <p:spPr>
          <a:xfrm>
            <a:off x="5102352" y="1874519"/>
            <a:ext cx="1353312" cy="1234440"/>
          </a:xfrm>
          <a:prstGeom prst="roundRect">
            <a:avLst>
              <a:gd name="adj" fmla="val 14000"/>
            </a:avLst>
          </a:prstGeom>
          <a:solidFill>
            <a:srgbClr val="331F4A"/>
          </a:solidFill>
          <a:ln w="14604">
            <a:solidFill>
              <a:srgbClr val="AE7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40" name="TextBox 3139"/>
          <p:cNvSpPr txBox="1"/>
          <p:nvPr/>
        </p:nvSpPr>
        <p:spPr>
          <a:xfrm>
            <a:off x="5102352" y="1984247"/>
            <a:ext cx="1353312" cy="1088136"/>
          </a:xfrm>
          <a:prstGeom prst="rect">
            <a:avLst/>
          </a:prstGeom>
          <a:noFill/>
        </p:spPr>
        <p:txBody>
          <a:bodyPr wrap="square" lIns="70000" tIns="40000" rIns="70000" bIns="40000" anchor="ctr"/>
          <a:lstStyle/>
          <a:p>
            <a:pPr algn="ctr">
              <a:spcAft>
                <a:spcPts val="600"/>
              </a:spcAft>
              <a:buNone/>
            </a:pPr>
            <a:r>
              <a:rPr lang="en-US" sz="1800" b="1" i="0">
                <a:solidFill>
                  <a:srgbClr val="76F3FB"/>
                </a:solidFill>
                <a:latin typeface="Bebas Neue"/>
                <a:ea typeface="Bebas Neue"/>
                <a:cs typeface="Bebas Neue"/>
                <a:sym typeface="Bebas Neue"/>
              </a:rPr>
              <a:t>4</a:t>
            </a:r>
          </a:p>
          <a:p>
            <a:pPr algn="ctr">
              <a:spcAft>
                <a:spcPts val="0"/>
              </a:spcAft>
              <a:buNone/>
            </a:pPr>
            <a:r>
              <a:rPr lang="en-US" sz="1100" b="1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Calibrate &amp; safety</a:t>
            </a:r>
          </a:p>
        </p:txBody>
      </p:sp>
      <p:sp>
        <p:nvSpPr>
          <p:cNvPr id="3141" name="Rounded Rectangle 3140"/>
          <p:cNvSpPr/>
          <p:nvPr/>
        </p:nvSpPr>
        <p:spPr>
          <a:xfrm>
            <a:off x="6583680" y="1874519"/>
            <a:ext cx="1353312" cy="1234440"/>
          </a:xfrm>
          <a:prstGeom prst="roundRect">
            <a:avLst>
              <a:gd name="adj" fmla="val 14000"/>
            </a:avLst>
          </a:prstGeom>
          <a:solidFill>
            <a:srgbClr val="331F4A"/>
          </a:solidFill>
          <a:ln w="14604">
            <a:solidFill>
              <a:srgbClr val="76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42" name="TextBox 3141"/>
          <p:cNvSpPr txBox="1"/>
          <p:nvPr/>
        </p:nvSpPr>
        <p:spPr>
          <a:xfrm>
            <a:off x="6583680" y="1984247"/>
            <a:ext cx="1353312" cy="1088136"/>
          </a:xfrm>
          <a:prstGeom prst="rect">
            <a:avLst/>
          </a:prstGeom>
          <a:noFill/>
        </p:spPr>
        <p:txBody>
          <a:bodyPr wrap="square" lIns="70000" tIns="40000" rIns="70000" bIns="40000" anchor="ctr"/>
          <a:lstStyle/>
          <a:p>
            <a:pPr algn="ctr">
              <a:spcAft>
                <a:spcPts val="600"/>
              </a:spcAft>
              <a:buNone/>
            </a:pPr>
            <a:r>
              <a:rPr lang="en-US" sz="1800" b="1" i="0">
                <a:solidFill>
                  <a:srgbClr val="76F3FB"/>
                </a:solidFill>
                <a:latin typeface="Bebas Neue"/>
                <a:ea typeface="Bebas Neue"/>
                <a:cs typeface="Bebas Neue"/>
                <a:sym typeface="Bebas Neue"/>
              </a:rPr>
              <a:t>5</a:t>
            </a:r>
          </a:p>
          <a:p>
            <a:pPr algn="ctr">
              <a:spcAft>
                <a:spcPts val="0"/>
              </a:spcAft>
              <a:buNone/>
            </a:pPr>
            <a:r>
              <a:rPr lang="en-US" sz="1100" b="1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Surveillance interval</a:t>
            </a:r>
          </a:p>
        </p:txBody>
      </p:sp>
      <p:sp>
        <p:nvSpPr>
          <p:cNvPr id="3143" name="Rounded Rectangle 3142"/>
          <p:cNvSpPr/>
          <p:nvPr/>
        </p:nvSpPr>
        <p:spPr>
          <a:xfrm>
            <a:off x="658368" y="3310128"/>
            <a:ext cx="7827264" cy="1417320"/>
          </a:xfrm>
          <a:prstGeom prst="roundRect">
            <a:avLst>
              <a:gd name="adj" fmla="val 8000"/>
            </a:avLst>
          </a:prstGeom>
          <a:solidFill>
            <a:srgbClr val="3D2460"/>
          </a:solidFill>
          <a:ln w="9525">
            <a:solidFill>
              <a:srgbClr val="6E3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44" name="TextBox 3143"/>
          <p:cNvSpPr txBox="1"/>
          <p:nvPr/>
        </p:nvSpPr>
        <p:spPr>
          <a:xfrm>
            <a:off x="804672" y="3401568"/>
            <a:ext cx="7534656" cy="1261872"/>
          </a:xfrm>
          <a:prstGeom prst="rect">
            <a:avLst/>
          </a:prstGeom>
          <a:noFill/>
        </p:spPr>
        <p:txBody>
          <a:bodyPr wrap="square" lIns="70000" tIns="40000" rIns="70000" bIns="40000" anchor="t"/>
          <a:lstStyle/>
          <a:p>
            <a:pPr algn="l">
              <a:spcAft>
                <a:spcPts val="600"/>
              </a:spcAft>
              <a:buNone/>
            </a:pPr>
            <a:r>
              <a:rPr lang="en-US" sz="1300" b="1" i="0" dirty="0">
                <a:solidFill>
                  <a:srgbClr val="76F3FB"/>
                </a:solidFill>
                <a:latin typeface="Bebas Neue"/>
                <a:ea typeface="Bebas Neue"/>
                <a:cs typeface="Bebas Neue"/>
                <a:sym typeface="Bebas Neue"/>
              </a:rPr>
              <a:t>Returned to the medical team</a:t>
            </a:r>
          </a:p>
          <a:p>
            <a:pPr algn="l">
              <a:spcAft>
                <a:spcPts val="600"/>
              </a:spcAft>
              <a:buNone/>
            </a:pPr>
            <a:r>
              <a:rPr lang="en-US" sz="13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Current HVD candidate  ·  BVF / death cumulative incidence  ·  next-echo path  ·  calibrated risk or an explicit abstention  ·  a review interval.</a:t>
            </a:r>
            <a:endParaRPr lang="en-US" sz="1200" b="0" i="1" dirty="0">
              <a:solidFill>
                <a:srgbClr val="CBB6E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3129">
          <a:extLst>
            <a:ext uri="{FF2B5EF4-FFF2-40B4-BE49-F238E27FC236}">
              <a16:creationId xmlns:a16="http://schemas.microsoft.com/office/drawing/2014/main" id="{FBD5A3ED-E729-E91C-2D87-3B46D1E37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1" name="Google Shape;3131;p68">
            <a:extLst>
              <a:ext uri="{FF2B5EF4-FFF2-40B4-BE49-F238E27FC236}">
                <a16:creationId xmlns:a16="http://schemas.microsoft.com/office/drawing/2014/main" id="{B7597391-7585-F292-FCD2-CF7C498AFA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6775" y="365760"/>
            <a:ext cx="7710600" cy="48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/>
          <a:p>
            <a:pPr algn="l">
              <a:spcAft>
                <a:spcPts val="0"/>
              </a:spcAft>
              <a:buNone/>
            </a:pPr>
            <a:r>
              <a:rPr lang="en-US" sz="2600" b="1" i="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Five sub-engines</a:t>
            </a:r>
            <a:endParaRPr lang="en-US" dirty="0" err="1"/>
          </a:p>
        </p:txBody>
      </p:sp>
      <p:sp>
        <p:nvSpPr>
          <p:cNvPr id="3132" name="TextBox 3131"/>
          <p:cNvSpPr txBox="1"/>
          <p:nvPr/>
        </p:nvSpPr>
        <p:spPr>
          <a:xfrm>
            <a:off x="256032" y="877824"/>
            <a:ext cx="8595360" cy="292608"/>
          </a:xfrm>
          <a:prstGeom prst="rect">
            <a:avLst/>
          </a:prstGeom>
          <a:noFill/>
        </p:spPr>
        <p:txBody>
          <a:bodyPr wrap="square" lIns="70000" tIns="40000" rIns="70000" bIns="40000" anchor="t"/>
          <a:lstStyle/>
          <a:p>
            <a:r>
              <a:rPr lang="en-US" sz="1100" dirty="0">
                <a:solidFill>
                  <a:srgbClr val="CBB6E4"/>
                </a:solidFill>
                <a:latin typeface="Montserrat"/>
                <a:ea typeface="Montserrat"/>
                <a:cs typeface="Montserrat"/>
                <a:sym typeface="Montserrat"/>
              </a:rPr>
              <a:t>Input</a:t>
            </a:r>
            <a:r>
              <a:rPr lang="en-US" sz="1100" b="0" i="0" dirty="0">
                <a:solidFill>
                  <a:srgbClr val="CBB6E4"/>
                </a:solidFill>
                <a:latin typeface="Montserrat"/>
                <a:ea typeface="Montserrat"/>
                <a:cs typeface="Montserrat"/>
                <a:sym typeface="Montserrat"/>
              </a:rPr>
              <a:t> and output in clinical terms; mechanism underneath.</a:t>
            </a:r>
            <a:r>
              <a:rPr lang="en-US" sz="1100" dirty="0">
                <a:solidFill>
                  <a:srgbClr val="CBB6E4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lang="en-US" sz="1100" b="0" i="0" dirty="0">
              <a:solidFill>
                <a:srgbClr val="CBB6E4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3133" name="Rounded Rectangle 3132"/>
          <p:cNvSpPr/>
          <p:nvPr/>
        </p:nvSpPr>
        <p:spPr>
          <a:xfrm>
            <a:off x="164592" y="1188720"/>
            <a:ext cx="1711756" cy="3675887"/>
          </a:xfrm>
          <a:prstGeom prst="roundRect">
            <a:avLst>
              <a:gd name="adj" fmla="val 6000"/>
            </a:avLst>
          </a:prstGeom>
          <a:solidFill>
            <a:srgbClr val="331F4A"/>
          </a:solidFill>
          <a:ln w="15875">
            <a:solidFill>
              <a:srgbClr val="76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4" name="Rectangle 3133"/>
          <p:cNvSpPr/>
          <p:nvPr/>
        </p:nvSpPr>
        <p:spPr>
          <a:xfrm>
            <a:off x="164592" y="1188720"/>
            <a:ext cx="1711756" cy="73152"/>
          </a:xfrm>
          <a:prstGeom prst="rect">
            <a:avLst/>
          </a:prstGeom>
          <a:solidFill>
            <a:srgbClr val="76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5" name="TextBox 3134"/>
          <p:cNvSpPr txBox="1"/>
          <p:nvPr/>
        </p:nvSpPr>
        <p:spPr>
          <a:xfrm>
            <a:off x="219456" y="1335024"/>
            <a:ext cx="1620316" cy="822960"/>
          </a:xfrm>
          <a:prstGeom prst="rect">
            <a:avLst/>
          </a:prstGeom>
          <a:noFill/>
        </p:spPr>
        <p:txBody>
          <a:bodyPr wrap="square" lIns="70000" tIns="40000" rIns="70000" bIns="40000" anchor="t"/>
          <a:lstStyle/>
          <a:p>
            <a:pPr algn="ctr">
              <a:spcAft>
                <a:spcPts val="200"/>
              </a:spcAft>
              <a:buNone/>
            </a:pPr>
            <a:r>
              <a:rPr lang="en-US" sz="1000" b="1" i="0">
                <a:solidFill>
                  <a:srgbClr val="76F3FB"/>
                </a:solidFill>
                <a:latin typeface="Bebas Neue"/>
                <a:ea typeface="Bebas Neue"/>
                <a:cs typeface="Bebas Neue"/>
                <a:sym typeface="Bebas Neue"/>
              </a:rPr>
              <a:t>TIER 1</a:t>
            </a:r>
          </a:p>
          <a:p>
            <a:pPr algn="ctr">
              <a:spcAft>
                <a:spcPts val="0"/>
              </a:spcAft>
              <a:buNone/>
            </a:pPr>
            <a:r>
              <a:rPr lang="en-US" sz="1200" b="1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VARC-3 rules</a:t>
            </a:r>
          </a:p>
        </p:txBody>
      </p:sp>
      <p:sp>
        <p:nvSpPr>
          <p:cNvPr id="3136" name="Rectangle 3135"/>
          <p:cNvSpPr/>
          <p:nvPr/>
        </p:nvSpPr>
        <p:spPr>
          <a:xfrm>
            <a:off x="420624" y="2176272"/>
            <a:ext cx="1199692" cy="13716"/>
          </a:xfrm>
          <a:prstGeom prst="rect">
            <a:avLst/>
          </a:prstGeom>
          <a:solidFill>
            <a:srgbClr val="76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7" name="TextBox 3136"/>
          <p:cNvSpPr txBox="1"/>
          <p:nvPr/>
        </p:nvSpPr>
        <p:spPr>
          <a:xfrm>
            <a:off x="237744" y="2267712"/>
            <a:ext cx="1583740" cy="2606040"/>
          </a:xfrm>
          <a:prstGeom prst="rect">
            <a:avLst/>
          </a:prstGeom>
          <a:noFill/>
        </p:spPr>
        <p:txBody>
          <a:bodyPr wrap="square" lIns="70000" tIns="40000" rIns="70000" bIns="40000" anchor="t"/>
          <a:lstStyle/>
          <a:p>
            <a:pPr algn="l">
              <a:spcAft>
                <a:spcPts val="700"/>
              </a:spcAft>
              <a:buNone/>
            </a:pPr>
            <a:r>
              <a:rPr lang="en-US" sz="1000" b="0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In: reference vs current TTE</a:t>
            </a:r>
          </a:p>
          <a:p>
            <a:pPr algn="l">
              <a:spcAft>
                <a:spcPts val="700"/>
              </a:spcAft>
              <a:buNone/>
            </a:pPr>
            <a:r>
              <a:rPr lang="en-US" sz="1000" b="0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Out: no HVD / 2 / 3 / indeterminate</a:t>
            </a:r>
          </a:p>
          <a:p>
            <a:pPr algn="l">
              <a:spcAft>
                <a:spcPts val="700"/>
              </a:spcAft>
              <a:buNone/>
            </a:pPr>
            <a:r>
              <a:rPr lang="en-US" sz="1000" b="0" i="0">
                <a:solidFill>
                  <a:srgbClr val="CBB6E4"/>
                </a:solidFill>
                <a:latin typeface="Montserrat"/>
                <a:ea typeface="Montserrat"/>
                <a:cs typeface="Montserrat"/>
                <a:sym typeface="Montserrat"/>
              </a:rPr>
              <a:t>Pure function, no neural net</a:t>
            </a:r>
          </a:p>
          <a:p>
            <a:pPr algn="l">
              <a:spcAft>
                <a:spcPts val="700"/>
              </a:spcAft>
              <a:buNone/>
            </a:pPr>
            <a:r>
              <a:rPr lang="en-US" sz="1000" b="0" i="0">
                <a:solidFill>
                  <a:srgbClr val="CBB6E4"/>
                </a:solidFill>
                <a:latin typeface="Montserrat"/>
                <a:ea typeface="Montserrat"/>
                <a:cs typeface="Montserrat"/>
                <a:sym typeface="Montserrat"/>
              </a:rPr>
              <a:t>Candidate HVD, not SVD</a:t>
            </a:r>
          </a:p>
          <a:p>
            <a:pPr algn="l">
              <a:spcAft>
                <a:spcPts val="700"/>
              </a:spcAft>
              <a:buNone/>
            </a:pPr>
            <a:r>
              <a:rPr lang="en-US" sz="1000" b="0" i="0">
                <a:solidFill>
                  <a:srgbClr val="CBB6E4"/>
                </a:solidFill>
                <a:latin typeface="Montserrat"/>
                <a:ea typeface="Montserrat"/>
                <a:cs typeface="Montserrat"/>
                <a:sym typeface="Montserrat"/>
              </a:rPr>
              <a:t>Same case = same result</a:t>
            </a:r>
          </a:p>
        </p:txBody>
      </p:sp>
      <p:sp>
        <p:nvSpPr>
          <p:cNvPr id="3138" name="Rounded Rectangle 3137"/>
          <p:cNvSpPr/>
          <p:nvPr/>
        </p:nvSpPr>
        <p:spPr>
          <a:xfrm>
            <a:off x="1940356" y="1188720"/>
            <a:ext cx="1711756" cy="3675887"/>
          </a:xfrm>
          <a:prstGeom prst="roundRect">
            <a:avLst>
              <a:gd name="adj" fmla="val 6000"/>
            </a:avLst>
          </a:prstGeom>
          <a:solidFill>
            <a:srgbClr val="331F4A"/>
          </a:solidFill>
          <a:ln w="15875">
            <a:solidFill>
              <a:srgbClr val="AE7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9" name="Rectangle 3138"/>
          <p:cNvSpPr/>
          <p:nvPr/>
        </p:nvSpPr>
        <p:spPr>
          <a:xfrm>
            <a:off x="1940356" y="1188720"/>
            <a:ext cx="1711756" cy="73152"/>
          </a:xfrm>
          <a:prstGeom prst="rect">
            <a:avLst/>
          </a:prstGeom>
          <a:solidFill>
            <a:srgbClr val="AE7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40" name="TextBox 3139"/>
          <p:cNvSpPr txBox="1"/>
          <p:nvPr/>
        </p:nvSpPr>
        <p:spPr>
          <a:xfrm>
            <a:off x="1995220" y="1335024"/>
            <a:ext cx="1620316" cy="822960"/>
          </a:xfrm>
          <a:prstGeom prst="rect">
            <a:avLst/>
          </a:prstGeom>
          <a:noFill/>
        </p:spPr>
        <p:txBody>
          <a:bodyPr wrap="square" lIns="70000" tIns="40000" rIns="70000" bIns="40000" anchor="t"/>
          <a:lstStyle/>
          <a:p>
            <a:pPr algn="ctr">
              <a:spcAft>
                <a:spcPts val="200"/>
              </a:spcAft>
              <a:buNone/>
            </a:pPr>
            <a:r>
              <a:rPr lang="en-US" sz="1000" b="1" i="0">
                <a:solidFill>
                  <a:srgbClr val="AE77D6"/>
                </a:solidFill>
                <a:latin typeface="Bebas Neue"/>
                <a:ea typeface="Bebas Neue"/>
                <a:cs typeface="Bebas Neue"/>
                <a:sym typeface="Bebas Neue"/>
              </a:rPr>
              <a:t>TIER 2</a:t>
            </a:r>
          </a:p>
          <a:p>
            <a:pPr algn="ctr">
              <a:spcAft>
                <a:spcPts val="0"/>
              </a:spcAft>
              <a:buNone/>
            </a:pPr>
            <a:r>
              <a:rPr lang="en-US" sz="1200" b="1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Competing-risk CIF</a:t>
            </a:r>
          </a:p>
        </p:txBody>
      </p:sp>
      <p:sp>
        <p:nvSpPr>
          <p:cNvPr id="3141" name="Rectangle 3140"/>
          <p:cNvSpPr/>
          <p:nvPr/>
        </p:nvSpPr>
        <p:spPr>
          <a:xfrm>
            <a:off x="2196388" y="2176272"/>
            <a:ext cx="1199692" cy="13716"/>
          </a:xfrm>
          <a:prstGeom prst="rect">
            <a:avLst/>
          </a:prstGeom>
          <a:solidFill>
            <a:srgbClr val="AE7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42" name="TextBox 3141"/>
          <p:cNvSpPr txBox="1"/>
          <p:nvPr/>
        </p:nvSpPr>
        <p:spPr>
          <a:xfrm>
            <a:off x="2013508" y="2267712"/>
            <a:ext cx="1583740" cy="2606040"/>
          </a:xfrm>
          <a:prstGeom prst="rect">
            <a:avLst/>
          </a:prstGeom>
          <a:noFill/>
        </p:spPr>
        <p:txBody>
          <a:bodyPr wrap="square" lIns="70000" tIns="40000" rIns="70000" bIns="40000" anchor="t"/>
          <a:lstStyle/>
          <a:p>
            <a:pPr algn="l">
              <a:spcAft>
                <a:spcPts val="700"/>
              </a:spcAft>
              <a:buNone/>
            </a:pPr>
            <a:r>
              <a:rPr lang="en-US" sz="1000" b="0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In: baseline + serial history</a:t>
            </a:r>
          </a:p>
          <a:p>
            <a:pPr algn="l">
              <a:spcAft>
                <a:spcPts val="700"/>
              </a:spcAft>
              <a:buNone/>
            </a:pPr>
            <a:r>
              <a:rPr lang="en-US" sz="1000" b="0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Out: BVF and death CIFs</a:t>
            </a:r>
          </a:p>
          <a:p>
            <a:pPr algn="l">
              <a:spcAft>
                <a:spcPts val="700"/>
              </a:spcAft>
              <a:buNone/>
            </a:pPr>
            <a:r>
              <a:rPr lang="en-US" sz="1000" b="0" i="0">
                <a:solidFill>
                  <a:srgbClr val="CBB6E4"/>
                </a:solidFill>
                <a:latin typeface="Montserrat"/>
                <a:ea typeface="Montserrat"/>
                <a:cs typeface="Montserrat"/>
                <a:sym typeface="Montserrat"/>
              </a:rPr>
              <a:t>Irregular-time GRU</a:t>
            </a:r>
          </a:p>
          <a:p>
            <a:pPr algn="l">
              <a:spcAft>
                <a:spcPts val="700"/>
              </a:spcAft>
              <a:buNone/>
            </a:pPr>
            <a:r>
              <a:rPr lang="en-US" sz="1000" b="0" i="0">
                <a:solidFill>
                  <a:srgbClr val="CBB6E4"/>
                </a:solidFill>
                <a:latin typeface="Montserrat"/>
                <a:ea typeface="Montserrat"/>
                <a:cs typeface="Montserrat"/>
                <a:sym typeface="Montserrat"/>
              </a:rPr>
              <a:t>Stage 2 stays on the BVF clock</a:t>
            </a:r>
          </a:p>
          <a:p>
            <a:pPr algn="l">
              <a:spcAft>
                <a:spcPts val="700"/>
              </a:spcAft>
              <a:buNone/>
            </a:pPr>
            <a:r>
              <a:rPr lang="en-US" sz="1000" b="0" i="0">
                <a:solidFill>
                  <a:srgbClr val="CBB6E4"/>
                </a:solidFill>
                <a:latin typeface="Montserrat"/>
                <a:ea typeface="Montserrat"/>
                <a:cs typeface="Montserrat"/>
                <a:sym typeface="Montserrat"/>
              </a:rPr>
              <a:t>NSVD class untrained — withheld</a:t>
            </a:r>
          </a:p>
        </p:txBody>
      </p:sp>
      <p:sp>
        <p:nvSpPr>
          <p:cNvPr id="3143" name="Rounded Rectangle 3142"/>
          <p:cNvSpPr/>
          <p:nvPr/>
        </p:nvSpPr>
        <p:spPr>
          <a:xfrm>
            <a:off x="3716120" y="1188720"/>
            <a:ext cx="1711756" cy="3675887"/>
          </a:xfrm>
          <a:prstGeom prst="roundRect">
            <a:avLst>
              <a:gd name="adj" fmla="val 6000"/>
            </a:avLst>
          </a:prstGeom>
          <a:solidFill>
            <a:srgbClr val="331F4A"/>
          </a:solidFill>
          <a:ln w="15875">
            <a:solidFill>
              <a:srgbClr val="729B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44" name="Rectangle 3143"/>
          <p:cNvSpPr/>
          <p:nvPr/>
        </p:nvSpPr>
        <p:spPr>
          <a:xfrm>
            <a:off x="3716120" y="1188720"/>
            <a:ext cx="1711756" cy="73152"/>
          </a:xfrm>
          <a:prstGeom prst="rect">
            <a:avLst/>
          </a:prstGeom>
          <a:solidFill>
            <a:srgbClr val="729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45" name="TextBox 3144"/>
          <p:cNvSpPr txBox="1"/>
          <p:nvPr/>
        </p:nvSpPr>
        <p:spPr>
          <a:xfrm>
            <a:off x="3770984" y="1335024"/>
            <a:ext cx="1620316" cy="822960"/>
          </a:xfrm>
          <a:prstGeom prst="rect">
            <a:avLst/>
          </a:prstGeom>
          <a:noFill/>
        </p:spPr>
        <p:txBody>
          <a:bodyPr wrap="square" lIns="70000" tIns="40000" rIns="70000" bIns="40000" anchor="t"/>
          <a:lstStyle/>
          <a:p>
            <a:pPr algn="ctr">
              <a:spcAft>
                <a:spcPts val="200"/>
              </a:spcAft>
              <a:buNone/>
            </a:pPr>
            <a:r>
              <a:rPr lang="en-US" sz="1000" b="1" i="0">
                <a:solidFill>
                  <a:srgbClr val="729BCB"/>
                </a:solidFill>
                <a:latin typeface="Bebas Neue"/>
                <a:ea typeface="Bebas Neue"/>
                <a:cs typeface="Bebas Neue"/>
                <a:sym typeface="Bebas Neue"/>
              </a:rPr>
              <a:t>TIER 3</a:t>
            </a:r>
          </a:p>
          <a:p>
            <a:pPr algn="ctr">
              <a:spcAft>
                <a:spcPts val="0"/>
              </a:spcAft>
              <a:buNone/>
            </a:pPr>
            <a:r>
              <a:rPr lang="en-US" sz="1200" b="1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Echo trajectory</a:t>
            </a:r>
          </a:p>
        </p:txBody>
      </p:sp>
      <p:sp>
        <p:nvSpPr>
          <p:cNvPr id="3146" name="Rectangle 3145"/>
          <p:cNvSpPr/>
          <p:nvPr/>
        </p:nvSpPr>
        <p:spPr>
          <a:xfrm>
            <a:off x="3972152" y="2176272"/>
            <a:ext cx="1199692" cy="13716"/>
          </a:xfrm>
          <a:prstGeom prst="rect">
            <a:avLst/>
          </a:prstGeom>
          <a:solidFill>
            <a:srgbClr val="729B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47" name="TextBox 3146"/>
          <p:cNvSpPr txBox="1"/>
          <p:nvPr/>
        </p:nvSpPr>
        <p:spPr>
          <a:xfrm>
            <a:off x="3789272" y="2267712"/>
            <a:ext cx="1583740" cy="2606040"/>
          </a:xfrm>
          <a:prstGeom prst="rect">
            <a:avLst/>
          </a:prstGeom>
          <a:noFill/>
        </p:spPr>
        <p:txBody>
          <a:bodyPr wrap="square" lIns="70000" tIns="40000" rIns="70000" bIns="40000" anchor="t"/>
          <a:lstStyle/>
          <a:p>
            <a:pPr algn="l">
              <a:spcAft>
                <a:spcPts val="700"/>
              </a:spcAft>
              <a:buNone/>
            </a:pPr>
            <a:r>
              <a:rPr lang="en-US" sz="1000" b="0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In: same history + state</a:t>
            </a:r>
          </a:p>
          <a:p>
            <a:pPr algn="l">
              <a:spcAft>
                <a:spcPts val="700"/>
              </a:spcAft>
              <a:buNone/>
            </a:pPr>
            <a:r>
              <a:rPr lang="en-US" sz="1000" b="0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Out: next gradient, Vmax, EOA, DVI, AR</a:t>
            </a:r>
          </a:p>
          <a:p>
            <a:pPr algn="l">
              <a:spcAft>
                <a:spcPts val="700"/>
              </a:spcAft>
              <a:buNone/>
            </a:pPr>
            <a:r>
              <a:rPr lang="en-US" sz="1000" b="0" i="0">
                <a:solidFill>
                  <a:srgbClr val="CBB6E4"/>
                </a:solidFill>
                <a:latin typeface="Montserrat"/>
                <a:ea typeface="Montserrat"/>
                <a:cs typeface="Montserrat"/>
                <a:sym typeface="Montserrat"/>
              </a:rPr>
              <a:t>Second GRU, two heads</a:t>
            </a:r>
          </a:p>
          <a:p>
            <a:pPr algn="l">
              <a:spcAft>
                <a:spcPts val="700"/>
              </a:spcAft>
              <a:buNone/>
            </a:pPr>
            <a:r>
              <a:rPr lang="en-US" sz="1000" b="0" i="0">
                <a:solidFill>
                  <a:srgbClr val="CBB6E4"/>
                </a:solidFill>
                <a:latin typeface="Montserrat"/>
                <a:ea typeface="Montserrat"/>
                <a:cs typeface="Montserrat"/>
                <a:sym typeface="Montserrat"/>
              </a:rPr>
              <a:t>Progression only after Stage 2/3</a:t>
            </a:r>
          </a:p>
          <a:p>
            <a:pPr algn="l">
              <a:spcAft>
                <a:spcPts val="700"/>
              </a:spcAft>
              <a:buNone/>
            </a:pPr>
            <a:r>
              <a:rPr lang="en-US" sz="1000" b="0" i="0">
                <a:solidFill>
                  <a:srgbClr val="CBB6E4"/>
                </a:solidFill>
                <a:latin typeface="Montserrat"/>
                <a:ea typeface="Montserrat"/>
                <a:cs typeface="Montserrat"/>
                <a:sym typeface="Montserrat"/>
              </a:rPr>
              <a:t>LVEF untrained — withheld</a:t>
            </a:r>
          </a:p>
        </p:txBody>
      </p:sp>
      <p:sp>
        <p:nvSpPr>
          <p:cNvPr id="3148" name="Rounded Rectangle 3147"/>
          <p:cNvSpPr/>
          <p:nvPr/>
        </p:nvSpPr>
        <p:spPr>
          <a:xfrm>
            <a:off x="5491884" y="1188720"/>
            <a:ext cx="1711756" cy="3675887"/>
          </a:xfrm>
          <a:prstGeom prst="roundRect">
            <a:avLst>
              <a:gd name="adj" fmla="val 6000"/>
            </a:avLst>
          </a:prstGeom>
          <a:solidFill>
            <a:srgbClr val="331F4A"/>
          </a:solidFill>
          <a:ln w="15875">
            <a:solidFill>
              <a:srgbClr val="76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49" name="Rectangle 3148"/>
          <p:cNvSpPr/>
          <p:nvPr/>
        </p:nvSpPr>
        <p:spPr>
          <a:xfrm>
            <a:off x="5491884" y="1188720"/>
            <a:ext cx="1711756" cy="73152"/>
          </a:xfrm>
          <a:prstGeom prst="rect">
            <a:avLst/>
          </a:prstGeom>
          <a:solidFill>
            <a:srgbClr val="76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0" name="TextBox 3149"/>
          <p:cNvSpPr txBox="1"/>
          <p:nvPr/>
        </p:nvSpPr>
        <p:spPr>
          <a:xfrm>
            <a:off x="5546748" y="1335024"/>
            <a:ext cx="1620316" cy="822960"/>
          </a:xfrm>
          <a:prstGeom prst="rect">
            <a:avLst/>
          </a:prstGeom>
          <a:noFill/>
        </p:spPr>
        <p:txBody>
          <a:bodyPr wrap="square" lIns="70000" tIns="40000" rIns="70000" bIns="40000" anchor="t"/>
          <a:lstStyle/>
          <a:p>
            <a:pPr algn="ctr">
              <a:spcAft>
                <a:spcPts val="200"/>
              </a:spcAft>
              <a:buNone/>
            </a:pPr>
            <a:r>
              <a:rPr lang="en-US" sz="1000" b="1" i="0">
                <a:solidFill>
                  <a:srgbClr val="76F3FB"/>
                </a:solidFill>
                <a:latin typeface="Bebas Neue"/>
                <a:ea typeface="Bebas Neue"/>
                <a:cs typeface="Bebas Neue"/>
                <a:sym typeface="Bebas Neue"/>
              </a:rPr>
              <a:t>TIER 4</a:t>
            </a:r>
          </a:p>
          <a:p>
            <a:pPr algn="ctr">
              <a:spcAft>
                <a:spcPts val="0"/>
              </a:spcAft>
              <a:buNone/>
            </a:pPr>
            <a:r>
              <a:rPr lang="en-US" sz="1200" b="1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Calibrate &amp; safety</a:t>
            </a:r>
          </a:p>
        </p:txBody>
      </p:sp>
      <p:sp>
        <p:nvSpPr>
          <p:cNvPr id="3151" name="Rectangle 3150"/>
          <p:cNvSpPr/>
          <p:nvPr/>
        </p:nvSpPr>
        <p:spPr>
          <a:xfrm>
            <a:off x="5747916" y="2176272"/>
            <a:ext cx="1199692" cy="13716"/>
          </a:xfrm>
          <a:prstGeom prst="rect">
            <a:avLst/>
          </a:prstGeom>
          <a:solidFill>
            <a:srgbClr val="76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2" name="TextBox 3151"/>
          <p:cNvSpPr txBox="1"/>
          <p:nvPr/>
        </p:nvSpPr>
        <p:spPr>
          <a:xfrm>
            <a:off x="5565036" y="2267712"/>
            <a:ext cx="1583740" cy="2606040"/>
          </a:xfrm>
          <a:prstGeom prst="rect">
            <a:avLst/>
          </a:prstGeom>
          <a:noFill/>
        </p:spPr>
        <p:txBody>
          <a:bodyPr wrap="square" lIns="70000" tIns="40000" rIns="70000" bIns="40000" anchor="t"/>
          <a:lstStyle/>
          <a:p>
            <a:pPr algn="l">
              <a:spcAft>
                <a:spcPts val="700"/>
              </a:spcAft>
              <a:buNone/>
            </a:pPr>
            <a:r>
              <a:rPr lang="en-US" sz="1000" b="0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In: raw CIF + missingness / OOD</a:t>
            </a:r>
          </a:p>
          <a:p>
            <a:pPr algn="l">
              <a:spcAft>
                <a:spcPts val="700"/>
              </a:spcAft>
              <a:buNone/>
            </a:pPr>
            <a:r>
              <a:rPr lang="en-US" sz="1000" b="0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Out: calibrated risk or abstain</a:t>
            </a:r>
          </a:p>
          <a:p>
            <a:pPr algn="l">
              <a:spcAft>
                <a:spcPts val="700"/>
              </a:spcAft>
              <a:buNone/>
            </a:pPr>
            <a:r>
              <a:rPr lang="en-US" sz="1000" b="0" i="0">
                <a:solidFill>
                  <a:srgbClr val="CBB6E4"/>
                </a:solidFill>
                <a:latin typeface="Montserrat"/>
                <a:ea typeface="Montserrat"/>
                <a:cs typeface="Montserrat"/>
                <a:sym typeface="Montserrat"/>
              </a:rPr>
              <a:t>PAVA isotonic maps, no extra net</a:t>
            </a:r>
          </a:p>
          <a:p>
            <a:pPr algn="l">
              <a:spcAft>
                <a:spcPts val="700"/>
              </a:spcAft>
              <a:buNone/>
            </a:pPr>
            <a:r>
              <a:rPr lang="en-US" sz="1000" b="0" i="0">
                <a:solidFill>
                  <a:srgbClr val="CBB6E4"/>
                </a:solidFill>
                <a:latin typeface="Montserrat"/>
                <a:ea typeface="Montserrat"/>
                <a:cs typeface="Montserrat"/>
                <a:sym typeface="Montserrat"/>
              </a:rPr>
              <a:t>Broken input → refuse to speak</a:t>
            </a:r>
          </a:p>
          <a:p>
            <a:pPr algn="l">
              <a:spcAft>
                <a:spcPts val="700"/>
              </a:spcAft>
              <a:buNone/>
            </a:pPr>
            <a:r>
              <a:rPr lang="en-US" sz="1000" b="0" i="0">
                <a:solidFill>
                  <a:srgbClr val="CBB6E4"/>
                </a:solidFill>
                <a:latin typeface="Montserrat"/>
                <a:ea typeface="Montserrat"/>
                <a:cs typeface="Montserrat"/>
                <a:sym typeface="Montserrat"/>
              </a:rPr>
              <a:t>Abstain is never shown as low risk</a:t>
            </a:r>
          </a:p>
        </p:txBody>
      </p:sp>
      <p:sp>
        <p:nvSpPr>
          <p:cNvPr id="3153" name="Rounded Rectangle 3152"/>
          <p:cNvSpPr/>
          <p:nvPr/>
        </p:nvSpPr>
        <p:spPr>
          <a:xfrm>
            <a:off x="7267648" y="1188720"/>
            <a:ext cx="1711756" cy="3675887"/>
          </a:xfrm>
          <a:prstGeom prst="roundRect">
            <a:avLst>
              <a:gd name="adj" fmla="val 6000"/>
            </a:avLst>
          </a:prstGeom>
          <a:solidFill>
            <a:srgbClr val="331F4A"/>
          </a:solidFill>
          <a:ln w="15875">
            <a:solidFill>
              <a:srgbClr val="AE7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4" name="Rectangle 3153"/>
          <p:cNvSpPr/>
          <p:nvPr/>
        </p:nvSpPr>
        <p:spPr>
          <a:xfrm>
            <a:off x="7267648" y="1188720"/>
            <a:ext cx="1711756" cy="73152"/>
          </a:xfrm>
          <a:prstGeom prst="rect">
            <a:avLst/>
          </a:prstGeom>
          <a:solidFill>
            <a:srgbClr val="AE7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5" name="TextBox 3154"/>
          <p:cNvSpPr txBox="1"/>
          <p:nvPr/>
        </p:nvSpPr>
        <p:spPr>
          <a:xfrm>
            <a:off x="7322512" y="1335024"/>
            <a:ext cx="1620316" cy="822960"/>
          </a:xfrm>
          <a:prstGeom prst="rect">
            <a:avLst/>
          </a:prstGeom>
          <a:noFill/>
        </p:spPr>
        <p:txBody>
          <a:bodyPr wrap="square" lIns="70000" tIns="40000" rIns="70000" bIns="40000" anchor="t"/>
          <a:lstStyle/>
          <a:p>
            <a:pPr algn="ctr">
              <a:spcAft>
                <a:spcPts val="200"/>
              </a:spcAft>
              <a:buNone/>
            </a:pPr>
            <a:r>
              <a:rPr lang="en-US" sz="1000" b="1" i="0">
                <a:solidFill>
                  <a:srgbClr val="AE77D6"/>
                </a:solidFill>
                <a:latin typeface="Bebas Neue"/>
                <a:ea typeface="Bebas Neue"/>
                <a:cs typeface="Bebas Neue"/>
                <a:sym typeface="Bebas Neue"/>
              </a:rPr>
              <a:t>TIER 5</a:t>
            </a:r>
          </a:p>
          <a:p>
            <a:pPr algn="ctr">
              <a:spcAft>
                <a:spcPts val="0"/>
              </a:spcAft>
              <a:buNone/>
            </a:pPr>
            <a:r>
              <a:rPr lang="en-US" sz="1200" b="1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Surveillance policy</a:t>
            </a:r>
          </a:p>
        </p:txBody>
      </p:sp>
      <p:sp>
        <p:nvSpPr>
          <p:cNvPr id="3156" name="Rectangle 3155"/>
          <p:cNvSpPr/>
          <p:nvPr/>
        </p:nvSpPr>
        <p:spPr>
          <a:xfrm>
            <a:off x="7523680" y="2176272"/>
            <a:ext cx="1199692" cy="13716"/>
          </a:xfrm>
          <a:prstGeom prst="rect">
            <a:avLst/>
          </a:prstGeom>
          <a:solidFill>
            <a:srgbClr val="AE7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7" name="TextBox 3156"/>
          <p:cNvSpPr txBox="1"/>
          <p:nvPr/>
        </p:nvSpPr>
        <p:spPr>
          <a:xfrm>
            <a:off x="7340800" y="2267712"/>
            <a:ext cx="1583740" cy="2606040"/>
          </a:xfrm>
          <a:prstGeom prst="rect">
            <a:avLst/>
          </a:prstGeom>
          <a:noFill/>
        </p:spPr>
        <p:txBody>
          <a:bodyPr wrap="square" lIns="70000" tIns="40000" rIns="70000" bIns="40000" anchor="t"/>
          <a:lstStyle/>
          <a:p>
            <a:pPr algn="l">
              <a:spcAft>
                <a:spcPts val="700"/>
              </a:spcAft>
              <a:buNone/>
            </a:pPr>
            <a:r>
              <a:rPr lang="en-US" sz="10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In: stage + 1-y risk + safety</a:t>
            </a:r>
          </a:p>
          <a:p>
            <a:pPr algn="l">
              <a:spcAft>
                <a:spcPts val="700"/>
              </a:spcAft>
              <a:buNone/>
            </a:pPr>
            <a:r>
              <a:rPr lang="en-US" sz="10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Out: review now / 3 / 6 / standard</a:t>
            </a:r>
            <a:endParaRPr lang="en-US" sz="1000" b="0" i="0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  <a:p>
            <a:pPr algn="l">
              <a:spcAft>
                <a:spcPts val="700"/>
              </a:spcAft>
              <a:buNone/>
            </a:pPr>
            <a:r>
              <a:rPr lang="en-US" sz="1000" b="0" i="0" dirty="0">
                <a:solidFill>
                  <a:srgbClr val="CBB6E4"/>
                </a:solidFill>
                <a:latin typeface="Montserrat"/>
                <a:ea typeface="Montserrat"/>
                <a:cs typeface="Montserrat"/>
                <a:sym typeface="Montserrat"/>
              </a:rPr>
              <a:t>Clinician-owned step function</a:t>
            </a:r>
            <a:endParaRPr lang="en-US" sz="1000" b="0" i="0" dirty="0">
              <a:solidFill>
                <a:srgbClr val="CBB6E4"/>
              </a:solidFill>
              <a:latin typeface="Montserrat"/>
              <a:ea typeface="Montserrat"/>
              <a:cs typeface="Montserrat"/>
            </a:endParaRPr>
          </a:p>
          <a:p>
            <a:pPr algn="l">
              <a:spcAft>
                <a:spcPts val="700"/>
              </a:spcAft>
              <a:buNone/>
            </a:pPr>
            <a:r>
              <a:rPr lang="en-US" sz="1000" b="0" i="0" dirty="0">
                <a:solidFill>
                  <a:srgbClr val="CBB6E4"/>
                </a:solidFill>
                <a:latin typeface="Montserrat"/>
                <a:ea typeface="Montserrat"/>
                <a:cs typeface="Montserrat"/>
                <a:sym typeface="Montserrat"/>
              </a:rPr>
              <a:t>Draft policy → always </a:t>
            </a:r>
            <a:r>
              <a:rPr lang="en-US" sz="1000" b="0" i="0" dirty="0" err="1">
                <a:solidFill>
                  <a:srgbClr val="CBB6E4"/>
                </a:solidFill>
                <a:latin typeface="Montserrat"/>
                <a:ea typeface="Montserrat"/>
                <a:cs typeface="Montserrat"/>
                <a:sym typeface="Montserrat"/>
              </a:rPr>
              <a:t>review_now</a:t>
            </a:r>
            <a:endParaRPr lang="en-US" sz="1000" b="0" i="0" dirty="0">
              <a:solidFill>
                <a:srgbClr val="CBB6E4"/>
              </a:solidFill>
              <a:latin typeface="Montserrat"/>
              <a:ea typeface="Montserrat"/>
              <a:cs typeface="Montserrat"/>
            </a:endParaRPr>
          </a:p>
          <a:p>
            <a:pPr>
              <a:spcAft>
                <a:spcPts val="700"/>
              </a:spcAft>
            </a:pPr>
            <a:r>
              <a:rPr lang="en-US" sz="1000" b="0" i="0" dirty="0">
                <a:solidFill>
                  <a:srgbClr val="CBB6E4"/>
                </a:solidFill>
                <a:latin typeface="Montserrat"/>
                <a:ea typeface="Montserrat"/>
                <a:cs typeface="Montserrat"/>
                <a:sym typeface="Montserrat"/>
              </a:rPr>
              <a:t>Never chooses what to implant</a:t>
            </a:r>
            <a:r>
              <a:rPr lang="en-US" sz="1000" dirty="0">
                <a:solidFill>
                  <a:srgbClr val="CBB6E4"/>
                </a:solidFill>
                <a:latin typeface="Montserrat"/>
                <a:ea typeface="Montserrat"/>
                <a:cs typeface="Montserrat"/>
                <a:sym typeface="Montserrat"/>
              </a:rPr>
              <a:t>, provides tools for the </a:t>
            </a:r>
            <a:r>
              <a:rPr lang="en-US" sz="1000" dirty="0" err="1">
                <a:solidFill>
                  <a:srgbClr val="CBB6E4"/>
                </a:solidFill>
                <a:latin typeface="Montserrat"/>
                <a:ea typeface="Montserrat"/>
                <a:cs typeface="Montserrat"/>
                <a:sym typeface="Montserrat"/>
              </a:rPr>
              <a:t>medTeam</a:t>
            </a:r>
            <a:endParaRPr lang="en-US" sz="1000" b="0" i="0" dirty="0" err="1">
              <a:solidFill>
                <a:srgbClr val="CBB6E4"/>
              </a:solidFill>
              <a:latin typeface="Montserrat"/>
              <a:ea typeface="Montserrat"/>
              <a:cs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020753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3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5" name="Google Shape;3155;p70"/>
          <p:cNvSpPr txBox="1">
            <a:spLocks noGrp="1"/>
          </p:cNvSpPr>
          <p:nvPr>
            <p:ph type="title"/>
          </p:nvPr>
        </p:nvSpPr>
        <p:spPr>
          <a:xfrm>
            <a:off x="716775" y="510900"/>
            <a:ext cx="7710600" cy="48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/>
          <a:p>
            <a:pPr algn="l">
              <a:spcAft>
                <a:spcPts val="0"/>
              </a:spcAft>
              <a:buNone/>
            </a:pPr>
            <a:r>
              <a:rPr lang="en-US" sz="2600" b="1" i="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What we trained on</a:t>
            </a:r>
            <a:endParaRPr lang="en" dirty="0" err="1">
              <a:solidFill>
                <a:srgbClr val="000000"/>
              </a:solidFill>
            </a:endParaRPr>
          </a:p>
        </p:txBody>
      </p:sp>
      <p:sp>
        <p:nvSpPr>
          <p:cNvPr id="3156" name="TextBox 3155"/>
          <p:cNvSpPr txBox="1"/>
          <p:nvPr/>
        </p:nvSpPr>
        <p:spPr>
          <a:xfrm>
            <a:off x="658368" y="1024128"/>
            <a:ext cx="7863840" cy="329184"/>
          </a:xfrm>
          <a:prstGeom prst="rect">
            <a:avLst/>
          </a:prstGeom>
          <a:noFill/>
        </p:spPr>
        <p:txBody>
          <a:bodyPr wrap="square" lIns="70000" tIns="40000" rIns="70000" bIns="40000" anchor="t"/>
          <a:lstStyle/>
          <a:p>
            <a:pPr algn="l">
              <a:spcAft>
                <a:spcPts val="0"/>
              </a:spcAft>
              <a:buNone/>
            </a:pPr>
            <a:r>
              <a:rPr lang="en-US" sz="1300" b="0" i="0">
                <a:solidFill>
                  <a:srgbClr val="CBB6E4"/>
                </a:solidFill>
                <a:latin typeface="Montserrat"/>
                <a:ea typeface="Montserrat"/>
                <a:cs typeface="Montserrat"/>
                <a:sym typeface="Montserrat"/>
              </a:rPr>
              <a:t>Hackathon proof of concept  vs  the protocol study the engine is written for.</a:t>
            </a:r>
          </a:p>
        </p:txBody>
      </p:sp>
      <p:sp>
        <p:nvSpPr>
          <p:cNvPr id="3157" name="Rounded Rectangle 3156"/>
          <p:cNvSpPr/>
          <p:nvPr/>
        </p:nvSpPr>
        <p:spPr>
          <a:xfrm>
            <a:off x="502920" y="1481328"/>
            <a:ext cx="3977639" cy="3063240"/>
          </a:xfrm>
          <a:prstGeom prst="roundRect">
            <a:avLst>
              <a:gd name="adj" fmla="val 8000"/>
            </a:avLst>
          </a:prstGeom>
          <a:solidFill>
            <a:srgbClr val="331F4A"/>
          </a:solidFill>
          <a:ln w="13970">
            <a:solidFill>
              <a:srgbClr val="76F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8" name="Rounded Rectangle 3157"/>
          <p:cNvSpPr/>
          <p:nvPr/>
        </p:nvSpPr>
        <p:spPr>
          <a:xfrm>
            <a:off x="4663440" y="1481328"/>
            <a:ext cx="3977639" cy="3063240"/>
          </a:xfrm>
          <a:prstGeom prst="roundRect">
            <a:avLst>
              <a:gd name="adj" fmla="val 8000"/>
            </a:avLst>
          </a:prstGeom>
          <a:solidFill>
            <a:srgbClr val="331F4A"/>
          </a:solidFill>
          <a:ln w="13970">
            <a:solidFill>
              <a:srgbClr val="AE7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9" name="TextBox 3158"/>
          <p:cNvSpPr txBox="1"/>
          <p:nvPr/>
        </p:nvSpPr>
        <p:spPr>
          <a:xfrm>
            <a:off x="640080" y="1627632"/>
            <a:ext cx="3703320" cy="2788920"/>
          </a:xfrm>
          <a:prstGeom prst="rect">
            <a:avLst/>
          </a:prstGeom>
          <a:noFill/>
        </p:spPr>
        <p:txBody>
          <a:bodyPr wrap="square" lIns="70000" tIns="40000" rIns="70000" bIns="40000" anchor="t"/>
          <a:lstStyle/>
          <a:p>
            <a:pPr algn="l">
              <a:spcAft>
                <a:spcPts val="1000"/>
              </a:spcAft>
              <a:buNone/>
            </a:pPr>
            <a:r>
              <a:rPr lang="en-US" sz="1600" b="1" i="0" dirty="0">
                <a:solidFill>
                  <a:srgbClr val="76F3FB"/>
                </a:solidFill>
                <a:latin typeface="Bebas Neue"/>
                <a:ea typeface="Bebas Neue"/>
                <a:cs typeface="Bebas Neue"/>
                <a:sym typeface="Bebas Neue"/>
              </a:rPr>
              <a:t>This laptop demo</a:t>
            </a:r>
          </a:p>
          <a:p>
            <a:pPr algn="l">
              <a:spcAft>
                <a:spcPts val="80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Expanded synthetic notes — 1,500 linked patients, serial TTEs, 30–90-day reference.</a:t>
            </a:r>
            <a:endParaRPr lang="en-US" sz="1200" b="0" i="0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  <a:p>
            <a:pPr algn="l">
              <a:spcAft>
                <a:spcPts val="80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De-identified real notes are inventoried and hashed, not used as labels (year-only dates).</a:t>
            </a:r>
            <a:endParaRPr lang="en-US" sz="1200" b="0" i="0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  <a:p>
            <a:pPr>
              <a:spcAft>
                <a:spcPts val="800"/>
              </a:spcAft>
            </a:pPr>
            <a:endParaRPr lang="en-US" sz="1200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3160" name="TextBox 3159"/>
          <p:cNvSpPr txBox="1"/>
          <p:nvPr/>
        </p:nvSpPr>
        <p:spPr>
          <a:xfrm>
            <a:off x="4800600" y="1627632"/>
            <a:ext cx="3703320" cy="2788920"/>
          </a:xfrm>
          <a:prstGeom prst="rect">
            <a:avLst/>
          </a:prstGeom>
          <a:noFill/>
        </p:spPr>
        <p:txBody>
          <a:bodyPr wrap="square" lIns="70000" tIns="40000" rIns="70000" bIns="40000" anchor="t"/>
          <a:lstStyle/>
          <a:p>
            <a:pPr algn="l">
              <a:spcAft>
                <a:spcPts val="1000"/>
              </a:spcAft>
              <a:buNone/>
            </a:pPr>
            <a:r>
              <a:rPr lang="en-US" sz="1600" b="1" i="0" dirty="0">
                <a:solidFill>
                  <a:srgbClr val="AE77D6"/>
                </a:solidFill>
                <a:latin typeface="Bebas Neue"/>
                <a:ea typeface="Bebas Neue"/>
                <a:cs typeface="Bebas Neue"/>
                <a:sym typeface="Bebas Neue"/>
              </a:rPr>
              <a:t>Real-world deployment</a:t>
            </a:r>
          </a:p>
          <a:p>
            <a:pPr algn="l">
              <a:spcAft>
                <a:spcPts val="80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2,500–3,000 patients · 10,000–15,000 patient-years · ≥150–200 adjudicated SVD-HVD events.</a:t>
            </a:r>
            <a:endParaRPr lang="en-US" sz="1200" b="0" i="0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  <a:p>
            <a:pPr algn="l">
              <a:spcAft>
                <a:spcPts val="80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Multi-center registry, blinded committee, including a sample of algorithm-negative records.</a:t>
            </a:r>
            <a:endParaRPr lang="en-US" sz="1200" b="0" i="0" dirty="0">
              <a:solidFill>
                <a:srgbClr val="CBB6E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3129">
          <a:extLst>
            <a:ext uri="{FF2B5EF4-FFF2-40B4-BE49-F238E27FC236}">
              <a16:creationId xmlns:a16="http://schemas.microsoft.com/office/drawing/2014/main" id="{0DBAA3EE-97D3-AAD1-96C5-61E3299E2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1" name="Google Shape;3131;p68">
            <a:extLst>
              <a:ext uri="{FF2B5EF4-FFF2-40B4-BE49-F238E27FC236}">
                <a16:creationId xmlns:a16="http://schemas.microsoft.com/office/drawing/2014/main" id="{489700DE-15D9-8E2D-C6D2-246ECD8DB2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6775" y="384048"/>
            <a:ext cx="7710600" cy="48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/>
          <a:p>
            <a:pPr algn="l">
              <a:spcAft>
                <a:spcPts val="0"/>
              </a:spcAft>
              <a:buNone/>
            </a:pPr>
            <a:r>
              <a:rPr lang="en-US" sz="2600" b="1" i="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How the demo runs</a:t>
            </a:r>
            <a:endParaRPr lang="en-US" dirty="0"/>
          </a:p>
        </p:txBody>
      </p:sp>
      <p:sp>
        <p:nvSpPr>
          <p:cNvPr id="3132" name="Rounded Rectangle 3131"/>
          <p:cNvSpPr/>
          <p:nvPr/>
        </p:nvSpPr>
        <p:spPr>
          <a:xfrm>
            <a:off x="640080" y="1143000"/>
            <a:ext cx="7863840" cy="749808"/>
          </a:xfrm>
          <a:prstGeom prst="roundRect">
            <a:avLst>
              <a:gd name="adj" fmla="val 10000"/>
            </a:avLst>
          </a:prstGeom>
          <a:solidFill>
            <a:srgbClr val="331F4A"/>
          </a:solidFill>
          <a:ln w="7620">
            <a:solidFill>
              <a:srgbClr val="6E3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3" name="Rectangle 3132"/>
          <p:cNvSpPr/>
          <p:nvPr/>
        </p:nvSpPr>
        <p:spPr>
          <a:xfrm>
            <a:off x="640080" y="1143000"/>
            <a:ext cx="82296" cy="749808"/>
          </a:xfrm>
          <a:prstGeom prst="rect">
            <a:avLst/>
          </a:prstGeom>
          <a:solidFill>
            <a:srgbClr val="76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4" name="TextBox 3133"/>
          <p:cNvSpPr txBox="1"/>
          <p:nvPr/>
        </p:nvSpPr>
        <p:spPr>
          <a:xfrm>
            <a:off x="841248" y="1216152"/>
            <a:ext cx="7534656" cy="640080"/>
          </a:xfrm>
          <a:prstGeom prst="rect">
            <a:avLst/>
          </a:prstGeom>
          <a:noFill/>
        </p:spPr>
        <p:txBody>
          <a:bodyPr wrap="square" lIns="70000" tIns="40000" rIns="70000" bIns="40000" anchor="t"/>
          <a:lstStyle/>
          <a:p>
            <a:pPr algn="l">
              <a:spcAft>
                <a:spcPts val="200"/>
              </a:spcAft>
              <a:buNone/>
            </a:pPr>
            <a:r>
              <a:rPr lang="en-US" sz="1400" b="1" i="0">
                <a:solidFill>
                  <a:srgbClr val="76F3FB"/>
                </a:solidFill>
                <a:latin typeface="Bebas Neue"/>
                <a:ea typeface="Bebas Neue"/>
                <a:cs typeface="Bebas Neue"/>
                <a:sym typeface="Bebas Neue"/>
              </a:rPr>
              <a:t>Thin client</a:t>
            </a:r>
          </a:p>
          <a:p>
            <a:pPr algn="l">
              <a:spcAft>
                <a:spcPts val="0"/>
              </a:spcAft>
              <a:buNone/>
            </a:pPr>
            <a:r>
              <a:rPr lang="en-US" sz="1300" b="0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Static HTML/JS. No Node, no PyTorch in the browser, no checkpoints on disk in the UI.</a:t>
            </a:r>
          </a:p>
        </p:txBody>
      </p:sp>
      <p:sp>
        <p:nvSpPr>
          <p:cNvPr id="3135" name="Rounded Rectangle 3134"/>
          <p:cNvSpPr/>
          <p:nvPr/>
        </p:nvSpPr>
        <p:spPr>
          <a:xfrm>
            <a:off x="640080" y="1984248"/>
            <a:ext cx="7863840" cy="749808"/>
          </a:xfrm>
          <a:prstGeom prst="roundRect">
            <a:avLst>
              <a:gd name="adj" fmla="val 10000"/>
            </a:avLst>
          </a:prstGeom>
          <a:solidFill>
            <a:srgbClr val="3D2460"/>
          </a:solidFill>
          <a:ln w="7620">
            <a:solidFill>
              <a:srgbClr val="6E3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6" name="Rectangle 3135"/>
          <p:cNvSpPr/>
          <p:nvPr/>
        </p:nvSpPr>
        <p:spPr>
          <a:xfrm>
            <a:off x="640080" y="1984248"/>
            <a:ext cx="82296" cy="749808"/>
          </a:xfrm>
          <a:prstGeom prst="rect">
            <a:avLst/>
          </a:prstGeom>
          <a:solidFill>
            <a:srgbClr val="AE7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7" name="TextBox 3136"/>
          <p:cNvSpPr txBox="1"/>
          <p:nvPr/>
        </p:nvSpPr>
        <p:spPr>
          <a:xfrm>
            <a:off x="841248" y="2057400"/>
            <a:ext cx="7534656" cy="640080"/>
          </a:xfrm>
          <a:prstGeom prst="rect">
            <a:avLst/>
          </a:prstGeom>
          <a:noFill/>
        </p:spPr>
        <p:txBody>
          <a:bodyPr wrap="square" lIns="70000" tIns="40000" rIns="70000" bIns="40000" anchor="t"/>
          <a:lstStyle/>
          <a:p>
            <a:pPr algn="l">
              <a:spcAft>
                <a:spcPts val="200"/>
              </a:spcAft>
              <a:buNone/>
            </a:pPr>
            <a:r>
              <a:rPr lang="en-US" sz="1400" b="1" i="0">
                <a:solidFill>
                  <a:srgbClr val="76F3FB"/>
                </a:solidFill>
                <a:latin typeface="Bebas Neue"/>
                <a:ea typeface="Bebas Neue"/>
                <a:cs typeface="Bebas Neue"/>
                <a:sym typeface="Bebas Neue"/>
              </a:rPr>
              <a:t>Loopback API</a:t>
            </a:r>
          </a:p>
          <a:p>
            <a:pPr algn="l">
              <a:spcAft>
                <a:spcPts val="0"/>
              </a:spcAft>
              <a:buNone/>
            </a:pPr>
            <a:r>
              <a:rPr lang="en-US" sz="1300" b="0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FastAPI on 127.0.0.1:8000. POST /v1/inference is the only runtime boundary.</a:t>
            </a:r>
          </a:p>
        </p:txBody>
      </p:sp>
      <p:sp>
        <p:nvSpPr>
          <p:cNvPr id="3138" name="Rounded Rectangle 3137"/>
          <p:cNvSpPr/>
          <p:nvPr/>
        </p:nvSpPr>
        <p:spPr>
          <a:xfrm>
            <a:off x="640080" y="2825496"/>
            <a:ext cx="7863840" cy="749808"/>
          </a:xfrm>
          <a:prstGeom prst="roundRect">
            <a:avLst>
              <a:gd name="adj" fmla="val 10000"/>
            </a:avLst>
          </a:prstGeom>
          <a:solidFill>
            <a:srgbClr val="331F4A"/>
          </a:solidFill>
          <a:ln w="7620">
            <a:solidFill>
              <a:srgbClr val="6E3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9" name="Rectangle 3138"/>
          <p:cNvSpPr/>
          <p:nvPr/>
        </p:nvSpPr>
        <p:spPr>
          <a:xfrm>
            <a:off x="640080" y="2825496"/>
            <a:ext cx="82296" cy="749808"/>
          </a:xfrm>
          <a:prstGeom prst="rect">
            <a:avLst/>
          </a:prstGeom>
          <a:solidFill>
            <a:srgbClr val="76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40" name="TextBox 3139"/>
          <p:cNvSpPr txBox="1"/>
          <p:nvPr/>
        </p:nvSpPr>
        <p:spPr>
          <a:xfrm>
            <a:off x="841248" y="2898648"/>
            <a:ext cx="7534656" cy="640080"/>
          </a:xfrm>
          <a:prstGeom prst="rect">
            <a:avLst/>
          </a:prstGeom>
          <a:noFill/>
        </p:spPr>
        <p:txBody>
          <a:bodyPr wrap="square" lIns="70000" tIns="40000" rIns="70000" bIns="40000" anchor="t"/>
          <a:lstStyle/>
          <a:p>
            <a:pPr algn="l">
              <a:spcAft>
                <a:spcPts val="200"/>
              </a:spcAft>
              <a:buNone/>
            </a:pPr>
            <a:r>
              <a:rPr lang="en-US" sz="1400" b="1" i="0">
                <a:solidFill>
                  <a:srgbClr val="76F3FB"/>
                </a:solidFill>
                <a:latin typeface="Bebas Neue"/>
                <a:ea typeface="Bebas Neue"/>
                <a:cs typeface="Bebas Neue"/>
                <a:sym typeface="Bebas Neue"/>
              </a:rPr>
              <a:t>Hashed artifacts</a:t>
            </a:r>
          </a:p>
          <a:p>
            <a:pPr algn="l">
              <a:spcAft>
                <a:spcPts val="0"/>
              </a:spcAft>
              <a:buNone/>
            </a:pPr>
            <a:r>
              <a:rPr lang="en-US" sz="1300" b="0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Tier 2/3 weights, calibration maps, and policy load only if SHA-256 matches the manifest.</a:t>
            </a:r>
          </a:p>
        </p:txBody>
      </p:sp>
      <p:sp>
        <p:nvSpPr>
          <p:cNvPr id="3141" name="Rounded Rectangle 3140"/>
          <p:cNvSpPr/>
          <p:nvPr/>
        </p:nvSpPr>
        <p:spPr>
          <a:xfrm>
            <a:off x="640080" y="3666744"/>
            <a:ext cx="7863840" cy="749808"/>
          </a:xfrm>
          <a:prstGeom prst="roundRect">
            <a:avLst>
              <a:gd name="adj" fmla="val 10000"/>
            </a:avLst>
          </a:prstGeom>
          <a:solidFill>
            <a:srgbClr val="3D2460"/>
          </a:solidFill>
          <a:ln w="7620">
            <a:solidFill>
              <a:srgbClr val="6E3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42" name="Rectangle 3141"/>
          <p:cNvSpPr/>
          <p:nvPr/>
        </p:nvSpPr>
        <p:spPr>
          <a:xfrm>
            <a:off x="640080" y="3666744"/>
            <a:ext cx="82296" cy="749808"/>
          </a:xfrm>
          <a:prstGeom prst="rect">
            <a:avLst/>
          </a:prstGeom>
          <a:solidFill>
            <a:srgbClr val="AE7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43" name="TextBox 3142"/>
          <p:cNvSpPr txBox="1"/>
          <p:nvPr/>
        </p:nvSpPr>
        <p:spPr>
          <a:xfrm>
            <a:off x="841248" y="3739896"/>
            <a:ext cx="7534656" cy="640080"/>
          </a:xfrm>
          <a:prstGeom prst="rect">
            <a:avLst/>
          </a:prstGeom>
          <a:noFill/>
        </p:spPr>
        <p:txBody>
          <a:bodyPr wrap="square" lIns="70000" tIns="40000" rIns="70000" bIns="40000" anchor="t"/>
          <a:lstStyle/>
          <a:p>
            <a:pPr algn="l">
              <a:spcAft>
                <a:spcPts val="200"/>
              </a:spcAft>
              <a:buNone/>
            </a:pPr>
            <a:r>
              <a:rPr lang="en-US" b="1" dirty="0">
                <a:solidFill>
                  <a:srgbClr val="76F3FB"/>
                </a:solidFill>
                <a:latin typeface="Bebas Neue"/>
                <a:ea typeface="Bebas Neue"/>
                <a:cs typeface="Bebas Neue"/>
              </a:rPr>
              <a:t>caution</a:t>
            </a:r>
            <a:endParaRPr lang="en-US" sz="1400" b="1" i="0" dirty="0">
              <a:solidFill>
                <a:srgbClr val="76F3FB"/>
              </a:solidFill>
              <a:latin typeface="Bebas Neue"/>
              <a:ea typeface="Bebas Neue"/>
              <a:cs typeface="Bebas Neue"/>
            </a:endParaRPr>
          </a:p>
          <a:p>
            <a:pPr algn="l"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Stage 3 or broken input withholds numeric risk. </a:t>
            </a:r>
            <a:endParaRPr lang="en-US" sz="1300" b="0" i="0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3783905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3129">
          <a:extLst>
            <a:ext uri="{FF2B5EF4-FFF2-40B4-BE49-F238E27FC236}">
              <a16:creationId xmlns:a16="http://schemas.microsoft.com/office/drawing/2014/main" id="{40AE889E-D6FA-2CA5-6F08-CA1FE8F11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1" name="Google Shape;3131;p68">
            <a:extLst>
              <a:ext uri="{FF2B5EF4-FFF2-40B4-BE49-F238E27FC236}">
                <a16:creationId xmlns:a16="http://schemas.microsoft.com/office/drawing/2014/main" id="{A9C664DC-3611-2047-9F29-20EE19DF07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6775" y="384048"/>
            <a:ext cx="7710600" cy="48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/>
          <a:p>
            <a:pPr algn="l">
              <a:spcAft>
                <a:spcPts val="0"/>
              </a:spcAft>
              <a:buNone/>
            </a:pPr>
            <a:r>
              <a:rPr lang="en-US" sz="2600" b="1" i="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Security for this demo</a:t>
            </a:r>
            <a:endParaRPr lang="en-US" dirty="0"/>
          </a:p>
        </p:txBody>
      </p:sp>
      <p:sp>
        <p:nvSpPr>
          <p:cNvPr id="3132" name="Rounded Rectangle 3131"/>
          <p:cNvSpPr/>
          <p:nvPr/>
        </p:nvSpPr>
        <p:spPr>
          <a:xfrm>
            <a:off x="502920" y="1170432"/>
            <a:ext cx="3977639" cy="1572768"/>
          </a:xfrm>
          <a:prstGeom prst="roundRect">
            <a:avLst>
              <a:gd name="adj" fmla="val 10000"/>
            </a:avLst>
          </a:prstGeom>
          <a:solidFill>
            <a:srgbClr val="331F4A"/>
          </a:solidFill>
          <a:ln w="11430">
            <a:solidFill>
              <a:srgbClr val="AE7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3" name="TextBox 3132"/>
          <p:cNvSpPr txBox="1"/>
          <p:nvPr/>
        </p:nvSpPr>
        <p:spPr>
          <a:xfrm>
            <a:off x="649224" y="1298448"/>
            <a:ext cx="3721607" cy="1371600"/>
          </a:xfrm>
          <a:prstGeom prst="rect">
            <a:avLst/>
          </a:prstGeom>
          <a:noFill/>
        </p:spPr>
        <p:txBody>
          <a:bodyPr wrap="square" lIns="70000" tIns="40000" rIns="70000" bIns="40000" anchor="t"/>
          <a:lstStyle/>
          <a:p>
            <a:pPr algn="l">
              <a:spcAft>
                <a:spcPts val="800"/>
              </a:spcAft>
              <a:buNone/>
            </a:pPr>
            <a:r>
              <a:rPr lang="en-US" sz="1500" b="1" i="0">
                <a:solidFill>
                  <a:srgbClr val="76F3FB"/>
                </a:solidFill>
                <a:latin typeface="Bebas Neue"/>
                <a:ea typeface="Bebas Neue"/>
                <a:cs typeface="Bebas Neue"/>
                <a:sym typeface="Bebas Neue"/>
              </a:rPr>
              <a:t>Loopback only</a:t>
            </a:r>
          </a:p>
          <a:p>
            <a:pPr algn="l">
              <a:spcAft>
                <a:spcPts val="0"/>
              </a:spcAft>
              <a:buNone/>
            </a:pPr>
            <a:r>
              <a:rPr lang="en-US" sz="1300" b="0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demo binds to 127.0.0.1. No public ingress. Stale listeners are killed before start-demo.</a:t>
            </a:r>
          </a:p>
        </p:txBody>
      </p:sp>
      <p:sp>
        <p:nvSpPr>
          <p:cNvPr id="3134" name="Rounded Rectangle 3133"/>
          <p:cNvSpPr/>
          <p:nvPr/>
        </p:nvSpPr>
        <p:spPr>
          <a:xfrm>
            <a:off x="4663440" y="1170432"/>
            <a:ext cx="3977639" cy="1572768"/>
          </a:xfrm>
          <a:prstGeom prst="roundRect">
            <a:avLst>
              <a:gd name="adj" fmla="val 10000"/>
            </a:avLst>
          </a:prstGeom>
          <a:solidFill>
            <a:srgbClr val="331F4A"/>
          </a:solidFill>
          <a:ln w="11430">
            <a:solidFill>
              <a:srgbClr val="AE7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5" name="TextBox 3134"/>
          <p:cNvSpPr txBox="1"/>
          <p:nvPr/>
        </p:nvSpPr>
        <p:spPr>
          <a:xfrm>
            <a:off x="4809744" y="1298448"/>
            <a:ext cx="3721607" cy="1371600"/>
          </a:xfrm>
          <a:prstGeom prst="rect">
            <a:avLst/>
          </a:prstGeom>
          <a:noFill/>
        </p:spPr>
        <p:txBody>
          <a:bodyPr wrap="square" lIns="70000" tIns="40000" rIns="70000" bIns="40000" anchor="t"/>
          <a:lstStyle/>
          <a:p>
            <a:pPr algn="l">
              <a:spcAft>
                <a:spcPts val="800"/>
              </a:spcAft>
              <a:buNone/>
            </a:pPr>
            <a:r>
              <a:rPr lang="en-US" sz="1500" b="1" i="0">
                <a:solidFill>
                  <a:srgbClr val="76F3FB"/>
                </a:solidFill>
                <a:latin typeface="Bebas Neue"/>
                <a:ea typeface="Bebas Neue"/>
                <a:cs typeface="Bebas Neue"/>
                <a:sym typeface="Bebas Neue"/>
              </a:rPr>
              <a:t>If a remote client is needed</a:t>
            </a:r>
          </a:p>
          <a:p>
            <a:pPr algn="l">
              <a:spcAft>
                <a:spcPts val="0"/>
              </a:spcAft>
              <a:buNone/>
            </a:pPr>
            <a:r>
              <a:rPr lang="en-US" sz="1300" b="0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Use a Tailscale overlay. Do not publish the inference API on the open internet.</a:t>
            </a:r>
          </a:p>
        </p:txBody>
      </p:sp>
      <p:sp>
        <p:nvSpPr>
          <p:cNvPr id="3136" name="Rounded Rectangle 3135"/>
          <p:cNvSpPr/>
          <p:nvPr/>
        </p:nvSpPr>
        <p:spPr>
          <a:xfrm>
            <a:off x="502920" y="2907792"/>
            <a:ext cx="3977639" cy="1572768"/>
          </a:xfrm>
          <a:prstGeom prst="roundRect">
            <a:avLst>
              <a:gd name="adj" fmla="val 10000"/>
            </a:avLst>
          </a:prstGeom>
          <a:solidFill>
            <a:srgbClr val="331F4A"/>
          </a:solidFill>
          <a:ln w="11430">
            <a:solidFill>
              <a:srgbClr val="AE7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7" name="TextBox 3136"/>
          <p:cNvSpPr txBox="1"/>
          <p:nvPr/>
        </p:nvSpPr>
        <p:spPr>
          <a:xfrm>
            <a:off x="649224" y="3035808"/>
            <a:ext cx="3721607" cy="1371600"/>
          </a:xfrm>
          <a:prstGeom prst="rect">
            <a:avLst/>
          </a:prstGeom>
          <a:noFill/>
        </p:spPr>
        <p:txBody>
          <a:bodyPr wrap="square" lIns="70000" tIns="40000" rIns="70000" bIns="40000" anchor="t"/>
          <a:lstStyle/>
          <a:p>
            <a:pPr algn="l">
              <a:spcAft>
                <a:spcPts val="800"/>
              </a:spcAft>
              <a:buNone/>
            </a:pPr>
            <a:r>
              <a:rPr lang="en-US" sz="1500" b="1" i="0">
                <a:solidFill>
                  <a:srgbClr val="76F3FB"/>
                </a:solidFill>
                <a:latin typeface="Bebas Neue"/>
                <a:ea typeface="Bebas Neue"/>
                <a:cs typeface="Bebas Neue"/>
                <a:sym typeface="Bebas Neue"/>
              </a:rPr>
              <a:t>Future LLM use</a:t>
            </a:r>
          </a:p>
          <a:p>
            <a:pPr algn="l">
              <a:spcAft>
                <a:spcPts val="0"/>
              </a:spcAft>
              <a:buNone/>
            </a:pPr>
            <a:r>
              <a:rPr lang="en-US" sz="1300" b="0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Keep PHI on a local model, or a contractually safe API. Never paste identifiable notes into a public frontier chat.</a:t>
            </a:r>
          </a:p>
        </p:txBody>
      </p:sp>
      <p:sp>
        <p:nvSpPr>
          <p:cNvPr id="3138" name="Rounded Rectangle 3137"/>
          <p:cNvSpPr/>
          <p:nvPr/>
        </p:nvSpPr>
        <p:spPr>
          <a:xfrm>
            <a:off x="4663440" y="2907792"/>
            <a:ext cx="3977639" cy="1572768"/>
          </a:xfrm>
          <a:prstGeom prst="roundRect">
            <a:avLst>
              <a:gd name="adj" fmla="val 10000"/>
            </a:avLst>
          </a:prstGeom>
          <a:solidFill>
            <a:srgbClr val="331F4A"/>
          </a:solidFill>
          <a:ln w="11430">
            <a:solidFill>
              <a:srgbClr val="AE7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9" name="TextBox 3138"/>
          <p:cNvSpPr txBox="1"/>
          <p:nvPr/>
        </p:nvSpPr>
        <p:spPr>
          <a:xfrm>
            <a:off x="4809744" y="3035808"/>
            <a:ext cx="3721607" cy="1371600"/>
          </a:xfrm>
          <a:prstGeom prst="rect">
            <a:avLst/>
          </a:prstGeom>
          <a:noFill/>
        </p:spPr>
        <p:txBody>
          <a:bodyPr wrap="square" lIns="70000" tIns="40000" rIns="70000" bIns="40000" anchor="t"/>
          <a:lstStyle/>
          <a:p>
            <a:pPr algn="l">
              <a:spcAft>
                <a:spcPts val="800"/>
              </a:spcAft>
              <a:buNone/>
            </a:pPr>
            <a:r>
              <a:rPr lang="en-US" sz="1500" b="1" i="0">
                <a:solidFill>
                  <a:srgbClr val="76F3FB"/>
                </a:solidFill>
                <a:latin typeface="Bebas Neue"/>
                <a:ea typeface="Bebas Neue"/>
                <a:cs typeface="Bebas Neue"/>
                <a:sym typeface="Bebas Neue"/>
              </a:rPr>
              <a:t>Authentication</a:t>
            </a:r>
          </a:p>
          <a:p>
            <a:pPr algn="l">
              <a:spcAft>
                <a:spcPts val="0"/>
              </a:spcAft>
              <a:buNone/>
            </a:pPr>
            <a:r>
              <a:rPr lang="en-US" sz="1300" b="0" i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Today: smoke-test login for the hackathon UI. Any real record requires institutional SSO before data entry.</a:t>
            </a:r>
          </a:p>
        </p:txBody>
      </p:sp>
    </p:spTree>
    <p:extLst>
      <p:ext uri="{BB962C8B-B14F-4D97-AF65-F5344CB8AC3E}">
        <p14:creationId xmlns:p14="http://schemas.microsoft.com/office/powerpoint/2010/main" val="28596419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7" name="Google Shape;1407;p41"/>
          <p:cNvPicPr preferRelativeResize="0"/>
          <p:nvPr/>
        </p:nvPicPr>
        <p:blipFill rotWithShape="1">
          <a:blip r:embed="rId3">
            <a:alphaModFix/>
          </a:blip>
          <a:srcRect l="26807" t="7660" r="25401" b="5391"/>
          <a:stretch/>
        </p:blipFill>
        <p:spPr>
          <a:xfrm>
            <a:off x="7219350" y="2823400"/>
            <a:ext cx="1739952" cy="17806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8" name="Google Shape;1408;p41"/>
          <p:cNvPicPr preferRelativeResize="0"/>
          <p:nvPr/>
        </p:nvPicPr>
        <p:blipFill rotWithShape="1">
          <a:blip r:embed="rId4">
            <a:alphaModFix/>
          </a:blip>
          <a:srcRect l="18647" t="7960" r="8852" b="8337"/>
          <a:stretch/>
        </p:blipFill>
        <p:spPr>
          <a:xfrm rot="-1152297">
            <a:off x="7181325" y="246575"/>
            <a:ext cx="1647827" cy="107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9" name="Google Shape;1409;p41"/>
          <p:cNvPicPr preferRelativeResize="0"/>
          <p:nvPr/>
        </p:nvPicPr>
        <p:blipFill rotWithShape="1">
          <a:blip r:embed="rId5">
            <a:alphaModFix/>
          </a:blip>
          <a:srcRect l="15237" r="10475"/>
          <a:stretch/>
        </p:blipFill>
        <p:spPr>
          <a:xfrm rot="1220421">
            <a:off x="408399" y="3540122"/>
            <a:ext cx="1552575" cy="1390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0" name="Google Shape;1410;p41"/>
          <p:cNvPicPr preferRelativeResize="0"/>
          <p:nvPr/>
        </p:nvPicPr>
        <p:blipFill rotWithShape="1">
          <a:blip r:embed="rId6">
            <a:alphaModFix/>
          </a:blip>
          <a:srcRect l="22010" r="18456"/>
          <a:stretch/>
        </p:blipFill>
        <p:spPr>
          <a:xfrm rot="3321565">
            <a:off x="7376838" y="2871512"/>
            <a:ext cx="652200" cy="6162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11" name="Google Shape;1411;p41"/>
          <p:cNvGrpSpPr/>
          <p:nvPr/>
        </p:nvGrpSpPr>
        <p:grpSpPr>
          <a:xfrm>
            <a:off x="1241825" y="3080475"/>
            <a:ext cx="76825" cy="76800"/>
            <a:chOff x="3104875" y="1099400"/>
            <a:chExt cx="76825" cy="76800"/>
          </a:xfrm>
        </p:grpSpPr>
        <p:sp>
          <p:nvSpPr>
            <p:cNvPr id="1412" name="Google Shape;1412;p4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4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14" name="Google Shape;1414;p41"/>
          <p:cNvGrpSpPr/>
          <p:nvPr/>
        </p:nvGrpSpPr>
        <p:grpSpPr>
          <a:xfrm>
            <a:off x="4870450" y="743250"/>
            <a:ext cx="76825" cy="76800"/>
            <a:chOff x="3104875" y="1099400"/>
            <a:chExt cx="76825" cy="76800"/>
          </a:xfrm>
        </p:grpSpPr>
        <p:sp>
          <p:nvSpPr>
            <p:cNvPr id="1415" name="Google Shape;1415;p4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4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17" name="Google Shape;1417;p41"/>
          <p:cNvGrpSpPr/>
          <p:nvPr/>
        </p:nvGrpSpPr>
        <p:grpSpPr>
          <a:xfrm>
            <a:off x="8200950" y="2377875"/>
            <a:ext cx="76825" cy="76800"/>
            <a:chOff x="3104875" y="1099400"/>
            <a:chExt cx="76825" cy="76800"/>
          </a:xfrm>
        </p:grpSpPr>
        <p:sp>
          <p:nvSpPr>
            <p:cNvPr id="1418" name="Google Shape;1418;p4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41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20" name="Google Shape;1420;p41"/>
          <p:cNvSpPr txBox="1">
            <a:spLocks noGrp="1"/>
          </p:cNvSpPr>
          <p:nvPr>
            <p:ph type="title"/>
          </p:nvPr>
        </p:nvSpPr>
        <p:spPr>
          <a:xfrm>
            <a:off x="943050" y="1307100"/>
            <a:ext cx="72579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/>
          <a:p>
            <a:pPr algn="ctr">
              <a:buNone/>
            </a:pPr>
            <a:r>
              <a:rPr lang="en-US" sz="4400" b="1" i="0" dirty="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Thank you</a:t>
            </a:r>
            <a:endParaRPr lang="en-US" dirty="0"/>
          </a:p>
          <a:p>
            <a:r>
              <a:rPr lang="en-US" sz="1400" b="0" i="1" dirty="0">
                <a:solidFill>
                  <a:srgbClr val="76F3FB"/>
                </a:solidFill>
                <a:latin typeface="Montserrat"/>
                <a:ea typeface="Montserrat"/>
                <a:cs typeface="Montserrat"/>
                <a:sym typeface="Montserrat"/>
              </a:rPr>
              <a:t>PulseAI · </a:t>
            </a:r>
            <a:r>
              <a:rPr lang="en-US" sz="1400" b="0" i="1" dirty="0" err="1">
                <a:solidFill>
                  <a:srgbClr val="76F3FB"/>
                </a:solidFill>
                <a:latin typeface="Montserrat"/>
                <a:ea typeface="Montserrat"/>
                <a:cs typeface="Montserrat"/>
                <a:sym typeface="Montserrat"/>
              </a:rPr>
              <a:t>ValveGuard</a:t>
            </a:r>
            <a:r>
              <a:rPr lang="en-US" sz="1400" b="0" i="1" dirty="0">
                <a:solidFill>
                  <a:srgbClr val="76F3FB"/>
                </a:solidFill>
                <a:latin typeface="Montserrat"/>
                <a:ea typeface="Montserrat"/>
                <a:cs typeface="Montserrat"/>
                <a:sym typeface="Montserrat"/>
              </a:rPr>
              <a:t>  — </a:t>
            </a:r>
            <a:r>
              <a:rPr lang="en-US" sz="1400" i="1" dirty="0">
                <a:solidFill>
                  <a:srgbClr val="76F3FB"/>
                </a:solidFill>
                <a:latin typeface="Montserrat"/>
                <a:ea typeface="Montserrat"/>
                <a:cs typeface="Montserrat"/>
                <a:sym typeface="Montserrat"/>
              </a:rPr>
              <a:t>medical</a:t>
            </a:r>
            <a:r>
              <a:rPr lang="en-US" sz="1400" b="0" i="1" dirty="0">
                <a:solidFill>
                  <a:srgbClr val="76F3FB"/>
                </a:solidFill>
                <a:latin typeface="Montserrat"/>
                <a:ea typeface="Montserrat"/>
                <a:cs typeface="Montserrat"/>
                <a:sym typeface="Montserrat"/>
              </a:rPr>
              <a:t> research </a:t>
            </a:r>
            <a:r>
              <a:rPr lang="en-US" sz="1400" i="1" dirty="0">
                <a:solidFill>
                  <a:srgbClr val="76F3FB"/>
                </a:solidFill>
                <a:latin typeface="Montserrat"/>
                <a:ea typeface="Montserrat"/>
                <a:cs typeface="Montserrat"/>
                <a:sym typeface="Montserrat"/>
              </a:rPr>
              <a:t>to software</a:t>
            </a:r>
            <a:r>
              <a:rPr lang="en-US" sz="1400" b="0" i="1" dirty="0">
                <a:solidFill>
                  <a:srgbClr val="76F3FB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lang="en-US" sz="1400" b="0" i="1" dirty="0">
              <a:solidFill>
                <a:srgbClr val="76F3FB"/>
              </a:solidFill>
              <a:latin typeface="Montserrat"/>
              <a:ea typeface="Montserrat"/>
              <a:cs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tificial Intelligence (AI) Technology Consulting by Slidesgo">
  <a:themeElements>
    <a:clrScheme name="Simple Light">
      <a:dk1>
        <a:srgbClr val="FFFFFF"/>
      </a:dk1>
      <a:lt1>
        <a:srgbClr val="27173A"/>
      </a:lt1>
      <a:dk2>
        <a:srgbClr val="AE77D6"/>
      </a:dk2>
      <a:lt2>
        <a:srgbClr val="5A1387"/>
      </a:lt2>
      <a:accent1>
        <a:srgbClr val="76F3FB"/>
      </a:accent1>
      <a:accent2>
        <a:srgbClr val="729BC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1332</TotalTime>
  <Words>2762</Words>
  <Application>Microsoft Office PowerPoint</Application>
  <PresentationFormat>On-screen Show (16:9)</PresentationFormat>
  <Paragraphs>342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Artificial Intelligence (AI) Technology Consulting by Slidesgo</vt:lpstr>
      <vt:lpstr>Slidesgo Final Pages</vt:lpstr>
      <vt:lpstr>Pulse AI - ValveGuard Dynamic Surveillance for Bioprosthetic Valve Durability</vt:lpstr>
      <vt:lpstr>The Clinical Problem</vt:lpstr>
      <vt:lpstr>Our Hypothesis</vt:lpstr>
      <vt:lpstr>Study Overview</vt:lpstr>
      <vt:lpstr>Why ValveGuard matters</vt:lpstr>
      <vt:lpstr>What validation needs</vt:lpstr>
      <vt:lpstr>The Next Step – Exploratory Objective</vt:lpstr>
      <vt:lpstr>TIME FOR ENGINEERING...</vt:lpstr>
      <vt:lpstr> five-layer engine</vt:lpstr>
      <vt:lpstr>Five sub-engines</vt:lpstr>
      <vt:lpstr>What we trained on</vt:lpstr>
      <vt:lpstr>How the demo runs</vt:lpstr>
      <vt:lpstr>Security for this demo</vt:lpstr>
      <vt:lpstr>Thank you PulseAI · ValveGuard  — medical research to software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Marietta Athanasiou</cp:lastModifiedBy>
  <cp:revision>257</cp:revision>
  <dcterms:modified xsi:type="dcterms:W3CDTF">2026-09-17T13:06:48Z</dcterms:modified>
</cp:coreProperties>
</file>